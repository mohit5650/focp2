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63"/>
  </p:notesMasterIdLst>
  <p:sldIdLst>
    <p:sldId id="305" r:id="rId4"/>
    <p:sldId id="322" r:id="rId5"/>
    <p:sldId id="323" r:id="rId6"/>
    <p:sldId id="324" r:id="rId7"/>
    <p:sldId id="354" r:id="rId8"/>
    <p:sldId id="257" r:id="rId9"/>
    <p:sldId id="355" r:id="rId10"/>
    <p:sldId id="331" r:id="rId11"/>
    <p:sldId id="332" r:id="rId12"/>
    <p:sldId id="333" r:id="rId13"/>
    <p:sldId id="334" r:id="rId14"/>
    <p:sldId id="256"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45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A1E0D133-7069-4BCD-B532-63FE7E0D9C20}" type="datetimeFigureOut">
              <a:rPr lang="en-IN" smtClean="0"/>
              <a:t>07-02-2019</a:t>
            </a:fld>
            <a:endParaRPr lang="en-IN"/>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8F0DB8E7-CEEB-4122-B625-E03791B2AEE2}" type="slidenum">
              <a:rPr lang="en-IN" smtClean="0"/>
              <a:t>‹#›</a:t>
            </a:fld>
            <a:endParaRPr lang="en-IN"/>
          </a:p>
        </p:txBody>
      </p:sp>
    </p:spTree>
    <p:extLst>
      <p:ext uri="{BB962C8B-B14F-4D97-AF65-F5344CB8AC3E}">
        <p14:creationId xmlns:p14="http://schemas.microsoft.com/office/powerpoint/2010/main" val="4043429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3831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d5d28269d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d5d28269d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096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6" name="PlaceHolder 2"/>
          <p:cNvSpPr>
            <a:spLocks noGrp="1"/>
          </p:cNvSpPr>
          <p:nvPr>
            <p:ph type="subTitle"/>
          </p:nvPr>
        </p:nvSpPr>
        <p:spPr>
          <a:xfrm>
            <a:off x="457200" y="1203480"/>
            <a:ext cx="8229240" cy="2982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8"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11"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05200"/>
            <a:ext cx="8229240" cy="39812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5"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16"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
        <p:nvSpPr>
          <p:cNvPr id="17"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9"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23"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27"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30"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31"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32"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
        <p:nvSpPr>
          <p:cNvPr id="33"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35"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US" sz="3200" b="0" strike="noStrike" spc="-1">
              <a:latin typeface="Arial"/>
            </a:endParaRPr>
          </a:p>
        </p:txBody>
      </p:sp>
      <p:sp>
        <p:nvSpPr>
          <p:cNvPr id="36"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US" sz="3200" b="0" strike="noStrike" spc="-1">
              <a:latin typeface="Arial"/>
            </a:endParaRPr>
          </a:p>
        </p:txBody>
      </p:sp>
      <p:sp>
        <p:nvSpPr>
          <p:cNvPr id="37"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US" sz="3200" b="0" strike="noStrike" spc="-1">
              <a:latin typeface="Arial"/>
            </a:endParaRPr>
          </a:p>
        </p:txBody>
      </p:sp>
      <p:sp>
        <p:nvSpPr>
          <p:cNvPr id="38"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US" sz="3200" b="0" strike="noStrike" spc="-1">
              <a:latin typeface="Arial"/>
            </a:endParaRPr>
          </a:p>
        </p:txBody>
      </p:sp>
      <p:sp>
        <p:nvSpPr>
          <p:cNvPr id="39"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US" sz="3200" b="0" strike="noStrike" spc="-1">
              <a:latin typeface="Arial"/>
            </a:endParaRPr>
          </a:p>
        </p:txBody>
      </p:sp>
      <p:sp>
        <p:nvSpPr>
          <p:cNvPr id="40"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1">
  <p:cSld name="Title 1">
    <p:spTree>
      <p:nvGrpSpPr>
        <p:cNvPr id="1" name="Shape 51"/>
        <p:cNvGrpSpPr/>
        <p:nvPr/>
      </p:nvGrpSpPr>
      <p:grpSpPr>
        <a:xfrm>
          <a:off x="0" y="0"/>
          <a:ext cx="0" cy="0"/>
          <a:chOff x="0" y="0"/>
          <a:chExt cx="0" cy="0"/>
        </a:xfrm>
      </p:grpSpPr>
      <p:sp>
        <p:nvSpPr>
          <p:cNvPr id="52" name="Google Shape;52;p12"/>
          <p:cNvSpPr txBox="1">
            <a:spLocks noGrp="1"/>
          </p:cNvSpPr>
          <p:nvPr>
            <p:ph type="ctrTitle"/>
          </p:nvPr>
        </p:nvSpPr>
        <p:spPr>
          <a:xfrm>
            <a:off x="1638300" y="1991825"/>
            <a:ext cx="5867400" cy="1159800"/>
          </a:xfrm>
          <a:prstGeom prst="rect">
            <a:avLst/>
          </a:prstGeom>
        </p:spPr>
        <p:txBody>
          <a:bodyPr spcFirstLastPara="1" wrap="square" lIns="91425" tIns="91425" rIns="91425" bIns="91425" anchor="ctr" anchorCtr="0"/>
          <a:lstStyle>
            <a:lvl1pPr lvl="0" algn="ctr" rtl="0">
              <a:spcBef>
                <a:spcPts val="0"/>
              </a:spcBef>
              <a:spcAft>
                <a:spcPts val="0"/>
              </a:spcAft>
              <a:buSzPts val="4800"/>
              <a:buNone/>
              <a:defRPr sz="4800">
                <a:latin typeface="Adobe Garamond Pro" panose="02020502060506020403" pitchFamily="18" charset="0"/>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Tree>
    <p:extLst>
      <p:ext uri="{BB962C8B-B14F-4D97-AF65-F5344CB8AC3E}">
        <p14:creationId xmlns:p14="http://schemas.microsoft.com/office/powerpoint/2010/main" val="8707657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1812467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2/7/2019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28751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47" name="PlaceHolder 2"/>
          <p:cNvSpPr>
            <a:spLocks noGrp="1"/>
          </p:cNvSpPr>
          <p:nvPr>
            <p:ph type="subTitle"/>
          </p:nvPr>
        </p:nvSpPr>
        <p:spPr>
          <a:xfrm>
            <a:off x="457200" y="1203480"/>
            <a:ext cx="8229240" cy="2982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49"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51"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52"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05200"/>
            <a:ext cx="8229240" cy="39812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56"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57"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
        <p:nvSpPr>
          <p:cNvPr id="58"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60"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61"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62"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64"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65"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66"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68"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US" sz="3200" b="0" strike="noStrike" spc="-1">
              <a:latin typeface="Arial"/>
            </a:endParaRPr>
          </a:p>
        </p:txBody>
      </p:sp>
      <p:sp>
        <p:nvSpPr>
          <p:cNvPr id="69"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71"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72"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73"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
        <p:nvSpPr>
          <p:cNvPr id="74"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76"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US" sz="3200" b="0" strike="noStrike" spc="-1">
              <a:latin typeface="Arial"/>
            </a:endParaRPr>
          </a:p>
        </p:txBody>
      </p:sp>
      <p:sp>
        <p:nvSpPr>
          <p:cNvPr id="77"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US" sz="3200" b="0" strike="noStrike" spc="-1">
              <a:latin typeface="Arial"/>
            </a:endParaRPr>
          </a:p>
        </p:txBody>
      </p:sp>
      <p:sp>
        <p:nvSpPr>
          <p:cNvPr id="78"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US" sz="3200" b="0" strike="noStrike" spc="-1">
              <a:latin typeface="Arial"/>
            </a:endParaRPr>
          </a:p>
        </p:txBody>
      </p:sp>
      <p:sp>
        <p:nvSpPr>
          <p:cNvPr id="79"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US" sz="3200" b="0" strike="noStrike" spc="-1">
              <a:latin typeface="Arial"/>
            </a:endParaRPr>
          </a:p>
        </p:txBody>
      </p:sp>
      <p:sp>
        <p:nvSpPr>
          <p:cNvPr id="80"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US" sz="3200" b="0" strike="noStrike" spc="-1">
              <a:latin typeface="Arial"/>
            </a:endParaRPr>
          </a:p>
        </p:txBody>
      </p:sp>
      <p:sp>
        <p:nvSpPr>
          <p:cNvPr id="81"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88" name="PlaceHolder 2"/>
          <p:cNvSpPr>
            <a:spLocks noGrp="1"/>
          </p:cNvSpPr>
          <p:nvPr>
            <p:ph type="subTitle"/>
          </p:nvPr>
        </p:nvSpPr>
        <p:spPr>
          <a:xfrm>
            <a:off x="457200" y="1203480"/>
            <a:ext cx="8229240" cy="2982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90" name="PlaceHolder 2"/>
          <p:cNvSpPr>
            <a:spLocks noGrp="1"/>
          </p:cNvSpPr>
          <p:nvPr>
            <p:ph type="body"/>
          </p:nvPr>
        </p:nvSpPr>
        <p:spPr>
          <a:xfrm>
            <a:off x="457200" y="1203480"/>
            <a:ext cx="822924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92"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93"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05200"/>
            <a:ext cx="8229240" cy="39812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97"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98" name="PlaceHolder 3"/>
          <p:cNvSpPr>
            <a:spLocks noGrp="1"/>
          </p:cNvSpPr>
          <p:nvPr>
            <p:ph type="body"/>
          </p:nvPr>
        </p:nvSpPr>
        <p:spPr>
          <a:xfrm>
            <a:off x="4674240" y="1203480"/>
            <a:ext cx="4015800" cy="2982960"/>
          </a:xfrm>
          <a:prstGeom prst="rect">
            <a:avLst/>
          </a:prstGeom>
        </p:spPr>
        <p:txBody>
          <a:bodyPr lIns="0" tIns="0" rIns="0" bIns="0">
            <a:normAutofit/>
          </a:bodyPr>
          <a:lstStyle/>
          <a:p>
            <a:endParaRPr lang="en-US" sz="3200" b="0" strike="noStrike" spc="-1">
              <a:latin typeface="Arial"/>
            </a:endParaRPr>
          </a:p>
        </p:txBody>
      </p:sp>
      <p:sp>
        <p:nvSpPr>
          <p:cNvPr id="99"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1" name="PlaceHolder 2"/>
          <p:cNvSpPr>
            <a:spLocks noGrp="1"/>
          </p:cNvSpPr>
          <p:nvPr>
            <p:ph type="body"/>
          </p:nvPr>
        </p:nvSpPr>
        <p:spPr>
          <a:xfrm>
            <a:off x="457200" y="1203480"/>
            <a:ext cx="4015800" cy="2982960"/>
          </a:xfrm>
          <a:prstGeom prst="rect">
            <a:avLst/>
          </a:prstGeom>
        </p:spPr>
        <p:txBody>
          <a:bodyPr lIns="0" tIns="0" rIns="0" bIns="0">
            <a:normAutofit/>
          </a:bodyPr>
          <a:lstStyle/>
          <a:p>
            <a:endParaRPr lang="en-US" sz="3200" b="0" strike="noStrike" spc="-1">
              <a:latin typeface="Arial"/>
            </a:endParaRPr>
          </a:p>
        </p:txBody>
      </p:sp>
      <p:sp>
        <p:nvSpPr>
          <p:cNvPr id="102"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103" name="PlaceHolder 4"/>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5"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106"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107" name="PlaceHolder 4"/>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09" name="PlaceHolder 2"/>
          <p:cNvSpPr>
            <a:spLocks noGrp="1"/>
          </p:cNvSpPr>
          <p:nvPr>
            <p:ph type="body"/>
          </p:nvPr>
        </p:nvSpPr>
        <p:spPr>
          <a:xfrm>
            <a:off x="457200" y="1203480"/>
            <a:ext cx="8229240" cy="1422720"/>
          </a:xfrm>
          <a:prstGeom prst="rect">
            <a:avLst/>
          </a:prstGeom>
        </p:spPr>
        <p:txBody>
          <a:bodyPr lIns="0" tIns="0" rIns="0" bIns="0">
            <a:normAutofit/>
          </a:bodyPr>
          <a:lstStyle/>
          <a:p>
            <a:endParaRPr lang="en-US" sz="3200" b="0" strike="noStrike" spc="-1">
              <a:latin typeface="Arial"/>
            </a:endParaRPr>
          </a:p>
        </p:txBody>
      </p:sp>
      <p:sp>
        <p:nvSpPr>
          <p:cNvPr id="110" name="PlaceHolder 3"/>
          <p:cNvSpPr>
            <a:spLocks noGrp="1"/>
          </p:cNvSpPr>
          <p:nvPr>
            <p:ph type="body"/>
          </p:nvPr>
        </p:nvSpPr>
        <p:spPr>
          <a:xfrm>
            <a:off x="457200" y="2761920"/>
            <a:ext cx="822924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12" name="PlaceHolder 2"/>
          <p:cNvSpPr>
            <a:spLocks noGrp="1"/>
          </p:cNvSpPr>
          <p:nvPr>
            <p:ph type="body"/>
          </p:nvPr>
        </p:nvSpPr>
        <p:spPr>
          <a:xfrm>
            <a:off x="457200" y="1203480"/>
            <a:ext cx="4015800" cy="1422720"/>
          </a:xfrm>
          <a:prstGeom prst="rect">
            <a:avLst/>
          </a:prstGeom>
        </p:spPr>
        <p:txBody>
          <a:bodyPr lIns="0" tIns="0" rIns="0" bIns="0">
            <a:normAutofit/>
          </a:bodyPr>
          <a:lstStyle/>
          <a:p>
            <a:endParaRPr lang="en-US" sz="3200" b="0" strike="noStrike" spc="-1">
              <a:latin typeface="Arial"/>
            </a:endParaRPr>
          </a:p>
        </p:txBody>
      </p:sp>
      <p:sp>
        <p:nvSpPr>
          <p:cNvPr id="113" name="PlaceHolder 3"/>
          <p:cNvSpPr>
            <a:spLocks noGrp="1"/>
          </p:cNvSpPr>
          <p:nvPr>
            <p:ph type="body"/>
          </p:nvPr>
        </p:nvSpPr>
        <p:spPr>
          <a:xfrm>
            <a:off x="4674240" y="1203480"/>
            <a:ext cx="4015800" cy="1422720"/>
          </a:xfrm>
          <a:prstGeom prst="rect">
            <a:avLst/>
          </a:prstGeom>
        </p:spPr>
        <p:txBody>
          <a:bodyPr lIns="0" tIns="0" rIns="0" bIns="0">
            <a:normAutofit/>
          </a:bodyPr>
          <a:lstStyle/>
          <a:p>
            <a:endParaRPr lang="en-US" sz="3200" b="0" strike="noStrike" spc="-1">
              <a:latin typeface="Arial"/>
            </a:endParaRPr>
          </a:p>
        </p:txBody>
      </p:sp>
      <p:sp>
        <p:nvSpPr>
          <p:cNvPr id="114" name="PlaceHolder 4"/>
          <p:cNvSpPr>
            <a:spLocks noGrp="1"/>
          </p:cNvSpPr>
          <p:nvPr>
            <p:ph type="body"/>
          </p:nvPr>
        </p:nvSpPr>
        <p:spPr>
          <a:xfrm>
            <a:off x="457200" y="2761920"/>
            <a:ext cx="4015800" cy="1422720"/>
          </a:xfrm>
          <a:prstGeom prst="rect">
            <a:avLst/>
          </a:prstGeom>
        </p:spPr>
        <p:txBody>
          <a:bodyPr lIns="0" tIns="0" rIns="0" bIns="0">
            <a:normAutofit/>
          </a:bodyPr>
          <a:lstStyle/>
          <a:p>
            <a:endParaRPr lang="en-US" sz="3200" b="0" strike="noStrike" spc="-1">
              <a:latin typeface="Arial"/>
            </a:endParaRPr>
          </a:p>
        </p:txBody>
      </p:sp>
      <p:sp>
        <p:nvSpPr>
          <p:cNvPr id="115" name="PlaceHolder 5"/>
          <p:cNvSpPr>
            <a:spLocks noGrp="1"/>
          </p:cNvSpPr>
          <p:nvPr>
            <p:ph type="body"/>
          </p:nvPr>
        </p:nvSpPr>
        <p:spPr>
          <a:xfrm>
            <a:off x="4674240" y="2761920"/>
            <a:ext cx="40158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05200"/>
            <a:ext cx="8229240" cy="858600"/>
          </a:xfrm>
          <a:prstGeom prst="rect">
            <a:avLst/>
          </a:prstGeom>
        </p:spPr>
        <p:txBody>
          <a:bodyPr lIns="0" tIns="0" rIns="0" bIns="0" anchor="ctr"/>
          <a:lstStyle/>
          <a:p>
            <a:pPr algn="ctr"/>
            <a:endParaRPr lang="en-US" sz="4400" b="0" strike="noStrike" spc="-1">
              <a:latin typeface="Arial"/>
            </a:endParaRPr>
          </a:p>
        </p:txBody>
      </p:sp>
      <p:sp>
        <p:nvSpPr>
          <p:cNvPr id="117" name="PlaceHolder 2"/>
          <p:cNvSpPr>
            <a:spLocks noGrp="1"/>
          </p:cNvSpPr>
          <p:nvPr>
            <p:ph type="body"/>
          </p:nvPr>
        </p:nvSpPr>
        <p:spPr>
          <a:xfrm>
            <a:off x="457200" y="1203480"/>
            <a:ext cx="2649600" cy="1422720"/>
          </a:xfrm>
          <a:prstGeom prst="rect">
            <a:avLst/>
          </a:prstGeom>
        </p:spPr>
        <p:txBody>
          <a:bodyPr lIns="0" tIns="0" rIns="0" bIns="0">
            <a:normAutofit/>
          </a:bodyPr>
          <a:lstStyle/>
          <a:p>
            <a:endParaRPr lang="en-US" sz="3200" b="0" strike="noStrike" spc="-1">
              <a:latin typeface="Arial"/>
            </a:endParaRPr>
          </a:p>
        </p:txBody>
      </p:sp>
      <p:sp>
        <p:nvSpPr>
          <p:cNvPr id="118" name="PlaceHolder 3"/>
          <p:cNvSpPr>
            <a:spLocks noGrp="1"/>
          </p:cNvSpPr>
          <p:nvPr>
            <p:ph type="body"/>
          </p:nvPr>
        </p:nvSpPr>
        <p:spPr>
          <a:xfrm>
            <a:off x="3239640" y="1203480"/>
            <a:ext cx="2649600" cy="1422720"/>
          </a:xfrm>
          <a:prstGeom prst="rect">
            <a:avLst/>
          </a:prstGeom>
        </p:spPr>
        <p:txBody>
          <a:bodyPr lIns="0" tIns="0" rIns="0" bIns="0">
            <a:normAutofit/>
          </a:bodyPr>
          <a:lstStyle/>
          <a:p>
            <a:endParaRPr lang="en-US" sz="3200" b="0" strike="noStrike" spc="-1">
              <a:latin typeface="Arial"/>
            </a:endParaRPr>
          </a:p>
        </p:txBody>
      </p:sp>
      <p:sp>
        <p:nvSpPr>
          <p:cNvPr id="119" name="PlaceHolder 4"/>
          <p:cNvSpPr>
            <a:spLocks noGrp="1"/>
          </p:cNvSpPr>
          <p:nvPr>
            <p:ph type="body"/>
          </p:nvPr>
        </p:nvSpPr>
        <p:spPr>
          <a:xfrm>
            <a:off x="6022080" y="1203480"/>
            <a:ext cx="2649600" cy="1422720"/>
          </a:xfrm>
          <a:prstGeom prst="rect">
            <a:avLst/>
          </a:prstGeom>
        </p:spPr>
        <p:txBody>
          <a:bodyPr lIns="0" tIns="0" rIns="0" bIns="0">
            <a:normAutofit/>
          </a:bodyPr>
          <a:lstStyle/>
          <a:p>
            <a:endParaRPr lang="en-US" sz="3200" b="0" strike="noStrike" spc="-1">
              <a:latin typeface="Arial"/>
            </a:endParaRPr>
          </a:p>
        </p:txBody>
      </p:sp>
      <p:sp>
        <p:nvSpPr>
          <p:cNvPr id="120" name="PlaceHolder 5"/>
          <p:cNvSpPr>
            <a:spLocks noGrp="1"/>
          </p:cNvSpPr>
          <p:nvPr>
            <p:ph type="body"/>
          </p:nvPr>
        </p:nvSpPr>
        <p:spPr>
          <a:xfrm>
            <a:off x="457200" y="2761920"/>
            <a:ext cx="2649600" cy="1422720"/>
          </a:xfrm>
          <a:prstGeom prst="rect">
            <a:avLst/>
          </a:prstGeom>
        </p:spPr>
        <p:txBody>
          <a:bodyPr lIns="0" tIns="0" rIns="0" bIns="0">
            <a:normAutofit/>
          </a:bodyPr>
          <a:lstStyle/>
          <a:p>
            <a:endParaRPr lang="en-US" sz="3200" b="0" strike="noStrike" spc="-1">
              <a:latin typeface="Arial"/>
            </a:endParaRPr>
          </a:p>
        </p:txBody>
      </p:sp>
      <p:sp>
        <p:nvSpPr>
          <p:cNvPr id="121" name="PlaceHolder 6"/>
          <p:cNvSpPr>
            <a:spLocks noGrp="1"/>
          </p:cNvSpPr>
          <p:nvPr>
            <p:ph type="body"/>
          </p:nvPr>
        </p:nvSpPr>
        <p:spPr>
          <a:xfrm>
            <a:off x="3239640" y="2761920"/>
            <a:ext cx="2649600" cy="1422720"/>
          </a:xfrm>
          <a:prstGeom prst="rect">
            <a:avLst/>
          </a:prstGeom>
        </p:spPr>
        <p:txBody>
          <a:bodyPr lIns="0" tIns="0" rIns="0" bIns="0">
            <a:normAutofit/>
          </a:bodyPr>
          <a:lstStyle/>
          <a:p>
            <a:endParaRPr lang="en-US" sz="3200" b="0" strike="noStrike" spc="-1">
              <a:latin typeface="Arial"/>
            </a:endParaRPr>
          </a:p>
        </p:txBody>
      </p:sp>
      <p:sp>
        <p:nvSpPr>
          <p:cNvPr id="122" name="PlaceHolder 7"/>
          <p:cNvSpPr>
            <a:spLocks noGrp="1"/>
          </p:cNvSpPr>
          <p:nvPr>
            <p:ph type="body"/>
          </p:nvPr>
        </p:nvSpPr>
        <p:spPr>
          <a:xfrm>
            <a:off x="6022080" y="2761920"/>
            <a:ext cx="2649600" cy="142272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p:cNvSpPr/>
          <p:nvPr/>
        </p:nvSpPr>
        <p:spPr>
          <a:xfrm>
            <a:off x="0" y="4800600"/>
            <a:ext cx="9140760" cy="339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6" name="CustomShape 2"/>
          <p:cNvSpPr/>
          <p:nvPr/>
        </p:nvSpPr>
        <p:spPr>
          <a:xfrm>
            <a:off x="0" y="4750560"/>
            <a:ext cx="9140760" cy="4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2" name="Line 3"/>
          <p:cNvSpPr/>
          <p:nvPr/>
        </p:nvSpPr>
        <p:spPr>
          <a:xfrm>
            <a:off x="894960" y="1303200"/>
            <a:ext cx="7475400" cy="360"/>
          </a:xfrm>
          <a:prstGeom prst="line">
            <a:avLst/>
          </a:prstGeom>
          <a:ln w="6480">
            <a:solidFill>
              <a:schemeClr val="tx1">
                <a:lumMod val="50000"/>
                <a:lumOff val="50000"/>
              </a:schemeClr>
            </a:solidFill>
            <a:round/>
          </a:ln>
        </p:spPr>
        <p:style>
          <a:lnRef idx="1">
            <a:schemeClr val="accent1"/>
          </a:lnRef>
          <a:fillRef idx="0">
            <a:schemeClr val="accent1"/>
          </a:fillRef>
          <a:effectRef idx="0">
            <a:schemeClr val="accent1"/>
          </a:effectRef>
          <a:fontRef idx="minor"/>
        </p:style>
      </p:sp>
      <p:sp>
        <p:nvSpPr>
          <p:cNvPr id="3" name="PlaceHolder 4"/>
          <p:cNvSpPr>
            <a:spLocks noGrp="1"/>
          </p:cNvSpPr>
          <p:nvPr>
            <p:ph type="title"/>
          </p:nvPr>
        </p:nvSpPr>
        <p:spPr>
          <a:xfrm>
            <a:off x="457200" y="205200"/>
            <a:ext cx="8229240" cy="858600"/>
          </a:xfrm>
          <a:prstGeom prst="rect">
            <a:avLst/>
          </a:prstGeom>
        </p:spPr>
        <p:txBody>
          <a:bodyPr lIns="0" tIns="0" rIns="0" bIns="0" anchor="ctr"/>
          <a:lstStyle/>
          <a:p>
            <a:pPr algn="ctr"/>
            <a:r>
              <a:rPr lang="en-US" sz="4400" b="0" strike="noStrike" spc="-1">
                <a:latin typeface="Arial"/>
              </a:rPr>
              <a:t>Click to edit the title text format</a:t>
            </a:r>
          </a:p>
        </p:txBody>
      </p:sp>
      <p:sp>
        <p:nvSpPr>
          <p:cNvPr id="4" name="PlaceHolder 5"/>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7" r:id="rId13"/>
    <p:sldLayoutId id="2147483688" r:id="rId14"/>
    <p:sldLayoutId id="214748368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0" y="4800600"/>
            <a:ext cx="9140760" cy="339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2" name="CustomShape 2"/>
          <p:cNvSpPr/>
          <p:nvPr/>
        </p:nvSpPr>
        <p:spPr>
          <a:xfrm>
            <a:off x="0" y="4750560"/>
            <a:ext cx="9140760" cy="4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3" name="Line 3"/>
          <p:cNvSpPr/>
          <p:nvPr/>
        </p:nvSpPr>
        <p:spPr>
          <a:xfrm>
            <a:off x="894960" y="1303200"/>
            <a:ext cx="7475400" cy="360"/>
          </a:xfrm>
          <a:prstGeom prst="line">
            <a:avLst/>
          </a:prstGeom>
          <a:ln w="6480">
            <a:solidFill>
              <a:schemeClr val="tx1">
                <a:lumMod val="50000"/>
                <a:lumOff val="50000"/>
              </a:schemeClr>
            </a:solidFill>
            <a:round/>
          </a:ln>
        </p:spPr>
        <p:style>
          <a:lnRef idx="1">
            <a:schemeClr val="accent1"/>
          </a:lnRef>
          <a:fillRef idx="0">
            <a:schemeClr val="accent1"/>
          </a:fillRef>
          <a:effectRef idx="0">
            <a:schemeClr val="accent1"/>
          </a:effectRef>
          <a:fontRef idx="minor"/>
        </p:style>
      </p:sp>
      <p:sp>
        <p:nvSpPr>
          <p:cNvPr id="44" name="PlaceHolder 4"/>
          <p:cNvSpPr>
            <a:spLocks noGrp="1"/>
          </p:cNvSpPr>
          <p:nvPr>
            <p:ph type="title"/>
          </p:nvPr>
        </p:nvSpPr>
        <p:spPr>
          <a:xfrm>
            <a:off x="457200" y="205200"/>
            <a:ext cx="8229240" cy="858600"/>
          </a:xfrm>
          <a:prstGeom prst="rect">
            <a:avLst/>
          </a:prstGeom>
        </p:spPr>
        <p:txBody>
          <a:bodyPr lIns="0" tIns="0" rIns="0" bIns="0" anchor="ctr"/>
          <a:lstStyle/>
          <a:p>
            <a:pPr algn="ctr"/>
            <a:r>
              <a:rPr lang="en-US" sz="4400" b="0" strike="noStrike" spc="-1">
                <a:latin typeface="Arial"/>
              </a:rPr>
              <a:t>Click to edit the title text format</a:t>
            </a:r>
          </a:p>
        </p:txBody>
      </p:sp>
      <p:sp>
        <p:nvSpPr>
          <p:cNvPr id="45" name="PlaceHolder 5"/>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CustomShape 1"/>
          <p:cNvSpPr/>
          <p:nvPr/>
        </p:nvSpPr>
        <p:spPr>
          <a:xfrm>
            <a:off x="0" y="4800600"/>
            <a:ext cx="9141840" cy="3409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83" name="CustomShape 2"/>
          <p:cNvSpPr/>
          <p:nvPr/>
        </p:nvSpPr>
        <p:spPr>
          <a:xfrm>
            <a:off x="0" y="4750560"/>
            <a:ext cx="9141840" cy="4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84" name="Line 3"/>
          <p:cNvSpPr/>
          <p:nvPr/>
        </p:nvSpPr>
        <p:spPr>
          <a:xfrm>
            <a:off x="894960" y="1303200"/>
            <a:ext cx="7475400" cy="360"/>
          </a:xfrm>
          <a:prstGeom prst="line">
            <a:avLst/>
          </a:prstGeom>
          <a:ln w="6480">
            <a:solidFill>
              <a:schemeClr val="tx1">
                <a:lumMod val="50000"/>
                <a:lumOff val="50000"/>
              </a:schemeClr>
            </a:solidFill>
            <a:round/>
          </a:ln>
        </p:spPr>
        <p:style>
          <a:lnRef idx="1">
            <a:schemeClr val="accent1"/>
          </a:lnRef>
          <a:fillRef idx="0">
            <a:schemeClr val="accent1"/>
          </a:fillRef>
          <a:effectRef idx="0">
            <a:schemeClr val="accent1"/>
          </a:effectRef>
          <a:fontRef idx="minor"/>
        </p:style>
      </p:sp>
      <p:sp>
        <p:nvSpPr>
          <p:cNvPr id="85" name="PlaceHolder 4"/>
          <p:cNvSpPr>
            <a:spLocks noGrp="1"/>
          </p:cNvSpPr>
          <p:nvPr>
            <p:ph type="title"/>
          </p:nvPr>
        </p:nvSpPr>
        <p:spPr>
          <a:xfrm>
            <a:off x="457200" y="205200"/>
            <a:ext cx="8229240" cy="858600"/>
          </a:xfrm>
          <a:prstGeom prst="rect">
            <a:avLst/>
          </a:prstGeom>
        </p:spPr>
        <p:txBody>
          <a:bodyPr lIns="0" tIns="0" rIns="0" bIns="0" anchor="ctr"/>
          <a:lstStyle/>
          <a:p>
            <a:pPr algn="ctr"/>
            <a:r>
              <a:rPr lang="en-US" sz="4400" b="0" strike="noStrike" spc="-1">
                <a:latin typeface="Arial"/>
              </a:rPr>
              <a:t>Click to edit the title text format</a:t>
            </a:r>
          </a:p>
        </p:txBody>
      </p:sp>
      <p:sp>
        <p:nvSpPr>
          <p:cNvPr id="86" name="PlaceHolder 5"/>
          <p:cNvSpPr>
            <a:spLocks noGrp="1"/>
          </p:cNvSpPr>
          <p:nvPr>
            <p:ph type="body"/>
          </p:nvPr>
        </p:nvSpPr>
        <p:spPr>
          <a:xfrm>
            <a:off x="457200" y="1203480"/>
            <a:ext cx="8229240" cy="298296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exceptions.properties/" TargetMode="External"/><Relationship Id="rId2" Type="http://schemas.openxmlformats.org/officeDocument/2006/relationships/hyperlink" Target="http://logger.properties/" TargetMode="Externa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hyperlink" Target="http://filenamevalidator.java/" TargetMode="External"/><Relationship Id="rId2" Type="http://schemas.openxmlformats.org/officeDocument/2006/relationships/hyperlink" Target="http://converter.java/" TargetMode="External"/><Relationship Id="rId1" Type="http://schemas.openxmlformats.org/officeDocument/2006/relationships/slideLayout" Target="../slideLayouts/slideLayout14.xml"/><Relationship Id="rId4" Type="http://schemas.openxmlformats.org/officeDocument/2006/relationships/hyperlink" Target="http://csvvalidator.jav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0" name="Google Shape;60;p13"/>
          <p:cNvSpPr txBox="1">
            <a:spLocks noGrp="1"/>
          </p:cNvSpPr>
          <p:nvPr>
            <p:ph type="ctrTitle"/>
          </p:nvPr>
        </p:nvSpPr>
        <p:spPr>
          <a:xfrm>
            <a:off x="1292550" y="1897639"/>
            <a:ext cx="6558900" cy="11598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US" sz="4000" b="1" dirty="0"/>
              <a:t>CSV2JSON Converter</a:t>
            </a:r>
            <a:endParaRPr sz="4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1088068"/>
          </a:xfrm>
        </p:spPr>
        <p:txBody>
          <a:bodyPr>
            <a:normAutofit/>
          </a:bodyPr>
          <a:lstStyle/>
          <a:p>
            <a:r>
              <a:rPr lang="en-US" sz="3200" b="1" dirty="0"/>
              <a:t>Significance of CSV to JSON Conversion</a:t>
            </a:r>
          </a:p>
        </p:txBody>
      </p:sp>
      <p:sp>
        <p:nvSpPr>
          <p:cNvPr id="3" name="Content Placeholder 2"/>
          <p:cNvSpPr>
            <a:spLocks noGrp="1"/>
          </p:cNvSpPr>
          <p:nvPr>
            <p:ph idx="1"/>
          </p:nvPr>
        </p:nvSpPr>
        <p:spPr/>
        <p:txBody>
          <a:bodyPr>
            <a:normAutofit fontScale="92500" lnSpcReduction="10000"/>
          </a:bodyPr>
          <a:lstStyle/>
          <a:p>
            <a:r>
              <a:rPr lang="en-US" dirty="0"/>
              <a:t>CSV : Comma Separated Values</a:t>
            </a:r>
          </a:p>
          <a:p>
            <a:r>
              <a:rPr lang="en-US" dirty="0"/>
              <a:t>JSON: Java Script Object Notation</a:t>
            </a:r>
          </a:p>
          <a:p>
            <a:endParaRPr lang="en-US" dirty="0"/>
          </a:p>
          <a:p>
            <a:r>
              <a:rPr lang="en-US" dirty="0"/>
              <a:t>Why JSON: </a:t>
            </a:r>
          </a:p>
          <a:p>
            <a:r>
              <a:rPr lang="en-US" dirty="0"/>
              <a:t># Maximum data is stored on cloud in JSON format these days.</a:t>
            </a:r>
          </a:p>
          <a:p>
            <a:r>
              <a:rPr lang="en-US" dirty="0"/>
              <a:t># With JSON format file read is faster.</a:t>
            </a:r>
          </a:p>
          <a:p>
            <a:endParaRPr lang="en-US" dirty="0"/>
          </a:p>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1780332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ustomShape 1"/>
          <p:cNvSpPr/>
          <p:nvPr/>
        </p:nvSpPr>
        <p:spPr>
          <a:xfrm>
            <a:off x="822960" y="214920"/>
            <a:ext cx="7543080" cy="108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buClrTx/>
              <a:buFontTx/>
              <a:buNone/>
            </a:pPr>
            <a:r>
              <a:rPr lang="en-US" sz="3600" kern="1200" spc="-38" dirty="0">
                <a:solidFill>
                  <a:srgbClr val="404040"/>
                </a:solidFill>
                <a:latin typeface="Calibri Light"/>
              </a:rPr>
              <a:t>CSV file example</a:t>
            </a:r>
            <a:endParaRPr lang="en-US" sz="3600" kern="1200" spc="-1" dirty="0">
              <a:solidFill>
                <a:prstClr val="black"/>
              </a:solidFill>
            </a:endParaRPr>
          </a:p>
        </p:txBody>
      </p:sp>
      <p:sp>
        <p:nvSpPr>
          <p:cNvPr id="85" name="CustomShape 2"/>
          <p:cNvSpPr/>
          <p:nvPr/>
        </p:nvSpPr>
        <p:spPr>
          <a:xfrm>
            <a:off x="7425360" y="4844880"/>
            <a:ext cx="983160" cy="27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buClrTx/>
              <a:buFontTx/>
              <a:buNone/>
            </a:pPr>
            <a:fld id="{3E9BA05C-F7B8-4A46-8563-792ED6F6D7C4}" type="slidenum">
              <a:rPr lang="en-US" sz="790" kern="1200" spc="-1">
                <a:solidFill>
                  <a:srgbClr val="FFFFFF"/>
                </a:solidFill>
                <a:ea typeface="Arial"/>
              </a:rPr>
              <a:pPr algn="r">
                <a:buClrTx/>
                <a:buFontTx/>
                <a:buNone/>
              </a:pPr>
              <a:t>3</a:t>
            </a:fld>
            <a:endParaRPr lang="en-US" sz="790" kern="1200" spc="-1">
              <a:solidFill>
                <a:prstClr val="black"/>
              </a:solidFill>
            </a:endParaRPr>
          </a:p>
        </p:txBody>
      </p:sp>
      <p:sp>
        <p:nvSpPr>
          <p:cNvPr id="86" name="CustomShape 3"/>
          <p:cNvSpPr/>
          <p:nvPr/>
        </p:nvSpPr>
        <p:spPr>
          <a:xfrm>
            <a:off x="339120" y="1554480"/>
            <a:ext cx="8621640" cy="2925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buClrTx/>
              <a:buFontTx/>
              <a:buNone/>
            </a:pPr>
            <a:r>
              <a:rPr lang="en-US" sz="1800" kern="1200" spc="-1">
                <a:solidFill>
                  <a:prstClr val="black"/>
                </a:solidFill>
              </a:rPr>
              <a:t>Section Name,Menu Name,Channel ID,User id </a:t>
            </a:r>
          </a:p>
          <a:p>
            <a:pPr>
              <a:buClrTx/>
              <a:buFontTx/>
              <a:buNone/>
            </a:pPr>
            <a:r>
              <a:rPr lang="en-US" sz="1800" kern="1200" spc="-1">
                <a:solidFill>
                  <a:prstClr val="black"/>
                </a:solidFill>
              </a:rPr>
              <a:t>Marketing,Joe Smith,3711,kcraig</a:t>
            </a:r>
          </a:p>
          <a:p>
            <a:pPr>
              <a:buClrTx/>
              <a:buFontTx/>
              <a:buNone/>
            </a:pPr>
            <a:r>
              <a:rPr lang="en-US" sz="1800" kern="1200" spc="-1">
                <a:solidFill>
                  <a:prstClr val="black"/>
                </a:solidFill>
              </a:rPr>
              <a:t>Overseas,Jason Jones,2553,vcraig</a:t>
            </a:r>
          </a:p>
          <a:p>
            <a:pPr>
              <a:buClrTx/>
              <a:buFontTx/>
              <a:buNone/>
            </a:pPr>
            <a:r>
              <a:rPr lang="en-US" sz="1800" kern="1200" spc="-1">
                <a:solidFill>
                  <a:prstClr val="black"/>
                </a:solidFill>
              </a:rPr>
              <a:t>Accounts,Rick Jones,7477,jcraig</a:t>
            </a:r>
          </a:p>
          <a:p>
            <a:pPr>
              <a:buClrTx/>
              <a:buFontTx/>
              <a:buNone/>
            </a:pPr>
            <a:r>
              <a:rPr lang="en-US" sz="1800" kern="1200" spc="-1">
                <a:solidFill>
                  <a:prstClr val="black"/>
                </a:solidFill>
              </a:rPr>
              <a:t>Marketing,Jessica Rogers,3486,rcraig</a:t>
            </a:r>
          </a:p>
          <a:p>
            <a:pPr>
              <a:buClrTx/>
              <a:buFontTx/>
              <a:buNone/>
            </a:pPr>
            <a:r>
              <a:rPr lang="en-US" sz="1800" kern="1200" spc="-1">
                <a:solidFill>
                  <a:prstClr val="black"/>
                </a:solidFill>
              </a:rPr>
              <a:t>Accounts,Zachery Smith,2574,zcraig</a:t>
            </a:r>
          </a:p>
        </p:txBody>
      </p:sp>
      <p:sp>
        <p:nvSpPr>
          <p:cNvPr id="87" name="CustomShape 4"/>
          <p:cNvSpPr/>
          <p:nvPr/>
        </p:nvSpPr>
        <p:spPr>
          <a:xfrm rot="21595800">
            <a:off x="5674320" y="1301760"/>
            <a:ext cx="1919520" cy="420480"/>
          </a:xfrm>
          <a:prstGeom prst="wedgeRectCallout">
            <a:avLst>
              <a:gd name="adj1" fmla="val -71990"/>
              <a:gd name="adj2" fmla="val 41194"/>
            </a:avLst>
          </a:prstGeom>
          <a:no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buClrTx/>
              <a:buFontTx/>
              <a:buNone/>
            </a:pPr>
            <a:r>
              <a:rPr lang="en-US" sz="1800" kern="1200" spc="-1"/>
              <a:t>Header Row</a:t>
            </a:r>
            <a:endParaRPr lang="en-US" sz="1800" kern="1200" spc="-1">
              <a:solidFill>
                <a:prstClr val="black"/>
              </a:solidFill>
            </a:endParaRPr>
          </a:p>
        </p:txBody>
      </p:sp>
      <p:sp>
        <p:nvSpPr>
          <p:cNvPr id="88" name="CustomShape 5"/>
          <p:cNvSpPr/>
          <p:nvPr/>
        </p:nvSpPr>
        <p:spPr>
          <a:xfrm rot="21595800">
            <a:off x="5119560" y="1920960"/>
            <a:ext cx="1919520" cy="549360"/>
          </a:xfrm>
          <a:prstGeom prst="wedgeRectCallout">
            <a:avLst>
              <a:gd name="adj1" fmla="val -118203"/>
              <a:gd name="adj2" fmla="val -39856"/>
            </a:avLst>
          </a:prstGeom>
          <a:no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buClrTx/>
              <a:buFontTx/>
              <a:buNone/>
            </a:pPr>
            <a:r>
              <a:rPr lang="en-US" sz="1800" kern="1200" spc="-1"/>
              <a:t>First Record</a:t>
            </a:r>
            <a:endParaRPr lang="en-US" sz="1800" kern="1200" spc="-1">
              <a:solidFill>
                <a:prstClr val="black"/>
              </a:solidFill>
            </a:endParaRPr>
          </a:p>
        </p:txBody>
      </p:sp>
      <p:sp>
        <p:nvSpPr>
          <p:cNvPr id="89" name="CustomShape 6"/>
          <p:cNvSpPr/>
          <p:nvPr/>
        </p:nvSpPr>
        <p:spPr>
          <a:xfrm rot="21595800">
            <a:off x="5227200" y="2622240"/>
            <a:ext cx="1919520" cy="549360"/>
          </a:xfrm>
          <a:prstGeom prst="wedgeRectCallout">
            <a:avLst>
              <a:gd name="adj1" fmla="val -95064"/>
              <a:gd name="adj2" fmla="val -96527"/>
            </a:avLst>
          </a:prstGeom>
          <a:no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buClrTx/>
              <a:buFontTx/>
              <a:buNone/>
            </a:pPr>
            <a:r>
              <a:rPr lang="en-US" sz="1800" kern="1200" spc="-1"/>
              <a:t>Second Record</a:t>
            </a:r>
            <a:endParaRPr lang="en-US" sz="1800" kern="1200" spc="-1">
              <a:solidFill>
                <a:prstClr val="black"/>
              </a:solidFill>
            </a:endParaRPr>
          </a:p>
        </p:txBody>
      </p:sp>
    </p:spTree>
    <p:extLst>
      <p:ext uri="{BB962C8B-B14F-4D97-AF65-F5344CB8AC3E}">
        <p14:creationId xmlns:p14="http://schemas.microsoft.com/office/powerpoint/2010/main" val="102601098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stomShape 1"/>
          <p:cNvSpPr/>
          <p:nvPr/>
        </p:nvSpPr>
        <p:spPr>
          <a:xfrm>
            <a:off x="822960" y="214920"/>
            <a:ext cx="7543080" cy="108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rPr>
              <a:t>Json file example</a:t>
            </a:r>
            <a:endParaRPr lang="en-US" sz="3600" b="0" strike="noStrike" spc="-1">
              <a:latin typeface="Arial"/>
            </a:endParaRPr>
          </a:p>
        </p:txBody>
      </p:sp>
      <p:sp>
        <p:nvSpPr>
          <p:cNvPr id="91" name="CustomShape 2"/>
          <p:cNvSpPr/>
          <p:nvPr/>
        </p:nvSpPr>
        <p:spPr>
          <a:xfrm>
            <a:off x="822960" y="1384200"/>
            <a:ext cx="7543080" cy="301680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“Section Nane”: “Marketing”</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“Menu Name”: “Joe Smith”</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“Channel ID”: “3711”</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“User id”: “kcraig”</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“Section Nane”: “Overseas”</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“Menu Name”: “Jason Jones”</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“Channel ID”: “2553”</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“User id”: “vcraig”</a:t>
            </a:r>
            <a:endParaRPr lang="en-US" sz="1500" b="0" strike="noStrike" spc="-1">
              <a:latin typeface="Arial"/>
            </a:endParaRPr>
          </a:p>
          <a:p>
            <a:pPr marL="68760" indent="-6804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a:t>
            </a:r>
            <a:endParaRPr lang="en-US" sz="1500" b="0" strike="noStrike" spc="-1">
              <a:latin typeface="Arial"/>
            </a:endParaRPr>
          </a:p>
        </p:txBody>
      </p:sp>
      <p:sp>
        <p:nvSpPr>
          <p:cNvPr id="92" name="CustomShape 3"/>
          <p:cNvSpPr/>
          <p:nvPr/>
        </p:nvSpPr>
        <p:spPr>
          <a:xfrm>
            <a:off x="7425360" y="4844880"/>
            <a:ext cx="983160" cy="273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895F32EC-1F51-42FD-8BCA-A6096AC8B1A9}" type="slidenum">
              <a:rPr lang="en-US" sz="790" b="0" strike="noStrike" spc="-1">
                <a:solidFill>
                  <a:srgbClr val="FFFFFF"/>
                </a:solidFill>
                <a:latin typeface="Arial"/>
                <a:ea typeface="Arial"/>
              </a:rPr>
              <a:t>4</a:t>
            </a:fld>
            <a:endParaRPr lang="en-US" sz="790" b="0" strike="noStrike" spc="-1">
              <a:latin typeface="Arial"/>
            </a:endParaRPr>
          </a:p>
        </p:txBody>
      </p:sp>
    </p:spTree>
    <p:extLst>
      <p:ext uri="{BB962C8B-B14F-4D97-AF65-F5344CB8AC3E}">
        <p14:creationId xmlns:p14="http://schemas.microsoft.com/office/powerpoint/2010/main" val="104495704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16" y="541472"/>
            <a:ext cx="8229240" cy="858600"/>
          </a:xfrm>
        </p:spPr>
        <p:txBody>
          <a:bodyPr/>
          <a:lstStyle/>
          <a:p>
            <a:r>
              <a:rPr lang="en-US" b="1" dirty="0"/>
              <a:t>Problem Statement: CSV to JSON Conversion</a:t>
            </a:r>
          </a:p>
        </p:txBody>
      </p:sp>
      <p:sp>
        <p:nvSpPr>
          <p:cNvPr id="3" name="Subtitle 2"/>
          <p:cNvSpPr>
            <a:spLocks noGrp="1"/>
          </p:cNvSpPr>
          <p:nvPr>
            <p:ph type="subTitle"/>
          </p:nvPr>
        </p:nvSpPr>
        <p:spPr>
          <a:xfrm>
            <a:off x="457200" y="1400072"/>
            <a:ext cx="8229240" cy="3224906"/>
          </a:xfrm>
        </p:spPr>
        <p:txBody>
          <a:bodyPr>
            <a:normAutofit/>
          </a:bodyPr>
          <a:lstStyle/>
          <a:p>
            <a:pPr algn="just"/>
            <a:r>
              <a:rPr lang="en-US" sz="1600" dirty="0"/>
              <a:t>Step 1: Entering CSV file name, JSON file name and validate.</a:t>
            </a:r>
          </a:p>
          <a:p>
            <a:pPr algn="just"/>
            <a:r>
              <a:rPr lang="en-US" sz="1600" dirty="0"/>
              <a:t>Step 2. Once valid JSON file name has been entered start converting the CSV data to JSON format.</a:t>
            </a:r>
          </a:p>
          <a:p>
            <a:pPr algn="just"/>
            <a:r>
              <a:rPr lang="en-US" sz="1600" dirty="0"/>
              <a:t>Step 3. For maintaining all the conversion stats, using Log4j.jar file so that when the CSV2JSON application works, the complete output displayed on the screen is also maintained in log file.</a:t>
            </a:r>
          </a:p>
          <a:p>
            <a:pPr algn="just"/>
            <a:endParaRPr lang="en-US" sz="1600" dirty="0"/>
          </a:p>
          <a:p>
            <a:pPr algn="just"/>
            <a:endParaRPr lang="en-US" sz="1600" dirty="0"/>
          </a:p>
        </p:txBody>
      </p:sp>
    </p:spTree>
    <p:extLst>
      <p:ext uri="{BB962C8B-B14F-4D97-AF65-F5344CB8AC3E}">
        <p14:creationId xmlns:p14="http://schemas.microsoft.com/office/powerpoint/2010/main" val="142814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CustomShape 1"/>
          <p:cNvSpPr/>
          <p:nvPr/>
        </p:nvSpPr>
        <p:spPr>
          <a:xfrm>
            <a:off x="779040" y="344880"/>
            <a:ext cx="7540560" cy="476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200" b="0" strike="noStrike" spc="-38">
                <a:solidFill>
                  <a:srgbClr val="404040"/>
                </a:solidFill>
                <a:latin typeface="Calibri Light"/>
                <a:ea typeface="DejaVu Sans"/>
              </a:rPr>
              <a:t>Specifications for valid file names</a:t>
            </a:r>
            <a:endParaRPr lang="en-US" sz="3200" b="0" strike="noStrike" spc="-1">
              <a:latin typeface="Arial"/>
            </a:endParaRPr>
          </a:p>
        </p:txBody>
      </p:sp>
      <p:sp>
        <p:nvSpPr>
          <p:cNvPr id="126" name="CustomShape 2"/>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0AE48B1-75A6-4B42-9BEE-D79B2207C652}" type="slidenum">
              <a:rPr lang="en-US" sz="790" b="0" strike="noStrike" spc="-1">
                <a:solidFill>
                  <a:srgbClr val="FFFFFF"/>
                </a:solidFill>
                <a:latin typeface="Arial"/>
                <a:ea typeface="Arial"/>
              </a:rPr>
              <a:t>6</a:t>
            </a:fld>
            <a:endParaRPr lang="en-US" sz="790" b="0" strike="noStrike" spc="-1">
              <a:latin typeface="Arial"/>
            </a:endParaRPr>
          </a:p>
        </p:txBody>
      </p:sp>
      <p:sp>
        <p:nvSpPr>
          <p:cNvPr id="127" name="CustomShape 3"/>
          <p:cNvSpPr/>
          <p:nvPr/>
        </p:nvSpPr>
        <p:spPr>
          <a:xfrm>
            <a:off x="822960" y="1384560"/>
            <a:ext cx="8045280" cy="3015720"/>
          </a:xfrm>
          <a:prstGeom prst="rect">
            <a:avLst/>
          </a:prstGeom>
          <a:noFill/>
          <a:ln>
            <a:noFill/>
          </a:ln>
        </p:spPr>
        <p:style>
          <a:lnRef idx="0">
            <a:scrgbClr r="0" g="0" b="0"/>
          </a:lnRef>
          <a:fillRef idx="0">
            <a:scrgbClr r="0" g="0" b="0"/>
          </a:fillRef>
          <a:effectRef idx="0">
            <a:scrgbClr r="0" g="0" b="0"/>
          </a:effectRef>
          <a:fontRef idx="minor"/>
        </p:style>
        <p:txBody>
          <a:bodyPr lIns="0" tIns="0" rIns="0" bIns="0"/>
          <a:lstStyle/>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System should ask to enter valid file name for source csv file.</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Source file name should not be empty.</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Source file name should contain valid file extension.</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Source file extension should be only ".csv".</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Source file name should not exceed 25 characters excluding file extension part.</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Source file name should not contain special characters.</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The source file should not contain special characters.</a:t>
            </a:r>
            <a:endParaRPr lang="en-US" sz="1500" b="0" strike="noStrike" spc="-1">
              <a:latin typeface="Arial"/>
            </a:endParaRPr>
          </a:p>
          <a:p>
            <a:pPr marL="432000" indent="-322560">
              <a:lnSpc>
                <a:spcPct val="100000"/>
              </a:lnSpc>
              <a:spcBef>
                <a:spcPts val="289"/>
              </a:spcBef>
              <a:spcAft>
                <a:spcPts val="289"/>
              </a:spcAft>
              <a:buClr>
                <a:srgbClr val="000000"/>
              </a:buClr>
              <a:buFont typeface="Liberation Serif"/>
              <a:buAutoNum type="arabicPeriod"/>
            </a:pPr>
            <a:r>
              <a:rPr lang="en-US" sz="1500" b="1" strike="noStrike" spc="-1">
                <a:solidFill>
                  <a:srgbClr val="000000"/>
                </a:solidFill>
                <a:latin typeface="Arial"/>
                <a:ea typeface="DejaVu Sans"/>
              </a:rPr>
              <a:t>The special characters includes "@,#,$,%,^,&amp;,(,), _".</a:t>
            </a:r>
            <a:endParaRPr lang="en-US" sz="1500" b="0" strike="noStrike" spc="-1">
              <a:latin typeface="Arial"/>
            </a:endParaRPr>
          </a:p>
          <a:p>
            <a:pPr>
              <a:lnSpc>
                <a:spcPct val="100000"/>
              </a:lnSpc>
            </a:pPr>
            <a:endParaRPr lang="en-US" sz="1500" b="0" strike="noStrike" spc="-1">
              <a:latin typeface="Arial"/>
            </a:endParaRPr>
          </a:p>
          <a:p>
            <a:pPr>
              <a:lnSpc>
                <a:spcPct val="100000"/>
              </a:lnSpc>
            </a:pPr>
            <a:endParaRPr lang="en-US" sz="1500" b="0" strike="noStrike" spc="-1">
              <a:latin typeface="Arial"/>
            </a:endParaRPr>
          </a:p>
          <a:p>
            <a:pPr>
              <a:lnSpc>
                <a:spcPct val="100000"/>
              </a:lnSpc>
            </a:pPr>
            <a:endParaRPr lang="en-US" sz="1500" b="0" strike="noStrike" spc="-1">
              <a:latin typeface="Arial"/>
            </a:endParaRPr>
          </a:p>
          <a:p>
            <a:pPr>
              <a:lnSpc>
                <a:spcPct val="100000"/>
              </a:lnSpc>
            </a:pPr>
            <a:endParaRPr lang="en-US" sz="1500" b="0" strike="noStrike" spc="-1">
              <a:latin typeface="Arial"/>
            </a:endParaRPr>
          </a:p>
        </p:txBody>
      </p:sp>
    </p:spTree>
    <p:extLst>
      <p:ext uri="{BB962C8B-B14F-4D97-AF65-F5344CB8AC3E}">
        <p14:creationId xmlns:p14="http://schemas.microsoft.com/office/powerpoint/2010/main" val="56340099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825038" y="3379039"/>
            <a:ext cx="7543800" cy="857250"/>
          </a:xfrm>
        </p:spPr>
        <p:txBody>
          <a:bodyPr>
            <a:normAutofit/>
          </a:bodyPr>
          <a:lstStyle/>
          <a:p>
            <a:r>
              <a:rPr lang="en-US" sz="2000" b="1" cap="none" dirty="0">
                <a:solidFill>
                  <a:schemeClr val="tx1"/>
                </a:solidFill>
                <a:latin typeface="Adobe Garamond Pro" panose="02020502060506020403" pitchFamily="18" charset="0"/>
              </a:rPr>
              <a:t>Step 0: Create Directory Structure</a:t>
            </a:r>
            <a:endParaRPr lang="en-IN" sz="2000" b="1" cap="none" dirty="0">
              <a:solidFill>
                <a:schemeClr val="tx1"/>
              </a:solidFill>
              <a:latin typeface="Adobe Garamond Pro" panose="02020502060506020403" pitchFamily="18" charset="0"/>
            </a:endParaRPr>
          </a:p>
        </p:txBody>
      </p:sp>
    </p:spTree>
    <p:extLst>
      <p:ext uri="{BB962C8B-B14F-4D97-AF65-F5344CB8AC3E}">
        <p14:creationId xmlns:p14="http://schemas.microsoft.com/office/powerpoint/2010/main" val="223228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1" name="Google Shape;81;p16"/>
          <p:cNvSpPr txBox="1">
            <a:spLocks noGrp="1"/>
          </p:cNvSpPr>
          <p:nvPr>
            <p:ph type="sldNum" sz="quarter" idx="4294967295"/>
          </p:nvPr>
        </p:nvSpPr>
        <p:spPr>
          <a:xfrm>
            <a:off x="7425344" y="4844839"/>
            <a:ext cx="984019" cy="273844"/>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1100"/>
              <a:buFont typeface="Arial"/>
              <a:buNone/>
            </a:pPr>
            <a:fld id="{00000000-1234-1234-1234-123412341234}" type="slidenum">
              <a:rPr lang="en" sz="1100">
                <a:solidFill>
                  <a:srgbClr val="FFFFFF"/>
                </a:solidFill>
                <a:latin typeface="Sniglet"/>
                <a:ea typeface="Sniglet"/>
                <a:cs typeface="Sniglet"/>
                <a:sym typeface="Sniglet"/>
              </a:rPr>
              <a:t>8</a:t>
            </a:fld>
            <a:endParaRPr sz="1100">
              <a:solidFill>
                <a:srgbClr val="FFFFFF"/>
              </a:solidFill>
              <a:latin typeface="Sniglet"/>
              <a:ea typeface="Sniglet"/>
              <a:cs typeface="Sniglet"/>
              <a:sym typeface="Sniglet"/>
            </a:endParaRPr>
          </a:p>
        </p:txBody>
      </p:sp>
      <p:sp>
        <p:nvSpPr>
          <p:cNvPr id="79" name="Google Shape;79;p16"/>
          <p:cNvSpPr txBox="1">
            <a:spLocks noGrp="1"/>
          </p:cNvSpPr>
          <p:nvPr>
            <p:ph type="ctrTitle" idx="4294967295"/>
          </p:nvPr>
        </p:nvSpPr>
        <p:spPr>
          <a:xfrm>
            <a:off x="142875" y="149669"/>
            <a:ext cx="2733675" cy="140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latin typeface="Adobe Garamond Pro" panose="02020502060506020403" pitchFamily="18" charset="0"/>
              </a:rPr>
              <a:t>Project Directory Structure</a:t>
            </a:r>
            <a:endParaRPr sz="3600" b="1" dirty="0">
              <a:latin typeface="Adobe Garamond Pro" panose="02020502060506020403" pitchFamily="18" charset="0"/>
            </a:endParaRPr>
          </a:p>
        </p:txBody>
      </p:sp>
      <p:sp>
        <p:nvSpPr>
          <p:cNvPr id="2" name="Rectangle 1"/>
          <p:cNvSpPr/>
          <p:nvPr/>
        </p:nvSpPr>
        <p:spPr>
          <a:xfrm>
            <a:off x="2913462" y="-2926"/>
            <a:ext cx="6354320" cy="4857095"/>
          </a:xfrm>
          <a:prstGeom prst="rect">
            <a:avLst/>
          </a:prstGeom>
        </p:spPr>
        <p:txBody>
          <a:bodyPr wrap="square">
            <a:spAutoFit/>
          </a:bodyPr>
          <a:lstStyle/>
          <a:p>
            <a:r>
              <a:rPr lang="en-US" dirty="0" err="1"/>
              <a:t>csvtojson</a:t>
            </a:r>
            <a:r>
              <a:rPr lang="en-US" dirty="0"/>
              <a:t>/</a:t>
            </a:r>
          </a:p>
          <a:p>
            <a:r>
              <a:rPr lang="en-US" dirty="0"/>
              <a:t>├── classes</a:t>
            </a:r>
          </a:p>
          <a:p>
            <a:r>
              <a:rPr lang="en-US" dirty="0"/>
              <a:t>│   └── com</a:t>
            </a:r>
          </a:p>
          <a:p>
            <a:r>
              <a:rPr lang="en-US" dirty="0"/>
              <a:t>│       └── </a:t>
            </a:r>
            <a:r>
              <a:rPr lang="en-US" dirty="0" err="1"/>
              <a:t>ncu</a:t>
            </a:r>
            <a:endParaRPr lang="en-US" dirty="0"/>
          </a:p>
          <a:p>
            <a:r>
              <a:rPr lang="en-US" dirty="0"/>
              <a:t>│           ├── exceptions</a:t>
            </a:r>
          </a:p>
          <a:p>
            <a:r>
              <a:rPr lang="en-US" dirty="0"/>
              <a:t>│           ├── main</a:t>
            </a:r>
          </a:p>
          <a:p>
            <a:r>
              <a:rPr lang="en-US" dirty="0"/>
              <a:t>│           ├── processors</a:t>
            </a:r>
          </a:p>
          <a:p>
            <a:r>
              <a:rPr lang="en-US" dirty="0"/>
              <a:t>│           └── validators</a:t>
            </a:r>
          </a:p>
          <a:p>
            <a:r>
              <a:rPr lang="en-US" dirty="0"/>
              <a:t>├── </a:t>
            </a:r>
            <a:r>
              <a:rPr lang="en-US" dirty="0" err="1"/>
              <a:t>configs</a:t>
            </a:r>
            <a:endParaRPr lang="en-US" dirty="0"/>
          </a:p>
          <a:p>
            <a:r>
              <a:rPr lang="en-US" dirty="0"/>
              <a:t>│   ├── constants</a:t>
            </a:r>
          </a:p>
          <a:p>
            <a:r>
              <a:rPr lang="en-US" dirty="0"/>
              <a:t>│   └── logger</a:t>
            </a:r>
          </a:p>
          <a:p>
            <a:r>
              <a:rPr lang="en-US" dirty="0"/>
              <a:t>├── </a:t>
            </a:r>
            <a:r>
              <a:rPr lang="en-US" dirty="0" err="1"/>
              <a:t>csvs</a:t>
            </a:r>
            <a:endParaRPr lang="en-US" dirty="0"/>
          </a:p>
          <a:p>
            <a:r>
              <a:rPr lang="en-US" dirty="0"/>
              <a:t>├── </a:t>
            </a:r>
            <a:r>
              <a:rPr lang="en-US" dirty="0" err="1"/>
              <a:t>jsons</a:t>
            </a:r>
            <a:endParaRPr lang="en-US" dirty="0"/>
          </a:p>
          <a:p>
            <a:r>
              <a:rPr lang="en-US" dirty="0"/>
              <a:t>├── libs</a:t>
            </a:r>
          </a:p>
          <a:p>
            <a:r>
              <a:rPr lang="en-US" dirty="0"/>
              <a:t>├── logs</a:t>
            </a:r>
          </a:p>
          <a:p>
            <a:r>
              <a:rPr lang="en-US" dirty="0"/>
              <a:t>└── </a:t>
            </a:r>
            <a:r>
              <a:rPr lang="en-US" dirty="0" err="1"/>
              <a:t>src</a:t>
            </a:r>
            <a:endParaRPr lang="en-US" dirty="0"/>
          </a:p>
          <a:p>
            <a:r>
              <a:rPr lang="en-US" dirty="0"/>
              <a:t>    └── com</a:t>
            </a:r>
          </a:p>
          <a:p>
            <a:r>
              <a:rPr lang="en-US" dirty="0"/>
              <a:t>        └── </a:t>
            </a:r>
            <a:r>
              <a:rPr lang="en-US" dirty="0" err="1"/>
              <a:t>ncu</a:t>
            </a:r>
            <a:endParaRPr lang="en-US" dirty="0"/>
          </a:p>
          <a:p>
            <a:r>
              <a:rPr lang="en-US" dirty="0"/>
              <a:t>            ├── exceptions</a:t>
            </a:r>
          </a:p>
          <a:p>
            <a:r>
              <a:rPr lang="en-US" dirty="0"/>
              <a:t>            ├── main</a:t>
            </a:r>
          </a:p>
          <a:p>
            <a:r>
              <a:rPr lang="en-US" dirty="0"/>
              <a:t>            ├── processors</a:t>
            </a:r>
          </a:p>
          <a:p>
            <a:r>
              <a:rPr lang="en-US" dirty="0"/>
              <a:t>            └── validators</a:t>
            </a:r>
          </a:p>
        </p:txBody>
      </p:sp>
    </p:spTree>
    <p:extLst>
      <p:ext uri="{BB962C8B-B14F-4D97-AF65-F5344CB8AC3E}">
        <p14:creationId xmlns:p14="http://schemas.microsoft.com/office/powerpoint/2010/main" val="883822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0000000-1234-1234-1234-123412341234}" type="slidenum">
              <a:rPr lang="en" smtClean="0"/>
              <a:pPr/>
              <a:t>9</a:t>
            </a:fld>
            <a:endParaRPr lang="en"/>
          </a:p>
        </p:txBody>
      </p:sp>
      <p:sp>
        <p:nvSpPr>
          <p:cNvPr id="8" name="Title 1"/>
          <p:cNvSpPr txBox="1">
            <a:spLocks/>
          </p:cNvSpPr>
          <p:nvPr/>
        </p:nvSpPr>
        <p:spPr>
          <a:xfrm>
            <a:off x="975360" y="358022"/>
            <a:ext cx="7543800" cy="1088068"/>
          </a:xfrm>
          <a:prstGeom prst="rect">
            <a:avLst/>
          </a:prstGeom>
        </p:spPr>
        <p:txBody>
          <a:bodyPr vert="horz" lIns="91440" tIns="45720" rIns="91440" bIns="45720" rtlCol="0" anchor="b">
            <a:normAutofit/>
          </a:bodyPr>
          <a:lstStyle>
            <a:lvl1pPr marL="0"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a:buClrTx/>
              <a:buFontTx/>
              <a:buNone/>
            </a:pPr>
            <a:r>
              <a:rPr lang="en-US" b="1" dirty="0">
                <a:solidFill>
                  <a:srgbClr val="000000">
                    <a:lumMod val="75000"/>
                    <a:lumOff val="25000"/>
                  </a:srgbClr>
                </a:solidFill>
              </a:rPr>
              <a:t>Creating the project directory structure</a:t>
            </a:r>
          </a:p>
        </p:txBody>
      </p:sp>
      <p:sp>
        <p:nvSpPr>
          <p:cNvPr id="9" name="Content Placeholder 2"/>
          <p:cNvSpPr txBox="1">
            <a:spLocks/>
          </p:cNvSpPr>
          <p:nvPr/>
        </p:nvSpPr>
        <p:spPr>
          <a:xfrm>
            <a:off x="975360" y="1593130"/>
            <a:ext cx="7543800" cy="3054283"/>
          </a:xfrm>
          <a:prstGeom prst="rect">
            <a:avLst/>
          </a:prstGeom>
        </p:spPr>
        <p:txBody>
          <a:bodyPr vert="horz" lIns="0" tIns="45720" rIns="0" bIns="45720" rtlCol="0">
            <a:norm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fontAlgn="base">
              <a:buClr>
                <a:srgbClr val="E48312"/>
              </a:buClr>
            </a:pPr>
            <a:r>
              <a:rPr lang="en-US" dirty="0">
                <a:solidFill>
                  <a:srgbClr val="000000">
                    <a:lumMod val="75000"/>
                    <a:lumOff val="25000"/>
                  </a:srgbClr>
                </a:solidFill>
              </a:rPr>
              <a:t>The project directory structure should explain about all subdirectories and what kind of files to be kept into particular sub directory.</a:t>
            </a:r>
          </a:p>
          <a:p>
            <a:pPr fontAlgn="base">
              <a:buClr>
                <a:srgbClr val="E48312"/>
              </a:buClr>
            </a:pPr>
            <a:r>
              <a:rPr lang="en-US" dirty="0">
                <a:solidFill>
                  <a:srgbClr val="000000">
                    <a:lumMod val="75000"/>
                    <a:lumOff val="25000"/>
                  </a:srgbClr>
                </a:solidFill>
              </a:rPr>
              <a:t>Definition of Done -</a:t>
            </a:r>
          </a:p>
          <a:p>
            <a:pPr fontAlgn="base">
              <a:buClr>
                <a:srgbClr val="E48312"/>
              </a:buClr>
            </a:pPr>
            <a:r>
              <a:rPr lang="en-US" dirty="0">
                <a:solidFill>
                  <a:srgbClr val="000000">
                    <a:lumMod val="75000"/>
                    <a:lumOff val="25000"/>
                  </a:srgbClr>
                </a:solidFill>
              </a:rPr>
              <a:t>In project root folder, following subfolders should be created.</a:t>
            </a:r>
          </a:p>
          <a:p>
            <a:pPr fontAlgn="base">
              <a:buClr>
                <a:srgbClr val="E48312"/>
              </a:buClr>
            </a:pPr>
            <a:r>
              <a:rPr lang="en-US" b="1" dirty="0">
                <a:solidFill>
                  <a:srgbClr val="000000">
                    <a:lumMod val="75000"/>
                    <a:lumOff val="25000"/>
                  </a:srgbClr>
                </a:solidFill>
              </a:rPr>
              <a:t>1. </a:t>
            </a:r>
            <a:r>
              <a:rPr lang="en-US" b="1" dirty="0" err="1">
                <a:solidFill>
                  <a:srgbClr val="000000">
                    <a:lumMod val="75000"/>
                    <a:lumOff val="25000"/>
                  </a:srgbClr>
                </a:solidFill>
              </a:rPr>
              <a:t>csvs</a:t>
            </a:r>
            <a:endParaRPr lang="en-US" dirty="0">
              <a:solidFill>
                <a:srgbClr val="000000">
                  <a:lumMod val="75000"/>
                  <a:lumOff val="25000"/>
                </a:srgbClr>
              </a:solidFill>
            </a:endParaRPr>
          </a:p>
          <a:p>
            <a:pPr fontAlgn="base">
              <a:buClr>
                <a:srgbClr val="E48312"/>
              </a:buClr>
            </a:pPr>
            <a:r>
              <a:rPr lang="en-US" dirty="0">
                <a:solidFill>
                  <a:srgbClr val="000000">
                    <a:lumMod val="75000"/>
                    <a:lumOff val="25000"/>
                  </a:srgbClr>
                </a:solidFill>
              </a:rPr>
              <a:t>This folder should contain all </a:t>
            </a:r>
            <a:r>
              <a:rPr lang="en-US" dirty="0" err="1">
                <a:solidFill>
                  <a:srgbClr val="000000">
                    <a:lumMod val="75000"/>
                    <a:lumOff val="25000"/>
                  </a:srgbClr>
                </a:solidFill>
              </a:rPr>
              <a:t>csv</a:t>
            </a:r>
            <a:r>
              <a:rPr lang="en-US" dirty="0">
                <a:solidFill>
                  <a:srgbClr val="000000">
                    <a:lumMod val="75000"/>
                    <a:lumOff val="25000"/>
                  </a:srgbClr>
                </a:solidFill>
              </a:rPr>
              <a:t> files.</a:t>
            </a:r>
          </a:p>
          <a:p>
            <a:pPr fontAlgn="base">
              <a:buClr>
                <a:srgbClr val="E48312"/>
              </a:buClr>
            </a:pPr>
            <a:r>
              <a:rPr lang="en-US" b="1" dirty="0">
                <a:solidFill>
                  <a:srgbClr val="000000">
                    <a:lumMod val="75000"/>
                    <a:lumOff val="25000"/>
                  </a:srgbClr>
                </a:solidFill>
              </a:rPr>
              <a:t>2. </a:t>
            </a:r>
            <a:r>
              <a:rPr lang="en-US" b="1" dirty="0" err="1">
                <a:solidFill>
                  <a:srgbClr val="000000">
                    <a:lumMod val="75000"/>
                    <a:lumOff val="25000"/>
                  </a:srgbClr>
                </a:solidFill>
              </a:rPr>
              <a:t>jsons</a:t>
            </a:r>
            <a:endParaRPr lang="en-US" dirty="0">
              <a:solidFill>
                <a:srgbClr val="000000">
                  <a:lumMod val="75000"/>
                  <a:lumOff val="25000"/>
                </a:srgbClr>
              </a:solidFill>
            </a:endParaRPr>
          </a:p>
          <a:p>
            <a:pPr fontAlgn="base">
              <a:buClr>
                <a:srgbClr val="E48312"/>
              </a:buClr>
            </a:pPr>
            <a:r>
              <a:rPr lang="en-US" dirty="0">
                <a:solidFill>
                  <a:srgbClr val="000000">
                    <a:lumMod val="75000"/>
                    <a:lumOff val="25000"/>
                  </a:srgbClr>
                </a:solidFill>
              </a:rPr>
              <a:t>This folder should contain all generated </a:t>
            </a:r>
            <a:r>
              <a:rPr lang="en-US" dirty="0" err="1">
                <a:solidFill>
                  <a:srgbClr val="000000">
                    <a:lumMod val="75000"/>
                    <a:lumOff val="25000"/>
                  </a:srgbClr>
                </a:solidFill>
              </a:rPr>
              <a:t>json</a:t>
            </a:r>
            <a:r>
              <a:rPr lang="en-US" dirty="0">
                <a:solidFill>
                  <a:srgbClr val="000000">
                    <a:lumMod val="75000"/>
                    <a:lumOff val="25000"/>
                  </a:srgbClr>
                </a:solidFill>
              </a:rPr>
              <a:t> files.</a:t>
            </a:r>
          </a:p>
          <a:p>
            <a:pPr>
              <a:buClr>
                <a:srgbClr val="E48312"/>
              </a:buClr>
            </a:pPr>
            <a:endParaRPr lang="en-US" dirty="0">
              <a:solidFill>
                <a:srgbClr val="000000">
                  <a:lumMod val="75000"/>
                  <a:lumOff val="25000"/>
                </a:srgbClr>
              </a:solidFill>
            </a:endParaRPr>
          </a:p>
        </p:txBody>
      </p:sp>
      <p:sp>
        <p:nvSpPr>
          <p:cNvPr id="10" name="Slide Number Placeholder 3"/>
          <p:cNvSpPr txBox="1">
            <a:spLocks/>
          </p:cNvSpPr>
          <p:nvPr/>
        </p:nvSpPr>
        <p:spPr>
          <a:xfrm>
            <a:off x="7577744" y="4997239"/>
            <a:ext cx="984019" cy="273844"/>
          </a:xfrm>
          <a:prstGeom prst="rect">
            <a:avLst/>
          </a:prstGeom>
        </p:spPr>
        <p:txBody>
          <a:bodyPr vert="horz" lIns="91440" tIns="45720" rIns="91440" bIns="45720" rtlCol="0" anchor="ct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defRPr sz="788"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9</a:t>
            </a:fld>
            <a:endParaRPr lang="en"/>
          </a:p>
        </p:txBody>
      </p:sp>
    </p:spTree>
    <p:extLst>
      <p:ext uri="{BB962C8B-B14F-4D97-AF65-F5344CB8AC3E}">
        <p14:creationId xmlns:p14="http://schemas.microsoft.com/office/powerpoint/2010/main" val="52420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fontAlgn="base"/>
            <a:r>
              <a:rPr lang="en-US" b="1" dirty="0"/>
              <a:t>3. </a:t>
            </a:r>
            <a:r>
              <a:rPr lang="en-US" b="1" dirty="0" err="1"/>
              <a:t>configs</a:t>
            </a:r>
            <a:endParaRPr lang="en-US" dirty="0"/>
          </a:p>
          <a:p>
            <a:pPr fontAlgn="base"/>
            <a:r>
              <a:rPr lang="en-US" dirty="0"/>
              <a:t>This folder should contain </a:t>
            </a:r>
            <a:r>
              <a:rPr lang="en-US" dirty="0" err="1"/>
              <a:t>config</a:t>
            </a:r>
            <a:r>
              <a:rPr lang="en-US" dirty="0"/>
              <a:t> subfolders.</a:t>
            </a:r>
          </a:p>
          <a:p>
            <a:pPr fontAlgn="base"/>
            <a:r>
              <a:rPr lang="en-US" b="1" dirty="0"/>
              <a:t>logger</a:t>
            </a:r>
            <a:endParaRPr lang="en-US" dirty="0"/>
          </a:p>
          <a:p>
            <a:pPr fontAlgn="base"/>
            <a:r>
              <a:rPr lang="en-US" dirty="0" err="1">
                <a:hlinkClick r:id="rId2"/>
              </a:rPr>
              <a:t>logger.properties</a:t>
            </a:r>
            <a:endParaRPr lang="en-US" dirty="0"/>
          </a:p>
          <a:p>
            <a:pPr fontAlgn="base"/>
            <a:r>
              <a:rPr lang="en-US" b="1" dirty="0"/>
              <a:t>constants</a:t>
            </a:r>
            <a:endParaRPr lang="en-US" dirty="0"/>
          </a:p>
          <a:p>
            <a:pPr fontAlgn="base"/>
            <a:r>
              <a:rPr lang="en-US" dirty="0" err="1">
                <a:hlinkClick r:id="rId3"/>
              </a:rPr>
              <a:t>exceptions.properties</a:t>
            </a:r>
            <a:endParaRPr lang="en-US" dirty="0"/>
          </a:p>
          <a:p>
            <a:pPr fontAlgn="base"/>
            <a:r>
              <a:rPr lang="en-US" b="1" dirty="0"/>
              <a:t>4. logs</a:t>
            </a:r>
            <a:endParaRPr lang="en-US" dirty="0"/>
          </a:p>
          <a:p>
            <a:pPr fontAlgn="base"/>
            <a:r>
              <a:rPr lang="en-US" dirty="0"/>
              <a:t>logger.log</a:t>
            </a:r>
          </a:p>
          <a:p>
            <a:endParaRPr lang="en-US" dirty="0"/>
          </a:p>
        </p:txBody>
      </p:sp>
      <p:sp>
        <p:nvSpPr>
          <p:cNvPr id="4" name="Slide Number Placeholder 3"/>
          <p:cNvSpPr>
            <a:spLocks noGrp="1"/>
          </p:cNvSpPr>
          <p:nvPr>
            <p:ph type="sldNum" sz="quarter"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1084488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sz="1600" b="1" dirty="0" err="1"/>
              <a:t>src</a:t>
            </a:r>
            <a:endParaRPr lang="en-US" sz="1600" dirty="0"/>
          </a:p>
          <a:p>
            <a:pPr fontAlgn="base"/>
            <a:r>
              <a:rPr lang="en-US" sz="1600" dirty="0"/>
              <a:t>This folder should contain different packages and source files based on their actions.</a:t>
            </a:r>
          </a:p>
          <a:p>
            <a:pPr fontAlgn="base"/>
            <a:r>
              <a:rPr lang="en-US" sz="1600" b="1" dirty="0" err="1"/>
              <a:t>com.ncu.main</a:t>
            </a:r>
            <a:endParaRPr lang="en-US" sz="1600" dirty="0"/>
          </a:p>
          <a:p>
            <a:pPr fontAlgn="base"/>
            <a:r>
              <a:rPr lang="en-US" sz="1600" dirty="0"/>
              <a:t>This will contain </a:t>
            </a:r>
            <a:r>
              <a:rPr lang="en-US" sz="1600" dirty="0" err="1"/>
              <a:t>enrty</a:t>
            </a:r>
            <a:r>
              <a:rPr lang="en-US" sz="1600" dirty="0"/>
              <a:t> point java source file.</a:t>
            </a:r>
          </a:p>
          <a:p>
            <a:pPr fontAlgn="base"/>
            <a:r>
              <a:rPr lang="en-US" sz="1600" dirty="0">
                <a:hlinkClick r:id="rId2"/>
              </a:rPr>
              <a:t>JSONConverter.java</a:t>
            </a:r>
            <a:endParaRPr lang="en-US" sz="1600" dirty="0"/>
          </a:p>
          <a:p>
            <a:pPr fontAlgn="base"/>
            <a:r>
              <a:rPr lang="en-US" sz="1600" b="1" dirty="0" err="1"/>
              <a:t>com.ncu.validators</a:t>
            </a:r>
            <a:endParaRPr lang="en-US" sz="1600" dirty="0"/>
          </a:p>
          <a:p>
            <a:pPr fontAlgn="base"/>
            <a:r>
              <a:rPr lang="en-US" sz="1600" dirty="0"/>
              <a:t>This will contain validators source files.</a:t>
            </a:r>
          </a:p>
          <a:p>
            <a:pPr fontAlgn="base"/>
            <a:r>
              <a:rPr lang="en-US" sz="1600" dirty="0">
                <a:hlinkClick r:id="rId3"/>
              </a:rPr>
              <a:t>FileNameValidator.java</a:t>
            </a:r>
            <a:r>
              <a:rPr lang="en-US" sz="1600" dirty="0"/>
              <a:t> - To validate file name</a:t>
            </a:r>
          </a:p>
          <a:p>
            <a:pPr fontAlgn="base"/>
            <a:r>
              <a:rPr lang="en-US" sz="1600" dirty="0">
                <a:hlinkClick r:id="rId4"/>
              </a:rPr>
              <a:t>CSVValidator.java</a:t>
            </a:r>
            <a:r>
              <a:rPr lang="en-US" sz="1600" dirty="0"/>
              <a:t> -  To validate </a:t>
            </a:r>
            <a:r>
              <a:rPr lang="en-US" sz="1600" dirty="0" err="1"/>
              <a:t>csv</a:t>
            </a:r>
            <a:r>
              <a:rPr lang="en-US" sz="1600" dirty="0"/>
              <a:t> data for row</a:t>
            </a:r>
          </a:p>
          <a:p>
            <a:pPr fontAlgn="base"/>
            <a:r>
              <a:rPr lang="en-US" sz="1600" b="1" dirty="0" err="1"/>
              <a:t>com.ncu.exceptions</a:t>
            </a:r>
            <a:endParaRPr lang="en-US" sz="1600" dirty="0"/>
          </a:p>
          <a:p>
            <a:endParaRPr lang="en-US" dirty="0"/>
          </a:p>
        </p:txBody>
      </p:sp>
      <p:sp>
        <p:nvSpPr>
          <p:cNvPr id="4" name="Slide Number Placeholder 3"/>
          <p:cNvSpPr>
            <a:spLocks noGrp="1"/>
          </p:cNvSpPr>
          <p:nvPr>
            <p:ph type="sldNum" sz="quarter"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2379729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1"/>
          <p:cNvSpPr/>
          <p:nvPr/>
        </p:nvSpPr>
        <p:spPr>
          <a:xfrm>
            <a:off x="1213920" y="1400760"/>
            <a:ext cx="6555600" cy="115668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lstStyle/>
          <a:p>
            <a:pPr>
              <a:lnSpc>
                <a:spcPct val="85000"/>
              </a:lnSpc>
            </a:pPr>
            <a:r>
              <a:rPr lang="en-US" sz="4000" b="0" strike="noStrike" spc="-38">
                <a:solidFill>
                  <a:srgbClr val="404040"/>
                </a:solidFill>
                <a:latin typeface="Adobe Garamond Pro"/>
                <a:ea typeface="DejaVu Sans"/>
              </a:rPr>
              <a:t>NameValidator class</a:t>
            </a:r>
            <a:endParaRPr lang="en-US" sz="4000" b="0" strike="noStrike" spc="-1">
              <a:latin typeface="Arial"/>
            </a:endParaRPr>
          </a:p>
        </p:txBody>
      </p:sp>
      <p:sp>
        <p:nvSpPr>
          <p:cNvPr id="124" name="CustomShape 2"/>
          <p:cNvSpPr/>
          <p:nvPr/>
        </p:nvSpPr>
        <p:spPr>
          <a:xfrm>
            <a:off x="1280160" y="3108960"/>
            <a:ext cx="6555600" cy="115668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lstStyle/>
          <a:p>
            <a:pPr>
              <a:lnSpc>
                <a:spcPct val="85000"/>
              </a:lnSpc>
            </a:pPr>
            <a:r>
              <a:rPr lang="en-US" sz="4000" b="0" strike="noStrike" spc="-38">
                <a:solidFill>
                  <a:srgbClr val="404040"/>
                </a:solidFill>
                <a:latin typeface="Adobe Garamond Pro"/>
                <a:ea typeface="DejaVu Sans"/>
              </a:rPr>
              <a:t>Contains methods to check valid file name for CSV and JSON</a:t>
            </a:r>
            <a:endParaRPr lang="en-US" sz="40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CustomShape 1"/>
          <p:cNvSpPr/>
          <p:nvPr/>
        </p:nvSpPr>
        <p:spPr>
          <a:xfrm>
            <a:off x="138960" y="182880"/>
            <a:ext cx="7540560" cy="476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200" b="0" strike="noStrike" spc="-38">
                <a:solidFill>
                  <a:srgbClr val="404040"/>
                </a:solidFill>
                <a:latin typeface="Calibri Light"/>
                <a:ea typeface="DejaVu Sans"/>
              </a:rPr>
              <a:t>nameValidator method</a:t>
            </a:r>
            <a:endParaRPr lang="en-US" sz="3200" b="0" strike="noStrike" spc="-1">
              <a:latin typeface="Arial"/>
            </a:endParaRPr>
          </a:p>
        </p:txBody>
      </p:sp>
      <p:sp>
        <p:nvSpPr>
          <p:cNvPr id="129" name="CustomShape 2"/>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B64E7F81-3523-4724-9634-C51E991CBEC6}" type="slidenum">
              <a:rPr lang="en-US" sz="790" b="0" strike="noStrike" spc="-1">
                <a:solidFill>
                  <a:srgbClr val="FFFFFF"/>
                </a:solidFill>
                <a:latin typeface="Arial"/>
                <a:ea typeface="Arial"/>
              </a:rPr>
              <a:t>13</a:t>
            </a:fld>
            <a:endParaRPr lang="en-US" sz="790" b="0" strike="noStrike" spc="-1">
              <a:latin typeface="Arial"/>
            </a:endParaRPr>
          </a:p>
        </p:txBody>
      </p:sp>
      <p:sp>
        <p:nvSpPr>
          <p:cNvPr id="130" name="CustomShape 3"/>
          <p:cNvSpPr/>
          <p:nvPr/>
        </p:nvSpPr>
        <p:spPr>
          <a:xfrm>
            <a:off x="126360" y="640080"/>
            <a:ext cx="8959680" cy="2155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spcBef>
                <a:spcPts val="720"/>
              </a:spcBef>
              <a:buClr>
                <a:srgbClr val="000000"/>
              </a:buClr>
              <a:buFont typeface="Liberation Serif"/>
              <a:buAutoNum type="arabicPeriod"/>
            </a:pPr>
            <a:r>
              <a:rPr lang="en-US" sz="1900" b="0" strike="noStrike" spc="-1" dirty="0">
                <a:solidFill>
                  <a:srgbClr val="000000"/>
                </a:solidFill>
                <a:latin typeface="Arial"/>
                <a:ea typeface="DejaVu Sans"/>
              </a:rPr>
              <a:t>class </a:t>
            </a:r>
            <a:r>
              <a:rPr lang="en-US" sz="1900" b="0" strike="noStrike" spc="-1" dirty="0" err="1">
                <a:solidFill>
                  <a:srgbClr val="000000"/>
                </a:solidFill>
                <a:latin typeface="Arial"/>
                <a:ea typeface="DejaVu Sans"/>
              </a:rPr>
              <a:t>NameValidator</a:t>
            </a:r>
            <a:r>
              <a:rPr lang="en-US" sz="1900" b="0" strike="noStrike" spc="-1" dirty="0">
                <a:solidFill>
                  <a:srgbClr val="000000"/>
                </a:solidFill>
                <a:latin typeface="Arial"/>
                <a:ea typeface="DejaVu Sans"/>
              </a:rPr>
              <a:t>{</a:t>
            </a:r>
            <a:endParaRPr lang="en-US" sz="1900" b="0" strike="noStrike" spc="-1" dirty="0">
              <a:latin typeface="Arial"/>
            </a:endParaRPr>
          </a:p>
          <a:p>
            <a:pPr marL="216000" indent="-214560">
              <a:lnSpc>
                <a:spcPct val="100000"/>
              </a:lnSpc>
              <a:spcBef>
                <a:spcPts val="720"/>
              </a:spcBef>
              <a:buClr>
                <a:srgbClr val="000000"/>
              </a:buClr>
              <a:buFont typeface="Liberation Serif"/>
              <a:buAutoNum type="arabicPeriod"/>
            </a:pPr>
            <a:r>
              <a:rPr lang="en-US" sz="1900" b="0" strike="noStrike" spc="-1" dirty="0">
                <a:solidFill>
                  <a:srgbClr val="000000"/>
                </a:solidFill>
                <a:latin typeface="Arial"/>
                <a:ea typeface="DejaVu Sans"/>
              </a:rPr>
              <a:t>	</a:t>
            </a:r>
            <a:r>
              <a:rPr lang="en-US" sz="1900" b="0" strike="noStrike" spc="-1" dirty="0" err="1">
                <a:solidFill>
                  <a:srgbClr val="000000"/>
                </a:solidFill>
                <a:latin typeface="Arial"/>
                <a:ea typeface="DejaVu Sans"/>
              </a:rPr>
              <a:t>boolean</a:t>
            </a:r>
            <a:r>
              <a:rPr lang="en-US" sz="1900" b="0" strike="noStrike" spc="-1" dirty="0">
                <a:solidFill>
                  <a:srgbClr val="000000"/>
                </a:solidFill>
                <a:latin typeface="Arial"/>
                <a:ea typeface="DejaVu Sans"/>
              </a:rPr>
              <a:t> </a:t>
            </a:r>
            <a:r>
              <a:rPr lang="en-US" sz="1900" b="0" strike="noStrike" spc="-1" dirty="0" err="1">
                <a:solidFill>
                  <a:srgbClr val="000000"/>
                </a:solidFill>
                <a:latin typeface="Arial"/>
                <a:ea typeface="DejaVu Sans"/>
              </a:rPr>
              <a:t>nameValidator</a:t>
            </a:r>
            <a:r>
              <a:rPr lang="en-US" sz="1900" b="0" strike="noStrike" spc="-1" dirty="0">
                <a:solidFill>
                  <a:srgbClr val="000000"/>
                </a:solidFill>
                <a:latin typeface="Arial"/>
                <a:ea typeface="DejaVu Sans"/>
              </a:rPr>
              <a:t>(String filename, String filetype){</a:t>
            </a:r>
            <a:endParaRPr lang="en-US" sz="1900" b="0" strike="noStrike" spc="-1" dirty="0">
              <a:latin typeface="Arial"/>
            </a:endParaRPr>
          </a:p>
          <a:p>
            <a:pPr marL="216000" indent="-214560">
              <a:lnSpc>
                <a:spcPct val="100000"/>
              </a:lnSpc>
              <a:spcBef>
                <a:spcPts val="720"/>
              </a:spcBef>
              <a:buClr>
                <a:srgbClr val="000000"/>
              </a:buClr>
              <a:buFont typeface="Liberation Serif"/>
              <a:buAutoNum type="arabicPeriod"/>
            </a:pPr>
            <a:r>
              <a:rPr lang="en-US" sz="1900" b="0" strike="noStrike" spc="-1" dirty="0">
                <a:solidFill>
                  <a:srgbClr val="000000"/>
                </a:solidFill>
                <a:latin typeface="Arial"/>
                <a:ea typeface="DejaVu Sans"/>
              </a:rPr>
              <a:t>		</a:t>
            </a:r>
            <a:r>
              <a:rPr lang="en-US" sz="1900" b="0" strike="noStrike" spc="-1" dirty="0" err="1">
                <a:solidFill>
                  <a:srgbClr val="000000"/>
                </a:solidFill>
                <a:latin typeface="Arial"/>
                <a:ea typeface="DejaVu Sans"/>
              </a:rPr>
              <a:t>System.out.println</a:t>
            </a:r>
            <a:r>
              <a:rPr lang="en-US" sz="1900" b="0" strike="noStrike" spc="-1" dirty="0">
                <a:solidFill>
                  <a:srgbClr val="000000"/>
                </a:solidFill>
                <a:latin typeface="Arial"/>
                <a:ea typeface="DejaVu Sans"/>
              </a:rPr>
              <a:t>("File name is: "+filename+" and its type is:"+filetype);</a:t>
            </a:r>
            <a:endParaRPr lang="en-US" sz="1900" b="0" strike="noStrike" spc="-1" dirty="0">
              <a:latin typeface="Arial"/>
            </a:endParaRPr>
          </a:p>
          <a:p>
            <a:pPr marL="216000" indent="-214560">
              <a:lnSpc>
                <a:spcPct val="100000"/>
              </a:lnSpc>
              <a:spcBef>
                <a:spcPts val="720"/>
              </a:spcBef>
              <a:buClr>
                <a:srgbClr val="000000"/>
              </a:buClr>
              <a:buFont typeface="Liberation Serif"/>
              <a:buAutoNum type="arabicPeriod"/>
            </a:pPr>
            <a:r>
              <a:rPr lang="en-US" sz="1900" b="0" strike="noStrike" spc="-1" dirty="0">
                <a:solidFill>
                  <a:srgbClr val="000000"/>
                </a:solidFill>
                <a:latin typeface="Arial"/>
                <a:ea typeface="DejaVu Sans"/>
              </a:rPr>
              <a:t>		return true;</a:t>
            </a:r>
            <a:endParaRPr lang="en-US" sz="1900" b="0" strike="noStrike" spc="-1" dirty="0">
              <a:latin typeface="Arial"/>
            </a:endParaRPr>
          </a:p>
          <a:p>
            <a:pPr marL="216000" indent="-214560">
              <a:lnSpc>
                <a:spcPct val="100000"/>
              </a:lnSpc>
              <a:spcBef>
                <a:spcPts val="720"/>
              </a:spcBef>
              <a:buClr>
                <a:srgbClr val="000000"/>
              </a:buClr>
              <a:buFont typeface="Liberation Serif"/>
              <a:buAutoNum type="arabicPeriod"/>
            </a:pPr>
            <a:r>
              <a:rPr lang="en-US" sz="1900" b="0" strike="noStrike" spc="-1" dirty="0">
                <a:solidFill>
                  <a:srgbClr val="000000"/>
                </a:solidFill>
                <a:latin typeface="Arial"/>
                <a:ea typeface="DejaVu Sans"/>
              </a:rPr>
              <a:t>	}</a:t>
            </a:r>
            <a:endParaRPr lang="en-US" sz="1900" b="0" strike="noStrike" spc="-1" dirty="0">
              <a:latin typeface="Arial"/>
            </a:endParaRPr>
          </a:p>
          <a:p>
            <a:pPr marL="216000" indent="-214560">
              <a:lnSpc>
                <a:spcPct val="100000"/>
              </a:lnSpc>
              <a:spcBef>
                <a:spcPts val="720"/>
              </a:spcBef>
              <a:buClr>
                <a:srgbClr val="000000"/>
              </a:buClr>
              <a:buFont typeface="Liberation Serif"/>
              <a:buAutoNum type="arabicPeriod"/>
            </a:pPr>
            <a:r>
              <a:rPr lang="en-US" sz="1900" b="0" strike="noStrike" spc="-1" dirty="0">
                <a:solidFill>
                  <a:srgbClr val="000000"/>
                </a:solidFill>
                <a:latin typeface="Arial"/>
                <a:ea typeface="DejaVu Sans"/>
              </a:rPr>
              <a:t>}</a:t>
            </a:r>
            <a:endParaRPr lang="en-US" sz="1900" b="0" strike="noStrike" spc="-1" dirty="0">
              <a:latin typeface="Arial"/>
            </a:endParaRPr>
          </a:p>
        </p:txBody>
      </p:sp>
      <p:sp>
        <p:nvSpPr>
          <p:cNvPr id="131" name="CustomShape 4"/>
          <p:cNvSpPr/>
          <p:nvPr/>
        </p:nvSpPr>
        <p:spPr>
          <a:xfrm>
            <a:off x="158760" y="2635920"/>
            <a:ext cx="6490800" cy="563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nameValidator method</a:t>
            </a:r>
            <a:endParaRPr lang="en-US" sz="3200" b="0" strike="noStrike" spc="-1">
              <a:latin typeface="Arial"/>
            </a:endParaRPr>
          </a:p>
        </p:txBody>
      </p:sp>
      <p:sp>
        <p:nvSpPr>
          <p:cNvPr id="132" name="CustomShape 5"/>
          <p:cNvSpPr/>
          <p:nvPr/>
        </p:nvSpPr>
        <p:spPr>
          <a:xfrm>
            <a:off x="114840" y="3129480"/>
            <a:ext cx="8844840" cy="1898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a:t>
            </a:r>
            <a:endParaRPr lang="en-US" sz="1800" b="0" strike="noStrike" spc="-1">
              <a:latin typeface="Arial"/>
            </a:endParaRPr>
          </a:p>
          <a:p>
            <a:pPr>
              <a:lnSpc>
                <a:spcPct val="100000"/>
              </a:lnSpc>
            </a:pPr>
            <a:r>
              <a:rPr lang="en-US" sz="1800" b="0" strike="noStrike" spc="-1">
                <a:solidFill>
                  <a:srgbClr val="000000"/>
                </a:solidFill>
                <a:latin typeface="Arial"/>
                <a:ea typeface="DejaVu Sans"/>
              </a:rPr>
              <a: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65956EB2-43A4-484C-8E1F-323A5878ED67}" type="slidenum">
              <a:rPr lang="en-US" sz="790" b="0" strike="noStrike" spc="-1">
                <a:solidFill>
                  <a:srgbClr val="FFFFFF"/>
                </a:solidFill>
                <a:latin typeface="Arial"/>
                <a:ea typeface="Arial"/>
              </a:rPr>
              <a:t>14</a:t>
            </a:fld>
            <a:endParaRPr lang="en-US" sz="790" b="0" strike="noStrike" spc="-1">
              <a:latin typeface="Arial"/>
            </a:endParaRPr>
          </a:p>
        </p:txBody>
      </p:sp>
      <p:sp>
        <p:nvSpPr>
          <p:cNvPr id="134"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35" name="CustomShape 3"/>
          <p:cNvSpPr/>
          <p:nvPr/>
        </p:nvSpPr>
        <p:spPr>
          <a:xfrm>
            <a:off x="182880" y="640080"/>
            <a:ext cx="6490800" cy="563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nameValidator method</a:t>
            </a:r>
            <a:endParaRPr lang="en-US" sz="3200" b="0" strike="noStrike" spc="-1">
              <a:latin typeface="Arial"/>
            </a:endParaRPr>
          </a:p>
        </p:txBody>
      </p:sp>
      <p:sp>
        <p:nvSpPr>
          <p:cNvPr id="136" name="CustomShape 4"/>
          <p:cNvSpPr/>
          <p:nvPr/>
        </p:nvSpPr>
        <p:spPr>
          <a:xfrm>
            <a:off x="114840" y="1828800"/>
            <a:ext cx="8844840" cy="2650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a:t>
            </a:r>
            <a:endParaRPr lang="en-US" sz="1800" b="0" strike="noStrike" spc="-1">
              <a:latin typeface="Arial"/>
            </a:endParaRPr>
          </a:p>
          <a:p>
            <a:pPr>
              <a:lnSpc>
                <a:spcPct val="100000"/>
              </a:lnSpc>
            </a:pPr>
            <a:r>
              <a:rPr lang="en-US" sz="1800" b="0" strike="noStrike" spc="-1">
                <a:solidFill>
                  <a:srgbClr val="000000"/>
                </a:solidFill>
                <a:latin typeface="Arial"/>
                <a:ea typeface="DejaVu Sans"/>
              </a:rPr>
              <a: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88821D3-4361-4EAC-8A40-2D1508EE1F6C}" type="slidenum">
              <a:rPr lang="en-US" sz="790" b="0" strike="noStrike" spc="-1">
                <a:solidFill>
                  <a:srgbClr val="FFFFFF"/>
                </a:solidFill>
                <a:latin typeface="Arial"/>
                <a:ea typeface="Arial"/>
              </a:rPr>
              <a:t>15</a:t>
            </a:fld>
            <a:endParaRPr lang="en-US" sz="790" b="0" strike="noStrike" spc="-1">
              <a:latin typeface="Arial"/>
            </a:endParaRPr>
          </a:p>
        </p:txBody>
      </p:sp>
      <p:sp>
        <p:nvSpPr>
          <p:cNvPr id="138" name="CustomShape 2"/>
          <p:cNvSpPr/>
          <p:nvPr/>
        </p:nvSpPr>
        <p:spPr>
          <a:xfrm>
            <a:off x="0" y="58680"/>
            <a:ext cx="86853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Writing method to check file name should not be empty</a:t>
            </a:r>
            <a:endParaRPr lang="en-US" sz="3200" b="0" strike="noStrike" spc="-1">
              <a:latin typeface="Arial"/>
            </a:endParaRPr>
          </a:p>
        </p:txBody>
      </p:sp>
      <p:sp>
        <p:nvSpPr>
          <p:cNvPr id="139" name="CustomShape 3"/>
          <p:cNvSpPr/>
          <p:nvPr/>
        </p:nvSpPr>
        <p:spPr>
          <a:xfrm>
            <a:off x="274320" y="1463040"/>
            <a:ext cx="2010240" cy="3160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Arial"/>
              </a:rPr>
              <a:t>Write a method </a:t>
            </a:r>
            <a:r>
              <a:rPr lang="en-US" sz="1800" b="1" strike="noStrike" spc="-1">
                <a:solidFill>
                  <a:srgbClr val="000000"/>
                </a:solidFill>
                <a:latin typeface="Arial"/>
                <a:ea typeface="Arial"/>
              </a:rPr>
              <a:t>emptyFileName(String fileName) </a:t>
            </a:r>
            <a:r>
              <a:rPr lang="en-US" sz="1800" b="0" strike="noStrike" spc="-1">
                <a:solidFill>
                  <a:srgbClr val="000000"/>
                </a:solidFill>
                <a:latin typeface="Arial"/>
                <a:ea typeface="Arial"/>
              </a:rPr>
              <a:t>after the method nameValidator to check file name is not an empty string, should return true if file name is empty otherwise return false</a:t>
            </a:r>
            <a:endParaRPr lang="en-US" sz="1800" b="0" strike="noStrike" spc="-1">
              <a:latin typeface="Arial"/>
            </a:endParaRPr>
          </a:p>
        </p:txBody>
      </p:sp>
      <p:sp>
        <p:nvSpPr>
          <p:cNvPr id="140" name="CustomShape 4"/>
          <p:cNvSpPr/>
          <p:nvPr/>
        </p:nvSpPr>
        <p:spPr>
          <a:xfrm>
            <a:off x="2743200" y="733680"/>
            <a:ext cx="5942160" cy="3928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boolean b;</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b=emptyFileName(filename);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if (b==true)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return false;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return true;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				//closing nameValidator()</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boolean emptyFileName(String filename){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if (filename==""){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return true;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else{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return false;</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a:t>
            </a:r>
            <a:endParaRPr lang="en-US" sz="1800" b="0" strike="noStrike" spc="-1">
              <a:latin typeface="Arial"/>
            </a:endParaRPr>
          </a:p>
          <a:p>
            <a:pPr marL="219600" indent="-218160">
              <a:lnSpc>
                <a:spcPct val="100000"/>
              </a:lnSpc>
              <a:buClr>
                <a:srgbClr val="000000"/>
              </a:buClr>
              <a:buFont typeface="Liberation Serif"/>
              <a:buAutoNum type="arabicPeriod" startAt="4"/>
            </a:pPr>
            <a:r>
              <a:rPr lang="en-US" sz="1800" b="0" strike="noStrike" spc="-1">
                <a:solidFill>
                  <a:srgbClr val="000000"/>
                </a:solidFill>
                <a:latin typeface="Arial"/>
                <a:ea typeface="DejaVu Sans"/>
              </a:rPr>
              <a:t>	}				//closing class NameValidator</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1F1ED4D1-DBC9-4FD4-AF22-73F04A066224}" type="slidenum">
              <a:rPr lang="en-US" sz="790" b="0" strike="noStrike" spc="-1">
                <a:solidFill>
                  <a:srgbClr val="FFFFFF"/>
                </a:solidFill>
                <a:latin typeface="Arial"/>
                <a:ea typeface="Arial"/>
              </a:rPr>
              <a:t>16</a:t>
            </a:fld>
            <a:endParaRPr lang="en-US" sz="790" b="0" strike="noStrike" spc="-1">
              <a:latin typeface="Arial"/>
            </a:endParaRPr>
          </a:p>
        </p:txBody>
      </p:sp>
      <p:sp>
        <p:nvSpPr>
          <p:cNvPr id="142"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43"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144"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checkValidator = csvObject.nameValidator("","csv");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a:t>
            </a:r>
            <a:endParaRPr lang="en-US" sz="1800" b="0" strike="noStrike" spc="-1">
              <a:latin typeface="Arial"/>
            </a:endParaRPr>
          </a:p>
          <a:p>
            <a:pPr>
              <a:lnSpc>
                <a:spcPct val="100000"/>
              </a:lnSpc>
            </a:pPr>
            <a:r>
              <a:rPr lang="en-US" sz="1800" b="0" strike="noStrike" spc="-1">
                <a:solidFill>
                  <a:srgbClr val="000000"/>
                </a:solidFill>
                <a:latin typeface="Arial"/>
                <a:ea typeface="DejaVu Sans"/>
              </a:rPr>
              <a:t>}</a:t>
            </a:r>
            <a:endParaRPr lang="en-US" sz="1800" b="0" strike="noStrike" spc="-1">
              <a:latin typeface="Arial"/>
            </a:endParaRPr>
          </a:p>
        </p:txBody>
      </p:sp>
      <p:sp>
        <p:nvSpPr>
          <p:cNvPr id="145" name="CustomShape 5"/>
          <p:cNvSpPr/>
          <p:nvPr/>
        </p:nvSpPr>
        <p:spPr>
          <a:xfrm>
            <a:off x="6766560" y="1738440"/>
            <a:ext cx="1735920" cy="638640"/>
          </a:xfrm>
          <a:prstGeom prst="wedgeRoundRectCallout">
            <a:avLst>
              <a:gd name="adj1" fmla="val -35833"/>
              <a:gd name="adj2" fmla="val 107333"/>
              <a:gd name="adj3" fmla="val 16667"/>
            </a:avLst>
          </a:prstGeom>
          <a:solidFill>
            <a:srgbClr val="0093D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is not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empty</a:t>
            </a:r>
            <a:endParaRPr lang="en-US" sz="1800" b="0" strike="noStrike" spc="-1">
              <a:latin typeface="Arial"/>
            </a:endParaRPr>
          </a:p>
        </p:txBody>
      </p:sp>
      <p:sp>
        <p:nvSpPr>
          <p:cNvPr id="146" name="CustomShape 6"/>
          <p:cNvSpPr/>
          <p:nvPr/>
        </p:nvSpPr>
        <p:spPr>
          <a:xfrm>
            <a:off x="5396040" y="3750120"/>
            <a:ext cx="1735920" cy="638640"/>
          </a:xfrm>
          <a:prstGeom prst="wedgeRoundRectCallout">
            <a:avLst>
              <a:gd name="adj1" fmla="val -37180"/>
              <a:gd name="adj2" fmla="val -81421"/>
              <a:gd name="adj3" fmla="val 16667"/>
            </a:avLst>
          </a:prstGeom>
          <a:solidFill>
            <a:srgbClr val="0093D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is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empty</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605C3CB-EC6B-462A-96E9-94C94E724D87}" type="slidenum">
              <a:rPr lang="en-US" sz="790" b="0" strike="noStrike" spc="-1">
                <a:solidFill>
                  <a:srgbClr val="FFFFFF"/>
                </a:solidFill>
                <a:latin typeface="Arial"/>
                <a:ea typeface="Arial"/>
              </a:rPr>
              <a:t>17</a:t>
            </a:fld>
            <a:endParaRPr lang="en-US" sz="790" b="0" strike="noStrike" spc="-1">
              <a:latin typeface="Arial"/>
            </a:endParaRPr>
          </a:p>
        </p:txBody>
      </p:sp>
      <p:sp>
        <p:nvSpPr>
          <p:cNvPr id="148" name="CustomShape 2"/>
          <p:cNvSpPr/>
          <p:nvPr/>
        </p:nvSpPr>
        <p:spPr>
          <a:xfrm>
            <a:off x="182880" y="15012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200" b="0" strike="noStrike" spc="-38">
                <a:solidFill>
                  <a:srgbClr val="404040"/>
                </a:solidFill>
                <a:latin typeface="Calibri Light"/>
                <a:ea typeface="DejaVu Sans"/>
              </a:rPr>
              <a:t>Writing method to check that file name has a valid extension i.e. the file name contains a period (.)</a:t>
            </a:r>
            <a:endParaRPr lang="en-US" sz="2200" b="0" strike="noStrike" spc="-1">
              <a:latin typeface="Arial"/>
            </a:endParaRPr>
          </a:p>
        </p:txBody>
      </p:sp>
      <p:sp>
        <p:nvSpPr>
          <p:cNvPr id="149" name="CustomShape 3"/>
          <p:cNvSpPr/>
          <p:nvPr/>
        </p:nvSpPr>
        <p:spPr>
          <a:xfrm>
            <a:off x="236880" y="734040"/>
            <a:ext cx="8722800" cy="5208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600" b="0" strike="noStrike" spc="-1">
                <a:solidFill>
                  <a:srgbClr val="000000"/>
                </a:solidFill>
                <a:latin typeface="Arial"/>
                <a:ea typeface="DejaVu Sans"/>
              </a:rPr>
              <a:t>import java.util.regex.Pattern;</a:t>
            </a:r>
            <a:endParaRPr lang="en-US" sz="1600" b="0" strike="noStrike" spc="-1">
              <a:latin typeface="Arial"/>
            </a:endParaRPr>
          </a:p>
          <a:p>
            <a:pPr marL="216000" indent="-214560">
              <a:lnSpc>
                <a:spcPct val="100000"/>
              </a:lnSpc>
              <a:buClr>
                <a:srgbClr val="000000"/>
              </a:buClr>
              <a:buFont typeface="Liberation Serif"/>
              <a:buAutoNum type="arabicPeriod"/>
            </a:pPr>
            <a:r>
              <a:rPr lang="en-US" sz="1600" b="0" strike="noStrike" spc="-1">
                <a:solidFill>
                  <a:srgbClr val="000000"/>
                </a:solidFill>
                <a:latin typeface="Arial"/>
                <a:ea typeface="DejaVu Sans"/>
              </a:rPr>
              <a:t>import java.util.regex.Matcher;</a:t>
            </a:r>
            <a:endParaRPr lang="en-US" sz="1600" b="0" strike="noStrike" spc="-1">
              <a:latin typeface="Arial"/>
            </a:endParaRPr>
          </a:p>
          <a:p>
            <a:pPr>
              <a:lnSpc>
                <a:spcPct val="100000"/>
              </a:lnSpc>
            </a:pPr>
            <a:endParaRPr lang="en-US" sz="1600" b="0" strike="noStrike" spc="-1">
              <a:latin typeface="Arial"/>
            </a:endParaRPr>
          </a:p>
          <a:p>
            <a:pPr marL="216000" indent="-214560">
              <a:lnSpc>
                <a:spcPct val="100000"/>
              </a:lnSpc>
              <a:buClr>
                <a:srgbClr val="000000"/>
              </a:buClr>
              <a:buFont typeface="Liberation Serif"/>
              <a:buAutoNum type="arabicPeriod" startAt="10"/>
            </a:pPr>
            <a:r>
              <a:rPr lang="en-US" sz="1600" b="0" strike="noStrike" spc="-1">
                <a:solidFill>
                  <a:srgbClr val="000000"/>
                </a:solidFill>
                <a:latin typeface="Arial"/>
                <a:ea typeface="Arial"/>
              </a:rPr>
              <a:t>	b=missingDot(filename);</a:t>
            </a:r>
            <a:endParaRPr lang="en-US" sz="1600" b="0" strike="noStrike" spc="-1">
              <a:latin typeface="Arial"/>
            </a:endParaRPr>
          </a:p>
          <a:p>
            <a:pPr marL="216000" indent="-214560">
              <a:lnSpc>
                <a:spcPct val="100000"/>
              </a:lnSpc>
              <a:buClr>
                <a:srgbClr val="000000"/>
              </a:buClr>
              <a:buFont typeface="Liberation Serif"/>
              <a:buAutoNum type="arabicPeriod" startAt="10"/>
            </a:pPr>
            <a:r>
              <a:rPr lang="en-US" sz="1600" b="0" strike="noStrike" spc="-1">
                <a:solidFill>
                  <a:srgbClr val="000000"/>
                </a:solidFill>
                <a:latin typeface="Arial"/>
                <a:ea typeface="Arial"/>
              </a:rPr>
              <a:t> 		if (b==true)</a:t>
            </a:r>
            <a:endParaRPr lang="en-US" sz="1600" b="0" strike="noStrike" spc="-1">
              <a:latin typeface="Arial"/>
            </a:endParaRPr>
          </a:p>
          <a:p>
            <a:pPr marL="216000" indent="-214560">
              <a:lnSpc>
                <a:spcPct val="100000"/>
              </a:lnSpc>
              <a:buClr>
                <a:srgbClr val="000000"/>
              </a:buClr>
              <a:buFont typeface="Liberation Serif"/>
              <a:buAutoNum type="arabicPeriod" startAt="10"/>
            </a:pPr>
            <a:r>
              <a:rPr lang="en-US" sz="1600" b="0" strike="noStrike" spc="-1">
                <a:solidFill>
                  <a:srgbClr val="000000"/>
                </a:solidFill>
                <a:latin typeface="Arial"/>
                <a:ea typeface="Arial"/>
              </a:rPr>
              <a:t>			return false;</a:t>
            </a:r>
            <a:endParaRPr lang="en-US" sz="1600" b="0" strike="noStrike" spc="-1">
              <a:latin typeface="Arial"/>
            </a:endParaRPr>
          </a:p>
          <a:p>
            <a:pPr>
              <a:lnSpc>
                <a:spcPct val="100000"/>
              </a:lnSpc>
            </a:pP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boolean missingDot(String fileName){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Pattern costPattern = Pattern.compile("[.]");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Matcher costMatcher = costPattern.matcher(fileName);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boolean value = costMatcher.find();</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if (value==true){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return false;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else{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return true;</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a:t>
            </a:r>
            <a:endParaRPr lang="en-US" sz="1600" b="0" strike="noStrike" spc="-1">
              <a:latin typeface="Arial"/>
            </a:endParaRPr>
          </a:p>
          <a:p>
            <a:pPr marL="216000" indent="-214560">
              <a:lnSpc>
                <a:spcPct val="100000"/>
              </a:lnSpc>
              <a:buClr>
                <a:srgbClr val="000000"/>
              </a:buClr>
              <a:buFont typeface="Liberation Serif"/>
              <a:buAutoNum type="arabicPeriod" startAt="24"/>
            </a:pPr>
            <a:r>
              <a:rPr lang="en-US" sz="1600" b="0" strike="noStrike" spc="-1">
                <a:solidFill>
                  <a:srgbClr val="000000"/>
                </a:solidFill>
                <a:latin typeface="Arial"/>
                <a:ea typeface="Arial"/>
              </a:rPr>
              <a:t>	}</a:t>
            </a:r>
            <a:endParaRPr lang="en-US" sz="1600" b="0" strike="noStrike" spc="-1">
              <a:latin typeface="Arial"/>
            </a:endParaRPr>
          </a:p>
        </p:txBody>
      </p:sp>
      <p:sp>
        <p:nvSpPr>
          <p:cNvPr id="150" name="CustomShape 4"/>
          <p:cNvSpPr/>
          <p:nvPr/>
        </p:nvSpPr>
        <p:spPr>
          <a:xfrm>
            <a:off x="5669280" y="1371600"/>
            <a:ext cx="3290400" cy="1370160"/>
          </a:xfrm>
          <a:prstGeom prst="wedgeRectCallout">
            <a:avLst>
              <a:gd name="adj1" fmla="val -23037"/>
              <a:gd name="adj2" fmla="val 49523"/>
            </a:avLst>
          </a:prstGeom>
          <a:solidFill>
            <a:srgbClr val="2A609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Find() method of Matcher object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checks for the pattern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defined by Pattern object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6236D776-F56D-4FAE-95C0-7D33B54FAEEA}" type="slidenum">
              <a:rPr lang="en-US" sz="790" b="0" strike="noStrike" spc="-1">
                <a:solidFill>
                  <a:srgbClr val="FFFFFF"/>
                </a:solidFill>
                <a:latin typeface="Arial"/>
                <a:ea typeface="Arial"/>
              </a:rPr>
              <a:t>18</a:t>
            </a:fld>
            <a:endParaRPr lang="en-US" sz="790" b="0" strike="noStrike" spc="-1">
              <a:latin typeface="Arial"/>
            </a:endParaRPr>
          </a:p>
        </p:txBody>
      </p:sp>
      <p:sp>
        <p:nvSpPr>
          <p:cNvPr id="152"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53"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154"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155" name="CustomShape 5"/>
          <p:cNvSpPr/>
          <p:nvPr/>
        </p:nvSpPr>
        <p:spPr>
          <a:xfrm>
            <a:off x="6675120" y="1738440"/>
            <a:ext cx="1735920" cy="638640"/>
          </a:xfrm>
          <a:prstGeom prst="wedgeRoundRectCallout">
            <a:avLst>
              <a:gd name="adj1" fmla="val -35833"/>
              <a:gd name="adj2" fmla="val 107333"/>
              <a:gd name="adj3" fmla="val 16667"/>
            </a:avLst>
          </a:prstGeom>
          <a:solidFill>
            <a:srgbClr val="0093D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contains a dot</a:t>
            </a:r>
            <a:endParaRPr lang="en-US" sz="1800" b="0" strike="noStrike" spc="-1">
              <a:latin typeface="Arial"/>
            </a:endParaRPr>
          </a:p>
        </p:txBody>
      </p:sp>
      <p:sp>
        <p:nvSpPr>
          <p:cNvPr id="156" name="CustomShape 6"/>
          <p:cNvSpPr/>
          <p:nvPr/>
        </p:nvSpPr>
        <p:spPr>
          <a:xfrm>
            <a:off x="5486400" y="3933000"/>
            <a:ext cx="2010240" cy="638640"/>
          </a:xfrm>
          <a:prstGeom prst="wedgeRoundRectCallout">
            <a:avLst>
              <a:gd name="adj1" fmla="val -29412"/>
              <a:gd name="adj2" fmla="val -109177"/>
              <a:gd name="adj3" fmla="val 16667"/>
            </a:avLst>
          </a:prstGeom>
          <a:solidFill>
            <a:srgbClr val="0093D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doesn’t</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contain a dot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ACDE0176-6FDD-4D05-801F-9AC9FFE50042}" type="slidenum">
              <a:rPr lang="en-US" sz="790" b="0" strike="noStrike" spc="-1">
                <a:solidFill>
                  <a:srgbClr val="FFFFFF"/>
                </a:solidFill>
                <a:latin typeface="Arial"/>
                <a:ea typeface="Arial"/>
              </a:rPr>
              <a:t>19</a:t>
            </a:fld>
            <a:endParaRPr lang="en-US" sz="790" b="0" strike="noStrike" spc="-1">
              <a:latin typeface="Arial"/>
            </a:endParaRPr>
          </a:p>
        </p:txBody>
      </p:sp>
      <p:sp>
        <p:nvSpPr>
          <p:cNvPr id="158" name="CustomShape 2"/>
          <p:cNvSpPr/>
          <p:nvPr/>
        </p:nvSpPr>
        <p:spPr>
          <a:xfrm>
            <a:off x="182880" y="15012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200" b="0" strike="noStrike" spc="-38">
                <a:solidFill>
                  <a:srgbClr val="404040"/>
                </a:solidFill>
                <a:latin typeface="Calibri Light"/>
                <a:ea typeface="DejaVu Sans"/>
              </a:rPr>
              <a:t>Writing method to check that the file is a csv file</a:t>
            </a:r>
            <a:endParaRPr lang="en-US" sz="2200" b="0" strike="noStrike" spc="-1">
              <a:latin typeface="Arial"/>
            </a:endParaRPr>
          </a:p>
        </p:txBody>
      </p:sp>
      <p:sp>
        <p:nvSpPr>
          <p:cNvPr id="159" name="CustomShape 3"/>
          <p:cNvSpPr/>
          <p:nvPr/>
        </p:nvSpPr>
        <p:spPr>
          <a:xfrm>
            <a:off x="145440" y="1463040"/>
            <a:ext cx="8722800" cy="329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spcBef>
                <a:spcPts val="1009"/>
              </a:spcBef>
              <a:buClr>
                <a:srgbClr val="000000"/>
              </a:buClr>
              <a:buFont typeface="Liberation Serif"/>
              <a:buAutoNum type="arabicPeriod" startAt="13"/>
            </a:pPr>
            <a:r>
              <a:rPr lang="en-US" sz="1600" b="0" strike="noStrike" spc="-1">
                <a:solidFill>
                  <a:srgbClr val="000000"/>
                </a:solidFill>
                <a:latin typeface="Arial"/>
                <a:ea typeface="DejaVu Sans"/>
              </a:rPr>
              <a:t> 	b=fileFormat(filename);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13"/>
            </a:pPr>
            <a:r>
              <a:rPr lang="en-US" sz="1600" b="0" strike="noStrike" spc="-1">
                <a:solidFill>
                  <a:srgbClr val="000000"/>
                </a:solidFill>
                <a:latin typeface="Arial"/>
                <a:ea typeface="DejaVu Sans"/>
              </a:rPr>
              <a:t>	if (b==true)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13"/>
            </a:pPr>
            <a:r>
              <a:rPr lang="en-US" sz="1600" b="0" strike="noStrike" spc="-1">
                <a:solidFill>
                  <a:srgbClr val="000000"/>
                </a:solidFill>
                <a:latin typeface="Arial"/>
                <a:ea typeface="DejaVu Sans"/>
              </a:rPr>
              <a:t>		return false;</a:t>
            </a:r>
            <a:endParaRPr lang="en-US" sz="1600" b="0" strike="noStrike" spc="-1">
              <a:latin typeface="Arial"/>
            </a:endParaRPr>
          </a:p>
          <a:p>
            <a:pPr>
              <a:lnSpc>
                <a:spcPct val="100000"/>
              </a:lnSpc>
              <a:spcBef>
                <a:spcPts val="1009"/>
              </a:spcBef>
            </a:pP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38"/>
            </a:pPr>
            <a:r>
              <a:rPr lang="en-US" sz="1600" b="0" strike="noStrike" spc="-1">
                <a:solidFill>
                  <a:srgbClr val="000000"/>
                </a:solidFill>
                <a:latin typeface="Arial"/>
                <a:ea typeface="DejaVu Sans"/>
              </a:rPr>
              <a:t> 	void fileFormat(String fileName) {</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38"/>
            </a:pPr>
            <a:r>
              <a:rPr lang="en-US" sz="1600" b="0" strike="noStrike" spc="-1">
                <a:solidFill>
                  <a:srgbClr val="000000"/>
                </a:solidFill>
                <a:latin typeface="Arial"/>
                <a:ea typeface="DejaVu Sans"/>
              </a:rPr>
              <a:t>		String [] haveExtenstion= fileName.split("\\.");</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38"/>
            </a:pPr>
            <a:r>
              <a:rPr lang="en-US" sz="1600" b="0" strike="noStrike" spc="-1">
                <a:solidFill>
                  <a:srgbClr val="000000"/>
                </a:solidFill>
                <a:latin typeface="Arial"/>
                <a:ea typeface="DejaVu Sans"/>
              </a:rPr>
              <a:t>		if (haveExtenstion.length&lt;=1) {</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38"/>
            </a:pPr>
            <a:r>
              <a:rPr lang="en-US" sz="1600" b="0" strike="noStrike" spc="-1">
                <a:solidFill>
                  <a:srgbClr val="000000"/>
                </a:solidFill>
                <a:latin typeface="Arial"/>
                <a:ea typeface="DejaVu Sans"/>
              </a:rPr>
              <a:t>			throw new InvalidExtensionException("");</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38"/>
            </a:pPr>
            <a:r>
              <a:rPr lang="en-US" sz="1600" b="0" strike="noStrike" spc="-1">
                <a:solidFill>
                  <a:srgbClr val="000000"/>
                </a:solidFill>
                <a:latin typeface="Arial"/>
                <a:ea typeface="DejaVu Sans"/>
              </a:rPr>
              <a:t>		}</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DB60C80F-E068-44AE-8069-9B72C9ABDC0E}" type="slidenum">
              <a:rPr lang="en-US" sz="790" b="0" strike="noStrike" spc="-1">
                <a:solidFill>
                  <a:srgbClr val="FFFFFF"/>
                </a:solidFill>
                <a:latin typeface="Arial"/>
                <a:ea typeface="Arial"/>
              </a:rPr>
              <a:t>20</a:t>
            </a:fld>
            <a:endParaRPr lang="en-US" sz="790" b="0" strike="noStrike" spc="-1">
              <a:latin typeface="Arial"/>
            </a:endParaRPr>
          </a:p>
        </p:txBody>
      </p:sp>
      <p:sp>
        <p:nvSpPr>
          <p:cNvPr id="161"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62"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163"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csvObject.nameValidator("example.","csv");</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164" name="CustomShape 5"/>
          <p:cNvSpPr/>
          <p:nvPr/>
        </p:nvSpPr>
        <p:spPr>
          <a:xfrm>
            <a:off x="6310440" y="1738440"/>
            <a:ext cx="2467440" cy="638640"/>
          </a:xfrm>
          <a:prstGeom prst="wedgeRoundRectCallout">
            <a:avLst>
              <a:gd name="adj1" fmla="val -28921"/>
              <a:gd name="adj2" fmla="val 107333"/>
              <a:gd name="adj3" fmla="val 16667"/>
            </a:avLst>
          </a:prstGeom>
          <a:solidFill>
            <a:srgbClr val="0093D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2400" b="0" strike="noStrike" spc="-1">
                <a:solidFill>
                  <a:srgbClr val="000000"/>
                </a:solidFill>
                <a:latin typeface="Times New Roman"/>
                <a:ea typeface="DejaVu Sans"/>
              </a:rPr>
              <a:t>File name </a:t>
            </a:r>
            <a:endParaRPr lang="en-US" sz="2400" b="0" strike="noStrike" spc="-1">
              <a:latin typeface="Arial"/>
            </a:endParaRPr>
          </a:p>
          <a:p>
            <a:pPr algn="ctr">
              <a:lnSpc>
                <a:spcPct val="100000"/>
              </a:lnSpc>
            </a:pPr>
            <a:r>
              <a:rPr lang="en-US" sz="2400" b="0" strike="noStrike" spc="-1">
                <a:solidFill>
                  <a:srgbClr val="000000"/>
                </a:solidFill>
                <a:latin typeface="Times New Roman"/>
                <a:ea typeface="DejaVu Sans"/>
              </a:rPr>
              <a:t>contains an extension</a:t>
            </a:r>
            <a:endParaRPr lang="en-US" sz="2400" b="0" strike="noStrike" spc="-1">
              <a:latin typeface="Arial"/>
            </a:endParaRPr>
          </a:p>
        </p:txBody>
      </p:sp>
      <p:sp>
        <p:nvSpPr>
          <p:cNvPr id="165" name="CustomShape 6"/>
          <p:cNvSpPr/>
          <p:nvPr/>
        </p:nvSpPr>
        <p:spPr>
          <a:xfrm>
            <a:off x="5212080" y="3840480"/>
            <a:ext cx="2651400" cy="822600"/>
          </a:xfrm>
          <a:prstGeom prst="wedgeRoundRectCallout">
            <a:avLst>
              <a:gd name="adj1" fmla="val -18012"/>
              <a:gd name="adj2" fmla="val -87319"/>
              <a:gd name="adj3" fmla="val 16667"/>
            </a:avLst>
          </a:prstGeom>
          <a:solidFill>
            <a:srgbClr val="0093D9"/>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2400" b="0" strike="noStrike" spc="-1">
                <a:solidFill>
                  <a:srgbClr val="000000"/>
                </a:solidFill>
                <a:latin typeface="Times New Roman"/>
                <a:ea typeface="DejaVu Sans"/>
              </a:rPr>
              <a:t>File name doesn’t</a:t>
            </a:r>
            <a:endParaRPr lang="en-US" sz="2400" b="0" strike="noStrike" spc="-1">
              <a:latin typeface="Arial"/>
            </a:endParaRPr>
          </a:p>
          <a:p>
            <a:pPr algn="ctr">
              <a:lnSpc>
                <a:spcPct val="100000"/>
              </a:lnSpc>
            </a:pPr>
            <a:r>
              <a:rPr lang="en-US" sz="2400" b="0" strike="noStrike" spc="-1">
                <a:solidFill>
                  <a:srgbClr val="000000"/>
                </a:solidFill>
                <a:latin typeface="Times New Roman"/>
                <a:ea typeface="DejaVu Sans"/>
              </a:rPr>
              <a:t>contain extension</a:t>
            </a:r>
            <a:endParaRPr lang="en-US" sz="24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7A516045-6572-4F19-A05F-505309F74F90}" type="slidenum">
              <a:rPr lang="en-US" sz="790" b="0" strike="noStrike" spc="-1">
                <a:solidFill>
                  <a:srgbClr val="FFFFFF"/>
                </a:solidFill>
                <a:latin typeface="Arial"/>
                <a:ea typeface="Arial"/>
              </a:rPr>
              <a:t>21</a:t>
            </a:fld>
            <a:endParaRPr lang="en-US" sz="790" b="0" strike="noStrike" spc="-1">
              <a:latin typeface="Arial"/>
            </a:endParaRPr>
          </a:p>
        </p:txBody>
      </p:sp>
      <p:sp>
        <p:nvSpPr>
          <p:cNvPr id="167" name="CustomShape 2"/>
          <p:cNvSpPr/>
          <p:nvPr/>
        </p:nvSpPr>
        <p:spPr>
          <a:xfrm>
            <a:off x="182880" y="150120"/>
            <a:ext cx="877680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200" b="0" strike="noStrike" spc="-38">
                <a:solidFill>
                  <a:srgbClr val="404040"/>
                </a:solidFill>
                <a:latin typeface="Calibri Light"/>
                <a:ea typeface="DejaVu Sans"/>
              </a:rPr>
              <a:t>Writing method to check that the file name is less than25 char</a:t>
            </a:r>
            <a:endParaRPr lang="en-US" sz="2200" b="0" strike="noStrike" spc="-1">
              <a:latin typeface="Arial"/>
            </a:endParaRPr>
          </a:p>
        </p:txBody>
      </p:sp>
      <p:sp>
        <p:nvSpPr>
          <p:cNvPr id="168" name="CustomShape 3"/>
          <p:cNvSpPr/>
          <p:nvPr/>
        </p:nvSpPr>
        <p:spPr>
          <a:xfrm>
            <a:off x="54000" y="637560"/>
            <a:ext cx="8722800" cy="4207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spcBef>
                <a:spcPts val="1009"/>
              </a:spcBef>
              <a:buClr>
                <a:srgbClr val="000000"/>
              </a:buClr>
              <a:buFont typeface="Liberation Serif"/>
              <a:buAutoNum type="arabicPeriod" startAt="16"/>
            </a:pPr>
            <a:r>
              <a:rPr lang="en-US" sz="1600" b="0" strike="noStrike" spc="-1">
                <a:solidFill>
                  <a:srgbClr val="000000"/>
                </a:solidFill>
                <a:latin typeface="Times New Roman"/>
                <a:ea typeface="DejaVu Sans"/>
              </a:rPr>
              <a:t> 	b=fileLength(filename);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16"/>
            </a:pPr>
            <a:r>
              <a:rPr lang="en-US" sz="1600" b="0" strike="noStrike" spc="-1">
                <a:solidFill>
                  <a:srgbClr val="000000"/>
                </a:solidFill>
                <a:latin typeface="Times New Roman"/>
                <a:ea typeface="DejaVu Sans"/>
              </a:rPr>
              <a:t>	if (b==true)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16"/>
            </a:pPr>
            <a:r>
              <a:rPr lang="en-US" sz="1600" b="0" strike="noStrike" spc="-1">
                <a:solidFill>
                  <a:srgbClr val="000000"/>
                </a:solidFill>
                <a:latin typeface="Times New Roman"/>
                <a:ea typeface="DejaVu Sans"/>
              </a:rPr>
              <a:t>		return false;</a:t>
            </a:r>
            <a:endParaRPr lang="en-US" sz="1600" b="0" strike="noStrike" spc="-1">
              <a:latin typeface="Arial"/>
            </a:endParaRPr>
          </a:p>
          <a:p>
            <a:pPr>
              <a:lnSpc>
                <a:spcPct val="100000"/>
              </a:lnSpc>
              <a:spcBef>
                <a:spcPts val="1009"/>
              </a:spcBef>
            </a:pP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boolean fileLength(String fileName){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int fileLength=25;</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String namelength = fileName.split("\\.")[0];</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if(fileName.length()&gt;fileLength)</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return true;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else </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return false;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50"/>
            </a:pPr>
            <a:r>
              <a:rPr lang="en-US" sz="1600" b="0" strike="noStrike" spc="-1">
                <a:solidFill>
                  <a:srgbClr val="000000"/>
                </a:solidFill>
                <a:latin typeface="Arial"/>
                <a:ea typeface="DejaVu Sans"/>
              </a:rPr>
              <a:t>	}</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B27C5B24-CEE5-41E4-A2D4-15A60B8A57AA}" type="slidenum">
              <a:rPr lang="en-US" sz="790" b="0" strike="noStrike" spc="-1">
                <a:solidFill>
                  <a:srgbClr val="FFFFFF"/>
                </a:solidFill>
                <a:latin typeface="Arial"/>
                <a:ea typeface="Arial"/>
              </a:rPr>
              <a:t>22</a:t>
            </a:fld>
            <a:endParaRPr lang="en-US" sz="790" b="0" strike="noStrike" spc="-1">
              <a:latin typeface="Arial"/>
            </a:endParaRPr>
          </a:p>
        </p:txBody>
      </p:sp>
      <p:sp>
        <p:nvSpPr>
          <p:cNvPr id="170"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71"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172" name="CustomShape 4"/>
          <p:cNvSpPr/>
          <p:nvPr/>
        </p:nvSpPr>
        <p:spPr>
          <a:xfrm>
            <a:off x="114840" y="1828800"/>
            <a:ext cx="8844840" cy="3636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 	</a:t>
            </a:r>
            <a:endParaRPr lang="en-US" sz="1800" b="0" strike="noStrike" spc="-1">
              <a:latin typeface="Arial"/>
            </a:endParaRPr>
          </a:p>
          <a:p>
            <a:pPr>
              <a:lnSpc>
                <a:spcPct val="100000"/>
              </a:lnSpc>
            </a:pPr>
            <a:r>
              <a:rPr lang="en-US" sz="1800" b="0" strike="noStrike" spc="-1">
                <a:solidFill>
                  <a:srgbClr val="000000"/>
                </a:solidFill>
                <a:latin typeface="Arial"/>
                <a:ea typeface="Arial"/>
              </a:rPr>
              <a:t>			("exampleexampleexampleexampleexampleexampleexample","csv");</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173" name="CustomShape 5"/>
          <p:cNvSpPr/>
          <p:nvPr/>
        </p:nvSpPr>
        <p:spPr>
          <a:xfrm>
            <a:off x="6310440" y="1738440"/>
            <a:ext cx="2467440" cy="638640"/>
          </a:xfrm>
          <a:prstGeom prst="wedgeRoundRectCallout">
            <a:avLst>
              <a:gd name="adj1" fmla="val -28921"/>
              <a:gd name="adj2" fmla="val 107333"/>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is &lt;25 char</a:t>
            </a:r>
            <a:endParaRPr lang="en-US" sz="1800" b="0" strike="noStrike" spc="-1">
              <a:latin typeface="Arial"/>
            </a:endParaRPr>
          </a:p>
        </p:txBody>
      </p:sp>
      <p:sp>
        <p:nvSpPr>
          <p:cNvPr id="174" name="CustomShape 6"/>
          <p:cNvSpPr/>
          <p:nvPr/>
        </p:nvSpPr>
        <p:spPr>
          <a:xfrm>
            <a:off x="5760720" y="3933000"/>
            <a:ext cx="2377080" cy="638640"/>
          </a:xfrm>
          <a:prstGeom prst="wedgeRoundRectCallout">
            <a:avLst>
              <a:gd name="adj1" fmla="val -16902"/>
              <a:gd name="adj2" fmla="val -66694"/>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&gt;25 char</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1FAF5EE3-8D4C-4EF8-BAF4-C732C71AC346}" type="slidenum">
              <a:rPr lang="en-US" sz="790" b="0" strike="noStrike" spc="-1">
                <a:solidFill>
                  <a:srgbClr val="FFFFFF"/>
                </a:solidFill>
                <a:latin typeface="Arial"/>
                <a:ea typeface="Arial"/>
              </a:rPr>
              <a:t>23</a:t>
            </a:fld>
            <a:endParaRPr lang="en-US" sz="790" b="0" strike="noStrike" spc="-1">
              <a:latin typeface="Arial"/>
            </a:endParaRPr>
          </a:p>
        </p:txBody>
      </p:sp>
      <p:sp>
        <p:nvSpPr>
          <p:cNvPr id="176" name="CustomShape 2"/>
          <p:cNvSpPr/>
          <p:nvPr/>
        </p:nvSpPr>
        <p:spPr>
          <a:xfrm>
            <a:off x="54000" y="91440"/>
            <a:ext cx="90885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38">
                <a:solidFill>
                  <a:srgbClr val="404040"/>
                </a:solidFill>
                <a:latin typeface="Calibri Light"/>
                <a:ea typeface="DejaVu Sans"/>
              </a:rPr>
              <a:t>Writing method to check that the file name doesn’t  contain any special symbol.</a:t>
            </a:r>
            <a:endParaRPr lang="en-US" sz="1800" b="0" strike="noStrike" spc="-1">
              <a:latin typeface="Arial"/>
            </a:endParaRPr>
          </a:p>
        </p:txBody>
      </p:sp>
      <p:sp>
        <p:nvSpPr>
          <p:cNvPr id="177" name="CustomShape 3"/>
          <p:cNvSpPr/>
          <p:nvPr/>
        </p:nvSpPr>
        <p:spPr>
          <a:xfrm>
            <a:off x="54000" y="365760"/>
            <a:ext cx="8722800" cy="4767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spcBef>
                <a:spcPts val="1009"/>
              </a:spcBef>
              <a:buClr>
                <a:srgbClr val="000000"/>
              </a:buClr>
              <a:buFont typeface="Liberation Serif"/>
              <a:buAutoNum type="arabicPeriod" startAt="19"/>
            </a:pPr>
            <a:r>
              <a:rPr lang="en-US" sz="1600" b="0" strike="noStrike" spc="-1">
                <a:solidFill>
                  <a:srgbClr val="000000"/>
                </a:solidFill>
                <a:latin typeface="Arial"/>
                <a:ea typeface="DejaVu Sans"/>
              </a:rPr>
              <a:t> 	b=specialCharacter(filename);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19"/>
            </a:pPr>
            <a:r>
              <a:rPr lang="en-US" sz="1600" b="0" strike="noStrike" spc="-1">
                <a:solidFill>
                  <a:srgbClr val="000000"/>
                </a:solidFill>
                <a:latin typeface="Arial"/>
                <a:ea typeface="DejaVu Sans"/>
              </a:rPr>
              <a:t>	if (b==true)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19"/>
            </a:pPr>
            <a:r>
              <a:rPr lang="en-US" sz="1600" b="0" strike="noStrike" spc="-1">
                <a:solidFill>
                  <a:srgbClr val="000000"/>
                </a:solidFill>
                <a:latin typeface="Arial"/>
                <a:ea typeface="DejaVu Sans"/>
              </a:rPr>
              <a:t>		return false;</a:t>
            </a:r>
            <a:endParaRPr lang="en-US" sz="1600" b="0" strike="noStrike" spc="-1">
              <a:latin typeface="Arial"/>
            </a:endParaRPr>
          </a:p>
          <a:p>
            <a:pPr>
              <a:lnSpc>
                <a:spcPct val="100000"/>
              </a:lnSpc>
              <a:spcBef>
                <a:spcPts val="1009"/>
              </a:spcBef>
            </a:pP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boolean specialCharacter(String fileName){</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fileName = fileName.split("\\.")[0];</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Pattern  patternGet = Pattern.compile("[@#$%^&amp;(,)_]");</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Matcher check = patternGet.matcher(fileName);</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boolean finalValue = check.find();</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if (finalValue == true)</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return true;</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else</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return false;</a:t>
            </a:r>
            <a:endParaRPr lang="en-US" sz="1600" b="0" strike="noStrike" spc="-1">
              <a:latin typeface="Arial"/>
            </a:endParaRPr>
          </a:p>
          <a:p>
            <a:pPr marL="216000" indent="-214560">
              <a:lnSpc>
                <a:spcPct val="100000"/>
              </a:lnSpc>
              <a:spcBef>
                <a:spcPts val="865"/>
              </a:spcBef>
              <a:buClr>
                <a:srgbClr val="000000"/>
              </a:buClr>
              <a:buFont typeface="Liberation Serif"/>
              <a:buAutoNum type="arabicPeriod" startAt="61"/>
            </a:pPr>
            <a:r>
              <a:rPr lang="en-US" sz="1600" b="0" strike="noStrike" spc="-1">
                <a:solidFill>
                  <a:srgbClr val="000000"/>
                </a:solidFill>
                <a:latin typeface="Arial"/>
                <a:ea typeface="DejaVu Sans"/>
              </a:rPr>
              <a:t>	}</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79F66517-6C8E-4684-9C46-065A631ECA13}" type="slidenum">
              <a:rPr lang="en-US" sz="790" b="0" strike="noStrike" spc="-1">
                <a:solidFill>
                  <a:srgbClr val="FFFFFF"/>
                </a:solidFill>
                <a:latin typeface="Arial"/>
                <a:ea typeface="Arial"/>
              </a:rPr>
              <a:t>24</a:t>
            </a:fld>
            <a:endParaRPr lang="en-US" sz="790" b="0" strike="noStrike" spc="-1">
              <a:latin typeface="Arial"/>
            </a:endParaRPr>
          </a:p>
        </p:txBody>
      </p:sp>
      <p:sp>
        <p:nvSpPr>
          <p:cNvPr id="179"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80"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181"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182" name="CustomShape 5"/>
          <p:cNvSpPr/>
          <p:nvPr/>
        </p:nvSpPr>
        <p:spPr>
          <a:xfrm>
            <a:off x="6400800" y="1737720"/>
            <a:ext cx="2467440" cy="638640"/>
          </a:xfrm>
          <a:prstGeom prst="wedgeRoundRectCallout">
            <a:avLst>
              <a:gd name="adj1" fmla="val -28921"/>
              <a:gd name="adj2" fmla="val 107333"/>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does not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have any special char</a:t>
            </a:r>
            <a:endParaRPr lang="en-US" sz="1800" b="0" strike="noStrike" spc="-1">
              <a:latin typeface="Arial"/>
            </a:endParaRPr>
          </a:p>
        </p:txBody>
      </p:sp>
      <p:sp>
        <p:nvSpPr>
          <p:cNvPr id="183" name="CustomShape 6"/>
          <p:cNvSpPr/>
          <p:nvPr/>
        </p:nvSpPr>
        <p:spPr>
          <a:xfrm>
            <a:off x="5303520" y="4114800"/>
            <a:ext cx="2010240" cy="638640"/>
          </a:xfrm>
          <a:prstGeom prst="wedgeRoundRectCallout">
            <a:avLst>
              <a:gd name="adj1" fmla="val 8285"/>
              <a:gd name="adj2" fmla="val -146287"/>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name has</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Special character</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D83AFFE0-8554-48EF-851E-FD27A5F3FEB1}" type="slidenum">
              <a:rPr lang="en-US" sz="790" b="0" strike="noStrike" spc="-1">
                <a:solidFill>
                  <a:srgbClr val="FFFFFF"/>
                </a:solidFill>
                <a:latin typeface="Arial"/>
                <a:ea typeface="Arial"/>
              </a:rPr>
              <a:t>25</a:t>
            </a:fld>
            <a:endParaRPr lang="en-US" sz="790" b="0" strike="noStrike" spc="-1">
              <a:latin typeface="Arial"/>
            </a:endParaRPr>
          </a:p>
        </p:txBody>
      </p:sp>
      <p:sp>
        <p:nvSpPr>
          <p:cNvPr id="185" name="CustomShape 2"/>
          <p:cNvSpPr/>
          <p:nvPr/>
        </p:nvSpPr>
        <p:spPr>
          <a:xfrm>
            <a:off x="54000" y="91440"/>
            <a:ext cx="90885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38">
                <a:solidFill>
                  <a:srgbClr val="404040"/>
                </a:solidFill>
                <a:latin typeface="Calibri Light"/>
                <a:ea typeface="DejaVu Sans"/>
              </a:rPr>
              <a:t>Writing method to check the file extensions (CSV).</a:t>
            </a:r>
            <a:endParaRPr lang="en-US" sz="1800" b="0" strike="noStrike" spc="-1">
              <a:latin typeface="Arial"/>
            </a:endParaRPr>
          </a:p>
        </p:txBody>
      </p:sp>
      <p:sp>
        <p:nvSpPr>
          <p:cNvPr id="186" name="CustomShape 3"/>
          <p:cNvSpPr/>
          <p:nvPr/>
        </p:nvSpPr>
        <p:spPr>
          <a:xfrm>
            <a:off x="54000" y="365760"/>
            <a:ext cx="8722800" cy="4767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spcBef>
                <a:spcPts val="1009"/>
              </a:spcBef>
              <a:buClr>
                <a:srgbClr val="000000"/>
              </a:buClr>
              <a:buFont typeface="Liberation Serif"/>
              <a:buAutoNum type="arabicPeriod" startAt="22"/>
            </a:pPr>
            <a:r>
              <a:rPr lang="en-US" sz="1600" b="0" strike="noStrike" spc="-1">
                <a:solidFill>
                  <a:srgbClr val="000000"/>
                </a:solidFill>
                <a:latin typeface="Arial"/>
                <a:ea typeface="DejaVu Sans"/>
              </a:rPr>
              <a:t> 	b=csvOnly(filename);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22"/>
            </a:pPr>
            <a:r>
              <a:rPr lang="en-US" sz="1600" b="0" strike="noStrike" spc="-1">
                <a:solidFill>
                  <a:srgbClr val="000000"/>
                </a:solidFill>
                <a:latin typeface="Arial"/>
                <a:ea typeface="DejaVu Sans"/>
              </a:rPr>
              <a:t>	if (b==true)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22"/>
            </a:pPr>
            <a:r>
              <a:rPr lang="en-US" sz="1600" b="0" strike="noStrike" spc="-1">
                <a:solidFill>
                  <a:srgbClr val="000000"/>
                </a:solidFill>
                <a:latin typeface="Arial"/>
                <a:ea typeface="DejaVu Sans"/>
              </a:rPr>
              <a:t>		return false;</a:t>
            </a:r>
            <a:endParaRPr lang="en-US" sz="1600" b="0" strike="noStrike" spc="-1">
              <a:latin typeface="Arial"/>
            </a:endParaRPr>
          </a:p>
          <a:p>
            <a:pPr>
              <a:lnSpc>
                <a:spcPct val="100000"/>
              </a:lnSpc>
              <a:spcBef>
                <a:spcPts val="1009"/>
              </a:spcBef>
            </a:pP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boolean csvOnly(String fileName) {</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String[] name = fileName.split("\\.");		</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//now name[0] contains the filename and name[1] contains the extension</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if(name[1].equals("csv"))</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return false;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else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return true;</a:t>
            </a:r>
            <a:endParaRPr lang="en-US" sz="1600" b="0" strike="noStrike" spc="-1">
              <a:latin typeface="Arial"/>
            </a:endParaRPr>
          </a:p>
          <a:p>
            <a:pPr marL="216000" indent="-214560">
              <a:lnSpc>
                <a:spcPct val="100000"/>
              </a:lnSpc>
              <a:spcBef>
                <a:spcPts val="1009"/>
              </a:spcBef>
              <a:buClr>
                <a:srgbClr val="000000"/>
              </a:buClr>
              <a:buFont typeface="Liberation Serif"/>
              <a:buAutoNum type="arabicPeriod" startAt="74"/>
            </a:pPr>
            <a:r>
              <a:rPr lang="en-US" sz="1600" b="0" strike="noStrike" spc="-1">
                <a:solidFill>
                  <a:srgbClr val="000000"/>
                </a:solidFill>
                <a:latin typeface="Arial"/>
                <a:ea typeface="DejaVu Sans"/>
              </a:rPr>
              <a:t>	}</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2A19151-586E-4018-8165-97C51F5270B4}" type="slidenum">
              <a:rPr lang="en-US" sz="790" b="0" strike="noStrike" spc="-1">
                <a:solidFill>
                  <a:srgbClr val="FFFFFF"/>
                </a:solidFill>
                <a:latin typeface="Arial"/>
                <a:ea typeface="Arial"/>
              </a:rPr>
              <a:t>26</a:t>
            </a:fld>
            <a:endParaRPr lang="en-US" sz="790" b="0" strike="noStrike" spc="-1">
              <a:latin typeface="Arial"/>
            </a:endParaRPr>
          </a:p>
        </p:txBody>
      </p:sp>
      <p:sp>
        <p:nvSpPr>
          <p:cNvPr id="188"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189"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190"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csvObject.nameValidator("example.jpg","csv");</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191" name="CustomShape 5"/>
          <p:cNvSpPr/>
          <p:nvPr/>
        </p:nvSpPr>
        <p:spPr>
          <a:xfrm>
            <a:off x="6400800" y="1737720"/>
            <a:ext cx="2467440" cy="638640"/>
          </a:xfrm>
          <a:prstGeom prst="wedgeRoundRectCallout">
            <a:avLst>
              <a:gd name="adj1" fmla="val -28921"/>
              <a:gd name="adj2" fmla="val 107333"/>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Correct File extension</a:t>
            </a:r>
            <a:endParaRPr lang="en-US" sz="1800" b="0" strike="noStrike" spc="-1">
              <a:latin typeface="Arial"/>
            </a:endParaRPr>
          </a:p>
        </p:txBody>
      </p:sp>
      <p:sp>
        <p:nvSpPr>
          <p:cNvPr id="192" name="CustomShape 6"/>
          <p:cNvSpPr/>
          <p:nvPr/>
        </p:nvSpPr>
        <p:spPr>
          <a:xfrm>
            <a:off x="5303520" y="4114800"/>
            <a:ext cx="2010240" cy="638640"/>
          </a:xfrm>
          <a:prstGeom prst="wedgeRoundRectCallout">
            <a:avLst>
              <a:gd name="adj1" fmla="val 8285"/>
              <a:gd name="adj2" fmla="val -146287"/>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not ‘csv’</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AE28E9B-A4DE-496E-93A5-0A049CA0360F}" type="slidenum">
              <a:rPr lang="en-US" sz="790" b="0" strike="noStrike" spc="-1">
                <a:solidFill>
                  <a:srgbClr val="FFFFFF"/>
                </a:solidFill>
                <a:latin typeface="Arial"/>
                <a:ea typeface="Arial"/>
              </a:rPr>
              <a:t>27</a:t>
            </a:fld>
            <a:endParaRPr lang="en-US" sz="790" b="0" strike="noStrike" spc="-1">
              <a:latin typeface="Arial"/>
            </a:endParaRPr>
          </a:p>
        </p:txBody>
      </p:sp>
      <p:sp>
        <p:nvSpPr>
          <p:cNvPr id="194" name="CustomShape 2"/>
          <p:cNvSpPr/>
          <p:nvPr/>
        </p:nvSpPr>
        <p:spPr>
          <a:xfrm>
            <a:off x="54000" y="91440"/>
            <a:ext cx="90885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38">
                <a:solidFill>
                  <a:srgbClr val="404040"/>
                </a:solidFill>
                <a:latin typeface="Calibri Light"/>
                <a:ea typeface="DejaVu Sans"/>
              </a:rPr>
              <a:t>Writing method to check that the file extensions (JSON).</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95" name="CustomShape 3"/>
          <p:cNvSpPr/>
          <p:nvPr/>
        </p:nvSpPr>
        <p:spPr>
          <a:xfrm>
            <a:off x="182880" y="1280160"/>
            <a:ext cx="4205160" cy="3382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endParaRPr lang="en-US" sz="1800" b="0" strike="noStrike" spc="-1">
              <a:latin typeface="Arial"/>
            </a:endParaRPr>
          </a:p>
          <a:p>
            <a:pPr marL="216000" indent="-214560" algn="just">
              <a:lnSpc>
                <a:spcPct val="100000"/>
              </a:lnSpc>
              <a:buClr>
                <a:srgbClr val="000000"/>
              </a:buClr>
              <a:buSzPct val="45000"/>
              <a:buFont typeface="Wingdings" charset="2"/>
              <a:buChar char=""/>
            </a:pPr>
            <a:r>
              <a:rPr lang="en-US" sz="1900" b="0" strike="noStrike" spc="-1">
                <a:solidFill>
                  <a:srgbClr val="000000"/>
                </a:solidFill>
                <a:latin typeface="Arial"/>
                <a:ea typeface="DejaVu Sans"/>
              </a:rPr>
              <a:t>Extension of file is being checked for both, ‘CSV’ and ‘JSON’ files, we need to call the code to check extension under a condition</a:t>
            </a:r>
            <a:endParaRPr lang="en-US" sz="1900" b="0" strike="noStrike" spc="-1">
              <a:latin typeface="Arial"/>
            </a:endParaRPr>
          </a:p>
          <a:p>
            <a:pPr marL="216000" indent="-214560" algn="just">
              <a:lnSpc>
                <a:spcPct val="100000"/>
              </a:lnSpc>
              <a:buClr>
                <a:srgbClr val="000000"/>
              </a:buClr>
              <a:buSzPct val="45000"/>
              <a:buFont typeface="Wingdings" charset="2"/>
              <a:buChar char=""/>
            </a:pPr>
            <a:r>
              <a:rPr lang="en-US" sz="1900" b="0" strike="noStrike" spc="-1">
                <a:solidFill>
                  <a:srgbClr val="000000"/>
                </a:solidFill>
                <a:latin typeface="Arial"/>
                <a:ea typeface="DejaVu Sans"/>
              </a:rPr>
              <a:t>The method ‘nameValidator()’ has one more parameter ‘filetype’</a:t>
            </a:r>
            <a:endParaRPr lang="en-US" sz="1900" b="0" strike="noStrike" spc="-1">
              <a:latin typeface="Arial"/>
            </a:endParaRPr>
          </a:p>
          <a:p>
            <a:pPr marL="216000" indent="-214560" algn="just">
              <a:lnSpc>
                <a:spcPct val="100000"/>
              </a:lnSpc>
              <a:buClr>
                <a:srgbClr val="000000"/>
              </a:buClr>
              <a:buSzPct val="45000"/>
              <a:buFont typeface="Wingdings" charset="2"/>
              <a:buChar char=""/>
            </a:pPr>
            <a:r>
              <a:rPr lang="en-US" sz="1900" b="0" strike="noStrike" spc="-1">
                <a:solidFill>
                  <a:srgbClr val="000000"/>
                </a:solidFill>
                <a:latin typeface="Arial"/>
                <a:ea typeface="DejaVu Sans"/>
              </a:rPr>
              <a:t>This filetype will justify for which type of file we want to check</a:t>
            </a:r>
            <a:endParaRPr lang="en-US" sz="1900" b="0" strike="noStrike" spc="-1">
              <a:latin typeface="Arial"/>
            </a:endParaRPr>
          </a:p>
        </p:txBody>
      </p:sp>
      <p:sp>
        <p:nvSpPr>
          <p:cNvPr id="196" name="CustomShape 4"/>
          <p:cNvSpPr/>
          <p:nvPr/>
        </p:nvSpPr>
        <p:spPr>
          <a:xfrm>
            <a:off x="4817880" y="1373040"/>
            <a:ext cx="4142160" cy="264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if(filetype=="csv"){</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	b=csvOnly(filename);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	if (b==true)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		return false;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else{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	b=jsonOnly(filename);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	if (b==true)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		return false;</a:t>
            </a:r>
            <a:endParaRPr lang="en-US" sz="1800" b="0" strike="noStrike" spc="-1">
              <a:latin typeface="Arial"/>
            </a:endParaRPr>
          </a:p>
          <a:p>
            <a:pPr marL="216000" indent="-214920">
              <a:lnSpc>
                <a:spcPct val="100000"/>
              </a:lnSpc>
              <a:buClr>
                <a:srgbClr val="000000"/>
              </a:buClr>
              <a:buFont typeface="Liberation Serif"/>
              <a:buAutoNum type="arabicPeriod" startAt="22"/>
            </a:pPr>
            <a:r>
              <a:rPr lang="en-US" sz="1800" b="0" strike="noStrike" spc="-1">
                <a:solidFill>
                  <a:srgbClr val="000000"/>
                </a:solidFill>
                <a:latin typeface="Arial"/>
                <a:ea typeface="DejaVu Sans"/>
              </a:rPr>
              <a: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8A528C06-42AC-41D5-9813-C86734F6081E}" type="slidenum">
              <a:rPr lang="en-US" sz="790" b="0" strike="noStrike" spc="-1">
                <a:solidFill>
                  <a:srgbClr val="FFFFFF"/>
                </a:solidFill>
                <a:latin typeface="Arial"/>
                <a:ea typeface="Arial"/>
              </a:rPr>
              <a:t>28</a:t>
            </a:fld>
            <a:endParaRPr lang="en-US" sz="790" b="0" strike="noStrike" spc="-1">
              <a:latin typeface="Arial"/>
            </a:endParaRPr>
          </a:p>
        </p:txBody>
      </p:sp>
      <p:sp>
        <p:nvSpPr>
          <p:cNvPr id="198" name="CustomShape 2"/>
          <p:cNvSpPr/>
          <p:nvPr/>
        </p:nvSpPr>
        <p:spPr>
          <a:xfrm>
            <a:off x="54000" y="91440"/>
            <a:ext cx="90885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38">
                <a:solidFill>
                  <a:srgbClr val="404040"/>
                </a:solidFill>
                <a:latin typeface="Calibri Light"/>
                <a:ea typeface="DejaVu Sans"/>
              </a:rPr>
              <a:t>Writing method to check the file extensions (JSON).</a:t>
            </a:r>
            <a:endParaRPr lang="en-US" sz="1800" b="0" strike="noStrike" spc="-1">
              <a:latin typeface="Arial"/>
            </a:endParaRPr>
          </a:p>
        </p:txBody>
      </p:sp>
      <p:sp>
        <p:nvSpPr>
          <p:cNvPr id="199" name="CustomShape 3"/>
          <p:cNvSpPr/>
          <p:nvPr/>
        </p:nvSpPr>
        <p:spPr>
          <a:xfrm>
            <a:off x="145440" y="809640"/>
            <a:ext cx="7351560" cy="3304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1009"/>
              </a:spcBef>
            </a:pPr>
            <a:endParaRPr lang="en-US" sz="1800" b="0" strike="noStrike" spc="-1">
              <a:latin typeface="Arial"/>
            </a:endParaRPr>
          </a:p>
          <a:p>
            <a:pPr>
              <a:lnSpc>
                <a:spcPct val="100000"/>
              </a:lnSpc>
              <a:spcBef>
                <a:spcPts val="1009"/>
              </a:spcBef>
            </a:pPr>
            <a:endParaRPr lang="en-US" sz="18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boolean jsonOnly(String fileName) {</a:t>
            </a:r>
            <a:endParaRPr lang="en-US" sz="16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String[] name = fileName.split("\\.");		</a:t>
            </a:r>
            <a:endParaRPr lang="en-US" sz="16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if(name[1].equals("json"))</a:t>
            </a:r>
            <a:endParaRPr lang="en-US" sz="16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return false;</a:t>
            </a:r>
            <a:endParaRPr lang="en-US" sz="16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else</a:t>
            </a:r>
            <a:endParaRPr lang="en-US" sz="16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return true;</a:t>
            </a:r>
            <a:endParaRPr lang="en-US" sz="1600" b="0" strike="noStrike" spc="-1">
              <a:latin typeface="Arial"/>
            </a:endParaRPr>
          </a:p>
          <a:p>
            <a:pPr marL="219600" indent="-218520">
              <a:lnSpc>
                <a:spcPct val="100000"/>
              </a:lnSpc>
              <a:spcBef>
                <a:spcPts val="1009"/>
              </a:spcBef>
              <a:buClr>
                <a:srgbClr val="000000"/>
              </a:buClr>
              <a:buFont typeface="Liberation Serif"/>
              <a:buAutoNum type="arabicPeriod" startAt="89"/>
            </a:pPr>
            <a:r>
              <a:rPr lang="en-US" sz="1600" b="0" strike="noStrike" spc="-1">
                <a:solidFill>
                  <a:srgbClr val="000000"/>
                </a:solidFill>
                <a:latin typeface="Arial"/>
                <a:ea typeface="DejaVu Sans"/>
              </a:rPr>
              <a:t>	}</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F785A4A6-5218-4B9F-ABFD-409DCC3B9776}" type="slidenum">
              <a:rPr lang="en-US" sz="790" b="0" strike="noStrike" spc="-1">
                <a:solidFill>
                  <a:srgbClr val="FFFFFF"/>
                </a:solidFill>
                <a:latin typeface="Arial"/>
                <a:ea typeface="Arial"/>
              </a:rPr>
              <a:t>29</a:t>
            </a:fld>
            <a:endParaRPr lang="en-US" sz="790" b="0" strike="noStrike" spc="-1">
              <a:latin typeface="Arial"/>
            </a:endParaRPr>
          </a:p>
        </p:txBody>
      </p:sp>
      <p:sp>
        <p:nvSpPr>
          <p:cNvPr id="201"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202"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203"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csvObject.nameValidator("example.json","json");</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204" name="CustomShape 5"/>
          <p:cNvSpPr/>
          <p:nvPr/>
        </p:nvSpPr>
        <p:spPr>
          <a:xfrm>
            <a:off x="6400800" y="1737720"/>
            <a:ext cx="2467440" cy="638640"/>
          </a:xfrm>
          <a:prstGeom prst="wedgeRoundRectCallout">
            <a:avLst>
              <a:gd name="adj1" fmla="val 34878"/>
              <a:gd name="adj2" fmla="val 48256"/>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‘csv’</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and Filetype is ‘csv’</a:t>
            </a:r>
            <a:endParaRPr lang="en-US" sz="1800" b="0" strike="noStrike" spc="-1">
              <a:latin typeface="Arial"/>
            </a:endParaRPr>
          </a:p>
        </p:txBody>
      </p:sp>
      <p:sp>
        <p:nvSpPr>
          <p:cNvPr id="205" name="CustomShape 6"/>
          <p:cNvSpPr/>
          <p:nvPr/>
        </p:nvSpPr>
        <p:spPr>
          <a:xfrm>
            <a:off x="5394960" y="3566520"/>
            <a:ext cx="2376360" cy="638640"/>
          </a:xfrm>
          <a:prstGeom prst="wedgeRoundRectCallout">
            <a:avLst>
              <a:gd name="adj1" fmla="val 51415"/>
              <a:gd name="adj2" fmla="val 3993"/>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‘json’</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and filetype is ‘json’</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1C85107E-DB45-469B-8046-E17DA65A1D6A}" type="slidenum">
              <a:rPr lang="en-US" sz="790" b="0" strike="noStrike" spc="-1">
                <a:solidFill>
                  <a:srgbClr val="FFFFFF"/>
                </a:solidFill>
                <a:latin typeface="Arial"/>
                <a:ea typeface="Arial"/>
              </a:rPr>
              <a:t>30</a:t>
            </a:fld>
            <a:endParaRPr lang="en-US" sz="790" b="0" strike="noStrike" spc="-1">
              <a:latin typeface="Arial"/>
            </a:endParaRPr>
          </a:p>
        </p:txBody>
      </p:sp>
      <p:sp>
        <p:nvSpPr>
          <p:cNvPr id="207" name="CustomShape 2"/>
          <p:cNvSpPr/>
          <p:nvPr/>
        </p:nvSpPr>
        <p:spPr>
          <a:xfrm>
            <a:off x="54000" y="91440"/>
            <a:ext cx="90885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280">
              <a:lnSpc>
                <a:spcPct val="100000"/>
              </a:lnSpc>
              <a:buClr>
                <a:srgbClr val="404040"/>
              </a:buClr>
              <a:buSzPct val="45000"/>
              <a:buFont typeface="Wingdings" charset="2"/>
              <a:buChar char=""/>
            </a:pPr>
            <a:r>
              <a:rPr lang="en-US" sz="1800" b="0" strike="noStrike" spc="-38">
                <a:solidFill>
                  <a:srgbClr val="404040"/>
                </a:solidFill>
                <a:latin typeface="Calibri Light"/>
                <a:ea typeface="DejaVu Sans"/>
              </a:rPr>
              <a:t>Writing method to check that CSV file exist to read the data</a:t>
            </a:r>
            <a:endParaRPr lang="en-US" sz="1800" b="0" strike="noStrike" spc="-1">
              <a:latin typeface="Arial"/>
            </a:endParaRPr>
          </a:p>
          <a:p>
            <a:pPr marL="216000" indent="-215280">
              <a:lnSpc>
                <a:spcPct val="100000"/>
              </a:lnSpc>
              <a:buClr>
                <a:srgbClr val="404040"/>
              </a:buClr>
              <a:buSzPct val="45000"/>
              <a:buFont typeface="Wingdings" charset="2"/>
              <a:buChar char=""/>
            </a:pPr>
            <a:r>
              <a:rPr lang="en-US" sz="1800" b="0" strike="noStrike" spc="-38">
                <a:solidFill>
                  <a:srgbClr val="404040"/>
                </a:solidFill>
                <a:latin typeface="Calibri Light"/>
                <a:ea typeface="DejaVu Sans"/>
              </a:rPr>
              <a:t>Writing method to check that given JSON file doesn’t exist to avoid overwrite.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208" name="CustomShape 3"/>
          <p:cNvSpPr/>
          <p:nvPr/>
        </p:nvSpPr>
        <p:spPr>
          <a:xfrm>
            <a:off x="182880" y="1280160"/>
            <a:ext cx="4022640" cy="3382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endParaRPr lang="en-US" sz="1800" b="0" strike="noStrike" spc="-1">
              <a:latin typeface="Arial"/>
            </a:endParaRPr>
          </a:p>
          <a:p>
            <a:pPr marL="216000" indent="-214560" algn="just">
              <a:lnSpc>
                <a:spcPct val="100000"/>
              </a:lnSpc>
              <a:buClr>
                <a:srgbClr val="000000"/>
              </a:buClr>
              <a:buSzPct val="45000"/>
              <a:buFont typeface="Wingdings" charset="2"/>
              <a:buChar char=""/>
            </a:pPr>
            <a:r>
              <a:rPr lang="en-US" sz="1900" b="0" strike="noStrike" spc="-1">
                <a:solidFill>
                  <a:srgbClr val="000000"/>
                </a:solidFill>
                <a:latin typeface="Arial"/>
                <a:ea typeface="DejaVu Sans"/>
              </a:rPr>
              <a:t>Again we need to conditionally check the availability of given CSV file and also to check that the given JSON file doesn’t exist in the given path.</a:t>
            </a:r>
            <a:endParaRPr lang="en-US" sz="1900" b="0" strike="noStrike" spc="-1">
              <a:latin typeface="Arial"/>
            </a:endParaRPr>
          </a:p>
        </p:txBody>
      </p:sp>
      <p:sp>
        <p:nvSpPr>
          <p:cNvPr id="209" name="CustomShape 4"/>
          <p:cNvSpPr/>
          <p:nvPr/>
        </p:nvSpPr>
        <p:spPr>
          <a:xfrm>
            <a:off x="4817880" y="1373040"/>
            <a:ext cx="4142160" cy="2649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if(filetype=="csv"){</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	b=fileNotAvaiable(filename);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	if (b==true)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		return false;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else{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	b=fileExist(filename);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	if (b==true)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	return false;</a:t>
            </a:r>
            <a:endParaRPr lang="en-US" sz="1800" b="0" strike="noStrike" spc="-1">
              <a:latin typeface="Arial"/>
            </a:endParaRPr>
          </a:p>
          <a:p>
            <a:pPr marL="216000" indent="-214920">
              <a:lnSpc>
                <a:spcPct val="100000"/>
              </a:lnSpc>
              <a:buClr>
                <a:srgbClr val="000000"/>
              </a:buClr>
              <a:buFont typeface="Liberation Serif"/>
              <a:buAutoNum type="arabicPeriod" startAt="32"/>
            </a:pPr>
            <a:r>
              <a:rPr lang="en-US" sz="1800" b="0" strike="noStrike" spc="-1">
                <a:solidFill>
                  <a:srgbClr val="000000"/>
                </a:solidFill>
                <a:latin typeface="Arial"/>
                <a:ea typeface="DejaVu Sans"/>
              </a:rPr>
              <a: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AF91E10C-3BF0-472D-8E6C-69F30908ECDE}" type="slidenum">
              <a:rPr lang="en-US" sz="790" b="0" strike="noStrike" spc="-1">
                <a:solidFill>
                  <a:srgbClr val="FFFFFF"/>
                </a:solidFill>
                <a:latin typeface="Arial"/>
                <a:ea typeface="Arial"/>
              </a:rPr>
              <a:t>31</a:t>
            </a:fld>
            <a:endParaRPr lang="en-US" sz="790" b="0" strike="noStrike" spc="-1">
              <a:latin typeface="Arial"/>
            </a:endParaRPr>
          </a:p>
        </p:txBody>
      </p:sp>
      <p:sp>
        <p:nvSpPr>
          <p:cNvPr id="211"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212"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213"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csvObject.nameValidator("example.json","json");</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214" name="CustomShape 5"/>
          <p:cNvSpPr/>
          <p:nvPr/>
        </p:nvSpPr>
        <p:spPr>
          <a:xfrm>
            <a:off x="6400800" y="1737720"/>
            <a:ext cx="2467440" cy="638640"/>
          </a:xfrm>
          <a:prstGeom prst="wedgeRoundRectCallout">
            <a:avLst>
              <a:gd name="adj1" fmla="val 34878"/>
              <a:gd name="adj2" fmla="val 48256"/>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‘csv’</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and Filetype is ‘csv’</a:t>
            </a:r>
            <a:endParaRPr lang="en-US" sz="1800" b="0" strike="noStrike" spc="-1">
              <a:latin typeface="Arial"/>
            </a:endParaRPr>
          </a:p>
        </p:txBody>
      </p:sp>
      <p:sp>
        <p:nvSpPr>
          <p:cNvPr id="215" name="CustomShape 6"/>
          <p:cNvSpPr/>
          <p:nvPr/>
        </p:nvSpPr>
        <p:spPr>
          <a:xfrm>
            <a:off x="5394960" y="3566520"/>
            <a:ext cx="2376360" cy="638640"/>
          </a:xfrm>
          <a:prstGeom prst="wedgeRoundRectCallout">
            <a:avLst>
              <a:gd name="adj1" fmla="val 51415"/>
              <a:gd name="adj2" fmla="val 3993"/>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‘json’</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and filetype is ‘json’</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87F0F9B0-E0BA-405D-A680-74E5C307E51B}" type="slidenum">
              <a:rPr lang="en-US" sz="790" b="0" strike="noStrike" spc="-1">
                <a:solidFill>
                  <a:srgbClr val="FFFFFF"/>
                </a:solidFill>
                <a:latin typeface="Arial"/>
                <a:ea typeface="Arial"/>
              </a:rPr>
              <a:t>32</a:t>
            </a:fld>
            <a:endParaRPr lang="en-US" sz="790" b="0" strike="noStrike" spc="-1">
              <a:latin typeface="Arial"/>
            </a:endParaRPr>
          </a:p>
        </p:txBody>
      </p:sp>
      <p:sp>
        <p:nvSpPr>
          <p:cNvPr id="217" name="CustomShape 2"/>
          <p:cNvSpPr/>
          <p:nvPr/>
        </p:nvSpPr>
        <p:spPr>
          <a:xfrm>
            <a:off x="54000" y="91440"/>
            <a:ext cx="908856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404040"/>
              </a:buClr>
              <a:buSzPct val="45000"/>
              <a:buFont typeface="Wingdings" charset="2"/>
              <a:buChar char=""/>
            </a:pPr>
            <a:r>
              <a:rPr lang="en-US" sz="1800" b="1" strike="noStrike" spc="-38">
                <a:solidFill>
                  <a:srgbClr val="5B277D"/>
                </a:solidFill>
                <a:latin typeface="Calibri Light"/>
                <a:ea typeface="DejaVu Sans"/>
              </a:rPr>
              <a:t>Inclusion of Exception handling code.</a:t>
            </a:r>
            <a:r>
              <a:rPr lang="en-US" sz="1800" b="0" strike="noStrike" spc="-38">
                <a:solidFill>
                  <a:srgbClr val="404040"/>
                </a:solidFill>
                <a:latin typeface="Calibri Light"/>
                <a:ea typeface="DejaVu Sans"/>
              </a:rPr>
              <a:t> The code to check Empty File Name was written in a function returning true/ false</a:t>
            </a:r>
            <a:endParaRPr lang="en-US" sz="1800" b="0" strike="noStrike" spc="-1">
              <a:latin typeface="Arial"/>
            </a:endParaRPr>
          </a:p>
          <a:p>
            <a:pPr marL="216000" indent="-215640">
              <a:lnSpc>
                <a:spcPct val="100000"/>
              </a:lnSpc>
              <a:buClr>
                <a:srgbClr val="404040"/>
              </a:buClr>
              <a:buSzPct val="45000"/>
              <a:buFont typeface="Wingdings" charset="2"/>
              <a:buChar char=""/>
            </a:pPr>
            <a:r>
              <a:rPr lang="en-US" sz="1800" b="0" strike="noStrike" spc="-38">
                <a:solidFill>
                  <a:srgbClr val="404040"/>
                </a:solidFill>
                <a:latin typeface="Calibri Light"/>
                <a:ea typeface="DejaVu Sans"/>
              </a:rPr>
              <a:t>Add this method calling line in a try-catch block which throws exception in case filename is empty</a:t>
            </a:r>
            <a:endParaRPr lang="en-US" sz="1800" b="0" strike="noStrike" spc="-1">
              <a:latin typeface="Arial"/>
            </a:endParaRPr>
          </a:p>
        </p:txBody>
      </p:sp>
      <p:sp>
        <p:nvSpPr>
          <p:cNvPr id="218" name="CustomShape 3"/>
          <p:cNvSpPr/>
          <p:nvPr/>
        </p:nvSpPr>
        <p:spPr>
          <a:xfrm>
            <a:off x="91440" y="1188720"/>
            <a:ext cx="8997840" cy="4480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28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a:t>
            </a:r>
            <a:endParaRPr lang="en-US" sz="18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try{	</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b=emptyFileName(filename);</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Arial"/>
              </a:rPr>
              <a:t>		catch(</a:t>
            </a:r>
            <a:r>
              <a:rPr lang="en-US" sz="1500" b="0" strike="noStrike" spc="-1">
                <a:solidFill>
                  <a:srgbClr val="000000"/>
                </a:solidFill>
                <a:latin typeface="Arial"/>
                <a:ea typeface="DejaVu Sans"/>
              </a:rPr>
              <a:t>EmptyFileNameException e){</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System.out.println(e);</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1" strike="noStrike" spc="-1">
                <a:solidFill>
                  <a:srgbClr val="800080"/>
                </a:solidFill>
                <a:latin typeface="Arial"/>
                <a:ea typeface="Arial"/>
              </a:rPr>
              <a:t>Define a class </a:t>
            </a:r>
            <a:r>
              <a:rPr lang="en-US" sz="1500" b="1" i="1" strike="noStrike" spc="-1">
                <a:solidFill>
                  <a:srgbClr val="800080"/>
                </a:solidFill>
                <a:latin typeface="Arial"/>
                <a:ea typeface="DejaVu Sans"/>
              </a:rPr>
              <a:t>EmptyFileNameException</a:t>
            </a:r>
            <a:r>
              <a:rPr lang="en-US" sz="1500" b="1" strike="noStrike" spc="-1">
                <a:solidFill>
                  <a:srgbClr val="800080"/>
                </a:solidFill>
                <a:latin typeface="Arial"/>
                <a:ea typeface="DejaVu Sans"/>
              </a:rPr>
              <a:t> which extends the </a:t>
            </a:r>
            <a:r>
              <a:rPr lang="en-US" sz="1500" b="1" i="1" strike="noStrike" spc="-1">
                <a:solidFill>
                  <a:srgbClr val="800080"/>
                </a:solidFill>
                <a:latin typeface="Arial"/>
                <a:ea typeface="DejaVu Sans"/>
              </a:rPr>
              <a:t>Exception</a:t>
            </a:r>
            <a:r>
              <a:rPr lang="en-US" sz="1500" b="1" strike="noStrike" spc="-1">
                <a:solidFill>
                  <a:srgbClr val="800080"/>
                </a:solidFill>
                <a:latin typeface="Arial"/>
                <a:ea typeface="DejaVu Sans"/>
              </a:rPr>
              <a:t> class</a:t>
            </a:r>
            <a:endParaRPr lang="en-US" sz="1500" b="0" strike="noStrike" spc="-1">
              <a:latin typeface="Arial"/>
            </a:endParaRPr>
          </a:p>
          <a:p>
            <a:pPr marL="216000" indent="-215280">
              <a:lnSpc>
                <a:spcPct val="100000"/>
              </a:lnSpc>
              <a:buClr>
                <a:srgbClr val="000000"/>
              </a:buClr>
              <a:buFont typeface="Liberation Serif"/>
              <a:buAutoNum type="arabicPeriod" startAt="137"/>
            </a:pPr>
            <a:r>
              <a:rPr lang="en-US" sz="1500" b="0" strike="noStrike" spc="-1">
                <a:solidFill>
                  <a:srgbClr val="000000"/>
                </a:solidFill>
                <a:latin typeface="Arial"/>
                <a:ea typeface="DejaVu Sans"/>
              </a:rPr>
              <a:t> 	class EmptyFileNameException extends Exception{</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EmptyFileNameException(String s){</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super(s);</a:t>
            </a:r>
            <a:endParaRPr lang="en-US" sz="1500" b="0" strike="noStrike" spc="-1">
              <a:latin typeface="Arial"/>
            </a:endParaRPr>
          </a:p>
          <a:p>
            <a:pPr marL="216000" indent="-215280">
              <a:lnSpc>
                <a:spcPct val="100000"/>
              </a:lnSpc>
              <a:buClr>
                <a:srgbClr val="000000"/>
              </a:buClr>
              <a:buFont typeface="Liberation Serif"/>
              <a:buAutoNum type="arabicPeriod" startAt="15"/>
            </a:pPr>
            <a:r>
              <a:rPr lang="en-US" sz="1500" b="0" strike="noStrike" spc="-1">
                <a:solidFill>
                  <a:srgbClr val="000000"/>
                </a:solidFill>
                <a:latin typeface="Arial"/>
                <a:ea typeface="DejaVu Sans"/>
              </a:rPr>
              <a:t>	}</a:t>
            </a:r>
            <a:endParaRPr lang="en-US" sz="1500" b="0" strike="noStrike" spc="-1">
              <a:latin typeface="Arial"/>
            </a:endParaRPr>
          </a:p>
          <a:p>
            <a:pPr>
              <a:lnSpc>
                <a:spcPct val="100000"/>
              </a:lnSpc>
            </a:pPr>
            <a:endParaRPr lang="en-US" sz="15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2B9050F-0350-4071-AC7A-1E640D6BCAA3}" type="slidenum">
              <a:rPr lang="en-US" sz="790" b="0" strike="noStrike" spc="-1">
                <a:solidFill>
                  <a:srgbClr val="FFFFFF"/>
                </a:solidFill>
                <a:latin typeface="Arial"/>
                <a:ea typeface="Arial"/>
              </a:rPr>
              <a:t>33</a:t>
            </a:fld>
            <a:endParaRPr lang="en-US" sz="790" b="0" strike="noStrike" spc="-1">
              <a:latin typeface="Arial"/>
            </a:endParaRPr>
          </a:p>
        </p:txBody>
      </p:sp>
      <p:sp>
        <p:nvSpPr>
          <p:cNvPr id="220"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Check whether the nameValidator is excuting properly and returning ‘true’</a:t>
            </a:r>
            <a:endParaRPr lang="en-US" sz="1900" b="0" strike="noStrike" spc="-1">
              <a:latin typeface="Arial"/>
            </a:endParaRPr>
          </a:p>
        </p:txBody>
      </p:sp>
      <p:sp>
        <p:nvSpPr>
          <p:cNvPr id="221"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Check again nameValidator method</a:t>
            </a:r>
            <a:endParaRPr lang="en-US" sz="3200" b="0" strike="noStrike" spc="-1">
              <a:latin typeface="Arial"/>
            </a:endParaRPr>
          </a:p>
        </p:txBody>
      </p:sp>
      <p:sp>
        <p:nvSpPr>
          <p:cNvPr id="222"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class testnamevalidator{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Arial"/>
                <a:ea typeface="DejaVu Sans"/>
              </a:rPr>
              <a:t>		NameValidator csvObject = new NameValidator();</a:t>
            </a:r>
            <a:endParaRPr lang="en-US" sz="1800" b="0" strike="noStrike" spc="-1">
              <a:latin typeface="Arial"/>
            </a:endParaRPr>
          </a:p>
          <a:p>
            <a:pPr>
              <a:lnSpc>
                <a:spcPct val="100000"/>
              </a:lnSpc>
            </a:pPr>
            <a:r>
              <a:rPr lang="en-US" sz="1800" b="0" strike="noStrike" spc="-1">
                <a:solidFill>
                  <a:srgbClr val="000000"/>
                </a:solidFill>
                <a:latin typeface="Arial"/>
                <a:ea typeface="DejaVu Sans"/>
              </a:rPr>
              <a:t>		boolean checkValidator = csvObject.nameValidator("example.csv","csv");</a:t>
            </a:r>
            <a:endParaRPr lang="en-US" sz="1800" b="0" strike="noStrike" spc="-1">
              <a:latin typeface="Arial"/>
            </a:endParaRPr>
          </a:p>
          <a:p>
            <a:pPr>
              <a:lnSpc>
                <a:spcPct val="100000"/>
              </a:lnSpc>
            </a:pPr>
            <a:r>
              <a:rPr lang="en-US" sz="1800" b="0" strike="noStrike" spc="-1">
                <a:solidFill>
                  <a:srgbClr val="000000"/>
                </a:solidFill>
                <a:latin typeface="Arial"/>
                <a:ea typeface="DejaVu Sans"/>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checkValidator = csvObject.nameValidator("example.json","json");</a:t>
            </a:r>
            <a:endParaRPr lang="en-US" sz="1800" b="0" strike="noStrike" spc="-1">
              <a:latin typeface="Arial"/>
            </a:endParaRPr>
          </a:p>
          <a:p>
            <a:pPr>
              <a:lnSpc>
                <a:spcPct val="100000"/>
              </a:lnSpc>
            </a:pPr>
            <a:r>
              <a:rPr lang="en-US" sz="1800" b="0" strike="noStrike" spc="-1">
                <a:solidFill>
                  <a:srgbClr val="000000"/>
                </a:solidFill>
                <a:latin typeface="Arial"/>
                <a:ea typeface="Arial"/>
              </a:rPr>
              <a:t>		System.out.println(checkValidator);</a:t>
            </a:r>
            <a:endParaRPr lang="en-US" sz="1800" b="0" strike="noStrike" spc="-1">
              <a:latin typeface="Arial"/>
            </a:endParaRPr>
          </a:p>
          <a:p>
            <a:pPr>
              <a:lnSpc>
                <a:spcPct val="100000"/>
              </a:lnSpc>
            </a:pPr>
            <a:r>
              <a:rPr lang="en-US" sz="1800" b="0" strike="noStrike" spc="-1">
                <a:solidFill>
                  <a:srgbClr val="000000"/>
                </a:solidFill>
                <a:latin typeface="Arial"/>
                <a:ea typeface="Arial"/>
              </a:rPr>
              <a:t>	}</a:t>
            </a:r>
            <a:endParaRPr lang="en-US" sz="1800" b="0" strike="noStrike" spc="-1">
              <a:latin typeface="Arial"/>
            </a:endParaRPr>
          </a:p>
          <a:p>
            <a:pPr>
              <a:lnSpc>
                <a:spcPct val="100000"/>
              </a:lnSpc>
            </a:pPr>
            <a:r>
              <a:rPr lang="en-US" sz="1800" b="0" strike="noStrike" spc="-1">
                <a:solidFill>
                  <a:srgbClr val="000000"/>
                </a:solidFill>
                <a:latin typeface="Arial"/>
                <a:ea typeface="Arial"/>
              </a:rPr>
              <a:t>}</a:t>
            </a:r>
            <a:endParaRPr lang="en-US" sz="1800" b="0" strike="noStrike" spc="-1">
              <a:latin typeface="Arial"/>
            </a:endParaRPr>
          </a:p>
        </p:txBody>
      </p:sp>
      <p:sp>
        <p:nvSpPr>
          <p:cNvPr id="223" name="CustomShape 5"/>
          <p:cNvSpPr/>
          <p:nvPr/>
        </p:nvSpPr>
        <p:spPr>
          <a:xfrm>
            <a:off x="6400800" y="1737720"/>
            <a:ext cx="2467440" cy="638640"/>
          </a:xfrm>
          <a:prstGeom prst="wedgeRoundRectCallout">
            <a:avLst>
              <a:gd name="adj1" fmla="val 34878"/>
              <a:gd name="adj2" fmla="val 48256"/>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‘csv’</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and Filetype is ‘csv’</a:t>
            </a:r>
            <a:endParaRPr lang="en-US" sz="1800" b="0" strike="noStrike" spc="-1">
              <a:latin typeface="Arial"/>
            </a:endParaRPr>
          </a:p>
        </p:txBody>
      </p:sp>
      <p:sp>
        <p:nvSpPr>
          <p:cNvPr id="224" name="CustomShape 6"/>
          <p:cNvSpPr/>
          <p:nvPr/>
        </p:nvSpPr>
        <p:spPr>
          <a:xfrm>
            <a:off x="5394960" y="3566520"/>
            <a:ext cx="2376360" cy="638640"/>
          </a:xfrm>
          <a:prstGeom prst="wedgeRoundRectCallout">
            <a:avLst>
              <a:gd name="adj1" fmla="val 51415"/>
              <a:gd name="adj2" fmla="val 3993"/>
              <a:gd name="adj3" fmla="val 16667"/>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File extension is ‘json’</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and filetype is ‘json’</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439C770-2F8E-4D88-A314-D29C6FF5A470}" type="slidenum">
              <a:rPr lang="en-US" sz="790" b="0" strike="noStrike" spc="-1">
                <a:solidFill>
                  <a:srgbClr val="FFFFFF"/>
                </a:solidFill>
                <a:latin typeface="Arial"/>
                <a:ea typeface="Arial"/>
              </a:rPr>
              <a:t>34</a:t>
            </a:fld>
            <a:endParaRPr lang="en-US" sz="790" b="0" strike="noStrike" spc="-1">
              <a:latin typeface="Arial"/>
            </a:endParaRPr>
          </a:p>
        </p:txBody>
      </p:sp>
      <p:sp>
        <p:nvSpPr>
          <p:cNvPr id="226"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Writing every exception class in the same file would be messy and not advisable to include two or more classes in same file</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Directory structure can help in this regard</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It will separate the java files in different packages</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It will be easy to debug small files rather that to debug a single large file</a:t>
            </a:r>
            <a:endParaRPr lang="en-US" sz="1900" b="0" strike="noStrike" spc="-1">
              <a:latin typeface="Arial"/>
            </a:endParaRPr>
          </a:p>
          <a:p>
            <a:pPr>
              <a:lnSpc>
                <a:spcPct val="100000"/>
              </a:lnSpc>
            </a:pPr>
            <a:endParaRPr lang="en-US" sz="1900" b="0" strike="noStrike" spc="-1">
              <a:latin typeface="Arial"/>
            </a:endParaRPr>
          </a:p>
          <a:p>
            <a:pPr>
              <a:lnSpc>
                <a:spcPct val="100000"/>
              </a:lnSpc>
            </a:pPr>
            <a:r>
              <a:rPr lang="en-US" sz="1900" b="0" strike="noStrike" spc="-1">
                <a:solidFill>
                  <a:srgbClr val="000000"/>
                </a:solidFill>
                <a:latin typeface="Arial"/>
                <a:ea typeface="DejaVu Sans"/>
              </a:rPr>
              <a:t> ├── src</a:t>
            </a:r>
            <a:endParaRPr lang="en-US" sz="1900" b="0" strike="noStrike" spc="-1">
              <a:latin typeface="Arial"/>
            </a:endParaRPr>
          </a:p>
          <a:p>
            <a:pPr>
              <a:lnSpc>
                <a:spcPct val="100000"/>
              </a:lnSpc>
            </a:pPr>
            <a:r>
              <a:rPr lang="en-US" sz="540" b="0" strike="noStrike" spc="-1">
                <a:solidFill>
                  <a:srgbClr val="000000"/>
                </a:solidFill>
                <a:latin typeface="Arial"/>
                <a:ea typeface="DejaVu Sans"/>
              </a:rPr>
              <a:t> </a:t>
            </a:r>
            <a:r>
              <a:rPr lang="en-US" sz="1900" b="0" strike="noStrike" spc="-1">
                <a:solidFill>
                  <a:srgbClr val="000000"/>
                </a:solidFill>
                <a:latin typeface="Arial"/>
                <a:ea typeface="DejaVu Sans"/>
              </a:rPr>
              <a:t> │   └── com</a:t>
            </a:r>
            <a:endParaRPr lang="en-US" sz="1900" b="0" strike="noStrike" spc="-1">
              <a:latin typeface="Arial"/>
            </a:endParaRPr>
          </a:p>
          <a:p>
            <a:pPr>
              <a:lnSpc>
                <a:spcPct val="100000"/>
              </a:lnSpc>
            </a:pPr>
            <a:r>
              <a:rPr lang="en-US" sz="490" b="0" strike="noStrike" spc="-1">
                <a:solidFill>
                  <a:srgbClr val="000000"/>
                </a:solidFill>
                <a:latin typeface="Arial"/>
                <a:ea typeface="DejaVu Sans"/>
              </a:rPr>
              <a:t> </a:t>
            </a:r>
            <a:r>
              <a:rPr lang="en-US" sz="1900" b="0" strike="noStrike" spc="-1">
                <a:solidFill>
                  <a:srgbClr val="000000"/>
                </a:solidFill>
                <a:latin typeface="Arial"/>
                <a:ea typeface="DejaVu Sans"/>
              </a:rPr>
              <a:t> │       └── ncu</a:t>
            </a:r>
            <a:endParaRPr lang="en-US" sz="1900" b="0" strike="noStrike" spc="-1">
              <a:latin typeface="Arial"/>
            </a:endParaRPr>
          </a:p>
          <a:p>
            <a:pPr>
              <a:lnSpc>
                <a:spcPct val="100000"/>
              </a:lnSpc>
            </a:pPr>
            <a:r>
              <a:rPr lang="en-US" sz="440" b="0" strike="noStrike" spc="-1">
                <a:solidFill>
                  <a:srgbClr val="000000"/>
                </a:solidFill>
                <a:latin typeface="Arial"/>
                <a:ea typeface="DejaVu Sans"/>
              </a:rPr>
              <a:t> </a:t>
            </a:r>
            <a:r>
              <a:rPr lang="en-US" sz="1900" b="0" strike="noStrike" spc="-1">
                <a:solidFill>
                  <a:srgbClr val="000000"/>
                </a:solidFill>
                <a:latin typeface="Arial"/>
                <a:ea typeface="DejaVu Sans"/>
              </a:rPr>
              <a:t> │           └── validators</a:t>
            </a:r>
            <a:endParaRPr lang="en-US" sz="1900" b="0" strike="noStrike" spc="-1">
              <a:latin typeface="Arial"/>
            </a:endParaRPr>
          </a:p>
          <a:p>
            <a:pPr>
              <a:lnSpc>
                <a:spcPct val="100000"/>
              </a:lnSpc>
            </a:pPr>
            <a:r>
              <a:rPr lang="en-US" sz="540" b="0" strike="noStrike" spc="-1">
                <a:solidFill>
                  <a:srgbClr val="000000"/>
                </a:solidFill>
                <a:latin typeface="Arial"/>
                <a:ea typeface="DejaVu Sans"/>
              </a:rPr>
              <a:t> </a:t>
            </a:r>
            <a:r>
              <a:rPr lang="en-US" sz="1800" b="0" strike="noStrike" spc="-1">
                <a:solidFill>
                  <a:srgbClr val="000000"/>
                </a:solidFill>
                <a:latin typeface="Arial"/>
                <a:ea typeface="DejaVu Sans"/>
              </a:rPr>
              <a:t> </a:t>
            </a:r>
            <a:r>
              <a:rPr lang="en-US" sz="1900" b="0" strike="noStrike" spc="-1">
                <a:solidFill>
                  <a:srgbClr val="000000"/>
                </a:solidFill>
                <a:latin typeface="Arial"/>
                <a:ea typeface="DejaVu Sans"/>
              </a:rPr>
              <a:t>│               └── valid10.java</a:t>
            </a: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p:txBody>
      </p:sp>
      <p:sp>
        <p:nvSpPr>
          <p:cNvPr id="227"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Project hierarchy</a:t>
            </a:r>
            <a:endParaRPr lang="en-US" sz="3200" b="0" strike="noStrike" spc="-1">
              <a:latin typeface="Arial"/>
            </a:endParaRPr>
          </a:p>
        </p:txBody>
      </p:sp>
      <p:sp>
        <p:nvSpPr>
          <p:cNvPr id="228"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AB412E59-E0B4-4CF6-92EE-CA77BE419AA7}" type="slidenum">
              <a:rPr lang="en-US" sz="790" b="0" strike="noStrike" spc="-1">
                <a:solidFill>
                  <a:srgbClr val="FFFFFF"/>
                </a:solidFill>
                <a:latin typeface="Arial"/>
                <a:ea typeface="Arial"/>
              </a:rPr>
              <a:t>35</a:t>
            </a:fld>
            <a:endParaRPr lang="en-US" sz="790" b="0" strike="noStrike" spc="-1">
              <a:latin typeface="Arial"/>
            </a:endParaRPr>
          </a:p>
        </p:txBody>
      </p:sp>
      <p:sp>
        <p:nvSpPr>
          <p:cNvPr id="230"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Exceptions are written in separate folder hence we need to import the exception package in the NameValidator class</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Save the class </a:t>
            </a:r>
            <a:r>
              <a:rPr lang="en-US" sz="1900" b="1" strike="noStrike" spc="-1">
                <a:solidFill>
                  <a:srgbClr val="000000"/>
                </a:solidFill>
                <a:latin typeface="Arial"/>
                <a:ea typeface="DejaVu Sans"/>
              </a:rPr>
              <a:t>valid10.java</a:t>
            </a:r>
            <a:r>
              <a:rPr lang="en-US" sz="1900" b="0" strike="noStrike" spc="-1">
                <a:solidFill>
                  <a:srgbClr val="000000"/>
                </a:solidFill>
                <a:latin typeface="Arial"/>
                <a:ea typeface="DejaVu Sans"/>
              </a:rPr>
              <a:t> in folder </a:t>
            </a:r>
            <a:r>
              <a:rPr lang="en-US" sz="1900" b="1" strike="noStrike" spc="-1">
                <a:solidFill>
                  <a:srgbClr val="000000"/>
                </a:solidFill>
                <a:latin typeface="Arial"/>
                <a:ea typeface="DejaVu Sans"/>
              </a:rPr>
              <a:t>src/com/ncu/validators</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Make this java file the part of com.ncu.validators, add at the start:</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 	</a:t>
            </a:r>
            <a:r>
              <a:rPr lang="en-US" sz="1900" b="1" strike="noStrike" spc="-1">
                <a:solidFill>
                  <a:srgbClr val="000000"/>
                </a:solidFill>
                <a:latin typeface="Arial"/>
                <a:ea typeface="DejaVu Sans"/>
              </a:rPr>
              <a:t>package com.ncu.validators;</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Import exception classes, write at the start:    </a:t>
            </a:r>
            <a:r>
              <a:rPr lang="en-US" sz="1900" b="1" strike="noStrike" spc="-1">
                <a:solidFill>
                  <a:srgbClr val="000000"/>
                </a:solidFill>
                <a:latin typeface="Arial"/>
                <a:ea typeface="DejaVu Sans"/>
              </a:rPr>
              <a:t>import com.ncu.exceptions.*;</a:t>
            </a:r>
            <a:endParaRPr lang="en-US" sz="1900" b="0" strike="noStrike" spc="-1">
              <a:latin typeface="Arial"/>
            </a:endParaRPr>
          </a:p>
          <a:p>
            <a:pPr>
              <a:lnSpc>
                <a:spcPct val="100000"/>
              </a:lnSpc>
            </a:pPr>
            <a:endParaRPr lang="en-US" sz="1900" b="0" strike="noStrike" spc="-1">
              <a:latin typeface="Arial"/>
            </a:endParaRPr>
          </a:p>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package com.ncu.validators;</a:t>
            </a:r>
            <a:endParaRPr lang="en-US" sz="1900" b="0" strike="noStrike" spc="-1">
              <a:latin typeface="Arial"/>
            </a:endParaRPr>
          </a:p>
          <a:p>
            <a:pPr marL="216000" indent="-214560">
              <a:lnSpc>
                <a:spcPct val="100000"/>
              </a:lnSpc>
              <a:buClr>
                <a:srgbClr val="000000"/>
              </a:buClr>
              <a:buFont typeface="Liberation Serif"/>
              <a:buAutoNum type="arabicPeriod"/>
            </a:pPr>
            <a:r>
              <a:rPr lang="en-US" sz="1900" b="0" strike="noStrike" spc="-1">
                <a:solidFill>
                  <a:srgbClr val="000000"/>
                </a:solidFill>
                <a:latin typeface="Arial"/>
                <a:ea typeface="DejaVu Sans"/>
              </a:rPr>
              <a:t>import com.ncu.exceptions.*;</a:t>
            </a: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p:txBody>
      </p:sp>
      <p:sp>
        <p:nvSpPr>
          <p:cNvPr id="231"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Changes in NameValidator class</a:t>
            </a:r>
            <a:endParaRPr lang="en-US" sz="3200" b="0" strike="noStrike" spc="-1">
              <a:latin typeface="Arial"/>
            </a:endParaRPr>
          </a:p>
        </p:txBody>
      </p:sp>
      <p:sp>
        <p:nvSpPr>
          <p:cNvPr id="232"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7FC9E11-2E10-434B-9DEA-5EFB60088483}" type="slidenum">
              <a:rPr lang="en-US" sz="790" b="0" strike="noStrike" spc="-1">
                <a:solidFill>
                  <a:srgbClr val="FFFFFF"/>
                </a:solidFill>
                <a:latin typeface="Arial"/>
                <a:ea typeface="Arial"/>
              </a:rPr>
              <a:t>36</a:t>
            </a:fld>
            <a:endParaRPr lang="en-US" sz="790" b="0" strike="noStrike" spc="-1">
              <a:latin typeface="Arial"/>
            </a:endParaRPr>
          </a:p>
        </p:txBody>
      </p:sp>
      <p:sp>
        <p:nvSpPr>
          <p:cNvPr id="234" name="CustomShape 2"/>
          <p:cNvSpPr/>
          <p:nvPr/>
        </p:nvSpPr>
        <p:spPr>
          <a:xfrm>
            <a:off x="182880" y="1280160"/>
            <a:ext cx="8959680" cy="365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Accordingly, change the </a:t>
            </a:r>
            <a:r>
              <a:rPr lang="en-US" sz="1900" b="1" strike="noStrike" spc="-1">
                <a:solidFill>
                  <a:srgbClr val="000000"/>
                </a:solidFill>
                <a:latin typeface="Arial"/>
                <a:ea typeface="DejaVu Sans"/>
              </a:rPr>
              <a:t>emptyFilename() </a:t>
            </a:r>
            <a:r>
              <a:rPr lang="en-US" sz="1900" b="0" strike="noStrike" spc="-1">
                <a:solidFill>
                  <a:srgbClr val="000000"/>
                </a:solidFill>
                <a:latin typeface="Arial"/>
                <a:ea typeface="DejaVu Sans"/>
              </a:rPr>
              <a:t>and its calling</a:t>
            </a:r>
            <a:endParaRPr lang="en-US" sz="1900" b="0" strike="noStrike" spc="-1">
              <a:latin typeface="Arial"/>
            </a:endParaRPr>
          </a:p>
          <a:p>
            <a:pPr>
              <a:lnSpc>
                <a:spcPct val="100000"/>
              </a:lnSpc>
            </a:pP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try{	</a:t>
            </a: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emptyFileName(filename);</a:t>
            </a: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a:t>
            </a: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catch(EmptyFileNameException e){</a:t>
            </a: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System.out.println(e);</a:t>
            </a: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a:t>
            </a:r>
            <a:endParaRPr lang="en-US" sz="1900" b="0" strike="noStrike" spc="-1">
              <a:latin typeface="Arial"/>
            </a:endParaRPr>
          </a:p>
          <a:p>
            <a:pPr>
              <a:lnSpc>
                <a:spcPct val="100000"/>
              </a:lnSpc>
            </a:pPr>
            <a:endParaRPr lang="en-US" sz="1900" b="0" strike="noStrike" spc="-1">
              <a:latin typeface="Arial"/>
            </a:endParaRPr>
          </a:p>
          <a:p>
            <a:pPr marL="216000" indent="-215640">
              <a:lnSpc>
                <a:spcPct val="100000"/>
              </a:lnSpc>
              <a:buClr>
                <a:srgbClr val="000000"/>
              </a:buClr>
              <a:buFont typeface="Liberation Serif"/>
              <a:buAutoNum type="arabicPeriod" startAt="54"/>
            </a:pPr>
            <a:r>
              <a:rPr lang="en-US" sz="1800" b="0" strike="noStrike" spc="-1">
                <a:solidFill>
                  <a:srgbClr val="000000"/>
                </a:solidFill>
                <a:latin typeface="Arial"/>
                <a:ea typeface="DejaVu Sans"/>
              </a:rPr>
              <a:t> 	private void emptyFileName(String filename)throws EmptyFileNameException{</a:t>
            </a:r>
            <a:endParaRPr lang="en-US" sz="1800" b="0" strike="noStrike" spc="-1">
              <a:latin typeface="Arial"/>
            </a:endParaRPr>
          </a:p>
          <a:p>
            <a:pPr marL="216000" indent="-215640">
              <a:lnSpc>
                <a:spcPct val="100000"/>
              </a:lnSpc>
              <a:buClr>
                <a:srgbClr val="000000"/>
              </a:buClr>
              <a:buFont typeface="Liberation Serif"/>
              <a:buAutoNum type="arabicPeriod" startAt="54"/>
            </a:pPr>
            <a:r>
              <a:rPr lang="en-US" sz="1800" b="0" strike="noStrike" spc="-1">
                <a:solidFill>
                  <a:srgbClr val="000000"/>
                </a:solidFill>
                <a:latin typeface="Arial"/>
                <a:ea typeface="DejaVu Sans"/>
              </a:rPr>
              <a:t>		if (filename=="")</a:t>
            </a:r>
            <a:endParaRPr lang="en-US" sz="1800" b="0" strike="noStrike" spc="-1">
              <a:latin typeface="Arial"/>
            </a:endParaRPr>
          </a:p>
          <a:p>
            <a:pPr marL="216000" indent="-215640">
              <a:lnSpc>
                <a:spcPct val="100000"/>
              </a:lnSpc>
              <a:buClr>
                <a:srgbClr val="000000"/>
              </a:buClr>
              <a:buFont typeface="Liberation Serif"/>
              <a:buAutoNum type="arabicPeriod" startAt="54"/>
            </a:pPr>
            <a:r>
              <a:rPr lang="en-US" sz="1800" b="0" strike="noStrike" spc="-1">
                <a:solidFill>
                  <a:srgbClr val="000000"/>
                </a:solidFill>
                <a:latin typeface="Arial"/>
                <a:ea typeface="DejaVu Sans"/>
              </a:rPr>
              <a:t>			throw new EmptyFileNameException("EmptyFileName");</a:t>
            </a:r>
            <a:endParaRPr lang="en-US" sz="1800" b="0" strike="noStrike" spc="-1">
              <a:latin typeface="Arial"/>
            </a:endParaRPr>
          </a:p>
          <a:p>
            <a:pPr marL="216000" indent="-215640">
              <a:lnSpc>
                <a:spcPct val="100000"/>
              </a:lnSpc>
              <a:buClr>
                <a:srgbClr val="000000"/>
              </a:buClr>
              <a:buFont typeface="Liberation Serif"/>
              <a:buAutoNum type="arabicPeriod" startAt="54"/>
            </a:pPr>
            <a:r>
              <a:rPr lang="en-US" sz="1800" b="0" strike="noStrike" spc="-1">
                <a:solidFill>
                  <a:srgbClr val="000000"/>
                </a:solidFill>
                <a:latin typeface="Arial"/>
                <a:ea typeface="DejaVu Sans"/>
              </a:rPr>
              <a:t>	}</a:t>
            </a:r>
            <a:endParaRPr lang="en-US" sz="1800" b="0" strike="noStrike" spc="-1">
              <a:latin typeface="Arial"/>
            </a:endParaRPr>
          </a:p>
        </p:txBody>
      </p:sp>
      <p:sp>
        <p:nvSpPr>
          <p:cNvPr id="235"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Changes in NameValidator class </a:t>
            </a:r>
            <a:r>
              <a:rPr lang="en-US" sz="1600" b="0" strike="noStrike" spc="-38">
                <a:solidFill>
                  <a:srgbClr val="404040"/>
                </a:solidFill>
                <a:latin typeface="Calibri Light"/>
                <a:ea typeface="DejaVu Sans"/>
              </a:rPr>
              <a:t>(Contd.)</a:t>
            </a:r>
            <a:endParaRPr lang="en-US" sz="1600" b="0" strike="noStrike" spc="-1">
              <a:latin typeface="Arial"/>
            </a:endParaRPr>
          </a:p>
        </p:txBody>
      </p:sp>
      <p:sp>
        <p:nvSpPr>
          <p:cNvPr id="236"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C76DC5B4-D4A0-4A00-8024-F727D8AFBD42}" type="slidenum">
              <a:rPr lang="en-US" sz="790" b="0" strike="noStrike" spc="-1">
                <a:solidFill>
                  <a:srgbClr val="FFFFFF"/>
                </a:solidFill>
                <a:latin typeface="Arial"/>
                <a:ea typeface="Arial"/>
              </a:rPr>
              <a:t>37</a:t>
            </a:fld>
            <a:endParaRPr lang="en-US" sz="790" b="0" strike="noStrike" spc="-1">
              <a:latin typeface="Arial"/>
            </a:endParaRPr>
          </a:p>
        </p:txBody>
      </p:sp>
      <p:sp>
        <p:nvSpPr>
          <p:cNvPr id="238"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900" b="0" strike="noStrike" spc="-1">
                <a:solidFill>
                  <a:srgbClr val="000000"/>
                </a:solidFill>
                <a:latin typeface="Arial"/>
                <a:ea typeface="DejaVu Sans"/>
              </a:rPr>
              <a:t>Write ‘EmptyFileNameException’ class in a separate package ‘com.ncu.exceptions’</a:t>
            </a:r>
            <a:endParaRPr lang="en-US" sz="1900" b="0" strike="noStrike" spc="-1">
              <a:latin typeface="Arial"/>
            </a:endParaRPr>
          </a:p>
          <a:p>
            <a:pPr>
              <a:lnSpc>
                <a:spcPct val="100000"/>
              </a:lnSpc>
            </a:pPr>
            <a:endParaRPr lang="en-US" sz="1900" b="0" strike="noStrike" spc="-1">
              <a:latin typeface="Arial"/>
            </a:endParaRPr>
          </a:p>
          <a:p>
            <a:pPr>
              <a:lnSpc>
                <a:spcPct val="100000"/>
              </a:lnSpc>
            </a:pPr>
            <a:r>
              <a:rPr lang="en-US" sz="1900" b="0" strike="noStrike" spc="-1">
                <a:solidFill>
                  <a:srgbClr val="000000"/>
                </a:solidFill>
                <a:latin typeface="Arial"/>
                <a:ea typeface="DejaVu Sans"/>
              </a:rPr>
              <a:t> ├── src</a:t>
            </a:r>
            <a:endParaRPr lang="en-US" sz="1900" b="0" strike="noStrike" spc="-1">
              <a:latin typeface="Arial"/>
            </a:endParaRPr>
          </a:p>
          <a:p>
            <a:pPr>
              <a:lnSpc>
                <a:spcPct val="100000"/>
              </a:lnSpc>
            </a:pPr>
            <a:r>
              <a:rPr lang="en-US" sz="540" b="0" strike="noStrike" spc="-1">
                <a:solidFill>
                  <a:srgbClr val="000000"/>
                </a:solidFill>
                <a:latin typeface="Arial"/>
                <a:ea typeface="DejaVu Sans"/>
              </a:rPr>
              <a:t> </a:t>
            </a:r>
            <a:r>
              <a:rPr lang="en-US" sz="1900" b="0" strike="noStrike" spc="-1">
                <a:solidFill>
                  <a:srgbClr val="000000"/>
                </a:solidFill>
                <a:latin typeface="Arial"/>
                <a:ea typeface="DejaVu Sans"/>
              </a:rPr>
              <a:t> │   └── com</a:t>
            </a:r>
            <a:endParaRPr lang="en-US" sz="1900" b="0" strike="noStrike" spc="-1">
              <a:latin typeface="Arial"/>
            </a:endParaRPr>
          </a:p>
          <a:p>
            <a:pPr>
              <a:lnSpc>
                <a:spcPct val="100000"/>
              </a:lnSpc>
            </a:pPr>
            <a:r>
              <a:rPr lang="en-US" sz="600" b="0" strike="noStrike" spc="-1">
                <a:solidFill>
                  <a:srgbClr val="000000"/>
                </a:solidFill>
                <a:latin typeface="Arial"/>
                <a:ea typeface="DejaVu Sans"/>
              </a:rPr>
              <a:t> </a:t>
            </a:r>
            <a:r>
              <a:rPr lang="en-US" sz="1800" b="0" strike="noStrike" spc="-1">
                <a:solidFill>
                  <a:srgbClr val="000000"/>
                </a:solidFill>
                <a:latin typeface="Arial"/>
                <a:ea typeface="DejaVu Sans"/>
              </a:rPr>
              <a:t> </a:t>
            </a:r>
            <a:r>
              <a:rPr lang="en-US" sz="1900" b="0" strike="noStrike" spc="-1">
                <a:solidFill>
                  <a:srgbClr val="000000"/>
                </a:solidFill>
                <a:latin typeface="Arial"/>
                <a:ea typeface="DejaVu Sans"/>
              </a:rPr>
              <a:t>│       └── ncu</a:t>
            </a:r>
            <a:endParaRPr lang="en-US" sz="1900" b="0" strike="noStrike" spc="-1">
              <a:latin typeface="Arial"/>
            </a:endParaRPr>
          </a:p>
          <a:p>
            <a:pPr>
              <a:lnSpc>
                <a:spcPct val="100000"/>
              </a:lnSpc>
            </a:pPr>
            <a:r>
              <a:rPr lang="en-US" sz="700" b="0" strike="noStrike" spc="-1">
                <a:solidFill>
                  <a:srgbClr val="000000"/>
                </a:solidFill>
                <a:latin typeface="Arial"/>
                <a:ea typeface="DejaVu Sans"/>
              </a:rPr>
              <a:t> </a:t>
            </a:r>
            <a:r>
              <a:rPr lang="en-US" sz="1800" b="0" strike="noStrike" spc="-1">
                <a:solidFill>
                  <a:srgbClr val="000000"/>
                </a:solidFill>
                <a:latin typeface="Arial"/>
                <a:ea typeface="DejaVu Sans"/>
              </a:rPr>
              <a:t> </a:t>
            </a:r>
            <a:r>
              <a:rPr lang="en-US" sz="1900" b="0" strike="noStrike" spc="-1">
                <a:solidFill>
                  <a:srgbClr val="000000"/>
                </a:solidFill>
                <a:latin typeface="Arial"/>
                <a:ea typeface="DejaVu Sans"/>
              </a:rPr>
              <a:t>│      </a:t>
            </a:r>
            <a:r>
              <a:rPr lang="en-US" sz="1600" b="0" strike="noStrike" spc="-1">
                <a:solidFill>
                  <a:srgbClr val="000000"/>
                </a:solidFill>
                <a:latin typeface="Arial"/>
                <a:ea typeface="DejaVu Sans"/>
              </a:rPr>
              <a:t> </a:t>
            </a:r>
            <a:r>
              <a:rPr lang="en-US" sz="1900" b="0" strike="noStrike" spc="-1">
                <a:solidFill>
                  <a:srgbClr val="000000"/>
                </a:solidFill>
                <a:latin typeface="Arial"/>
                <a:ea typeface="DejaVu Sans"/>
              </a:rPr>
              <a:t>    ├── exceptions</a:t>
            </a:r>
            <a:endParaRPr lang="en-US" sz="1900" b="0" strike="noStrike" spc="-1">
              <a:latin typeface="Arial"/>
            </a:endParaRPr>
          </a:p>
          <a:p>
            <a:pPr>
              <a:lnSpc>
                <a:spcPct val="100000"/>
              </a:lnSpc>
            </a:pPr>
            <a:r>
              <a:rPr lang="en-US" sz="540" b="0" strike="noStrike" spc="-1">
                <a:solidFill>
                  <a:srgbClr val="000000"/>
                </a:solidFill>
                <a:latin typeface="Arial"/>
                <a:ea typeface="DejaVu Sans"/>
              </a:rPr>
              <a:t> </a:t>
            </a:r>
            <a:r>
              <a:rPr lang="en-US" sz="1900" b="0" strike="noStrike" spc="-1">
                <a:solidFill>
                  <a:srgbClr val="000000"/>
                </a:solidFill>
                <a:latin typeface="Arial"/>
                <a:ea typeface="DejaVu Sans"/>
              </a:rPr>
              <a:t> │ </a:t>
            </a:r>
            <a:r>
              <a:rPr lang="en-US" sz="1800" b="0" strike="noStrike" spc="-1">
                <a:solidFill>
                  <a:srgbClr val="000000"/>
                </a:solidFill>
                <a:latin typeface="Arial"/>
                <a:ea typeface="DejaVu Sans"/>
              </a:rPr>
              <a:t> </a:t>
            </a:r>
            <a:r>
              <a:rPr lang="en-US" sz="1900" b="0" strike="noStrike" spc="-1">
                <a:solidFill>
                  <a:srgbClr val="000000"/>
                </a:solidFill>
                <a:latin typeface="Arial"/>
                <a:ea typeface="DejaVu Sans"/>
              </a:rPr>
              <a:t>   </a:t>
            </a:r>
            <a:r>
              <a:rPr lang="en-US" sz="490" b="0" strike="noStrike" spc="-1">
                <a:solidFill>
                  <a:srgbClr val="000000"/>
                </a:solidFill>
                <a:latin typeface="Arial"/>
                <a:ea typeface="DejaVu Sans"/>
              </a:rPr>
              <a:t> </a:t>
            </a:r>
            <a:r>
              <a:rPr lang="en-US" sz="1900" b="0" strike="noStrike" spc="-1">
                <a:solidFill>
                  <a:srgbClr val="000000"/>
                </a:solidFill>
                <a:latin typeface="Arial"/>
                <a:ea typeface="DejaVu Sans"/>
              </a:rPr>
              <a:t>      │   └── EmptyFileNameException.java</a:t>
            </a:r>
            <a:endParaRPr lang="en-US" sz="1900" b="0" strike="noStrike" spc="-1">
              <a:latin typeface="Arial"/>
            </a:endParaRPr>
          </a:p>
          <a:p>
            <a:pPr>
              <a:lnSpc>
                <a:spcPct val="100000"/>
              </a:lnSpc>
            </a:pPr>
            <a:r>
              <a:rPr lang="en-US" sz="540" b="0" strike="noStrike" spc="-1">
                <a:solidFill>
                  <a:srgbClr val="000000"/>
                </a:solidFill>
                <a:latin typeface="Arial"/>
                <a:ea typeface="DejaVu Sans"/>
              </a:rPr>
              <a:t> </a:t>
            </a:r>
            <a:r>
              <a:rPr lang="en-US" sz="1900" b="0" strike="noStrike" spc="-1">
                <a:solidFill>
                  <a:srgbClr val="000000"/>
                </a:solidFill>
                <a:latin typeface="Arial"/>
                <a:ea typeface="DejaVu Sans"/>
              </a:rPr>
              <a:t> │     </a:t>
            </a:r>
            <a:r>
              <a:rPr lang="en-US" sz="1600" b="0" strike="noStrike" spc="-1">
                <a:solidFill>
                  <a:srgbClr val="000000"/>
                </a:solidFill>
                <a:latin typeface="Arial"/>
                <a:ea typeface="DejaVu Sans"/>
              </a:rPr>
              <a:t> </a:t>
            </a:r>
            <a:r>
              <a:rPr lang="en-US" sz="1900" b="0" strike="noStrike" spc="-1">
                <a:solidFill>
                  <a:srgbClr val="000000"/>
                </a:solidFill>
                <a:latin typeface="Arial"/>
                <a:ea typeface="DejaVu Sans"/>
              </a:rPr>
              <a:t>     └── validators</a:t>
            </a:r>
            <a:endParaRPr lang="en-US" sz="1900" b="0" strike="noStrike" spc="-1">
              <a:latin typeface="Arial"/>
            </a:endParaRPr>
          </a:p>
          <a:p>
            <a:pPr>
              <a:lnSpc>
                <a:spcPct val="100000"/>
              </a:lnSpc>
            </a:pPr>
            <a:r>
              <a:rPr lang="en-US" sz="540" b="0" strike="noStrike" spc="-1">
                <a:solidFill>
                  <a:srgbClr val="000000"/>
                </a:solidFill>
                <a:latin typeface="Arial"/>
                <a:ea typeface="DejaVu Sans"/>
              </a:rPr>
              <a:t> </a:t>
            </a:r>
            <a:r>
              <a:rPr lang="en-US" sz="1900" b="0" strike="noStrike" spc="-1">
                <a:solidFill>
                  <a:srgbClr val="000000"/>
                </a:solidFill>
                <a:latin typeface="Arial"/>
                <a:ea typeface="DejaVu Sans"/>
              </a:rPr>
              <a:t> │               └── Valid10.java</a:t>
            </a: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p:txBody>
      </p:sp>
      <p:sp>
        <p:nvSpPr>
          <p:cNvPr id="239"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Writing Exception classes</a:t>
            </a:r>
            <a:endParaRPr lang="en-US" sz="3200" b="0" strike="noStrike" spc="-1">
              <a:latin typeface="Arial"/>
            </a:endParaRPr>
          </a:p>
        </p:txBody>
      </p:sp>
      <p:sp>
        <p:nvSpPr>
          <p:cNvPr id="240"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
        <p:nvSpPr>
          <p:cNvPr id="241" name="CustomShape 5"/>
          <p:cNvSpPr/>
          <p:nvPr/>
        </p:nvSpPr>
        <p:spPr>
          <a:xfrm>
            <a:off x="3438720" y="1598400"/>
            <a:ext cx="5668920" cy="1444320"/>
          </a:xfrm>
          <a:prstGeom prst="rect">
            <a:avLst/>
          </a:prstGeom>
          <a:noFill/>
          <a:ln>
            <a:solidFill>
              <a:srgbClr val="2A6099"/>
            </a:solid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package com.ncu.exceptions;</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public class EmptyFileNameException extends Exception{</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	EmptyFileNameException(String s){</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		super(s);</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	}</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a:t>
            </a:r>
            <a:endParaRPr lang="en-US" sz="1600" b="0" strike="noStrike" spc="-1">
              <a:latin typeface="Arial"/>
            </a:endParaRPr>
          </a:p>
        </p:txBody>
      </p:sp>
      <p:sp>
        <p:nvSpPr>
          <p:cNvPr id="242" name="CustomShape 6"/>
          <p:cNvSpPr/>
          <p:nvPr/>
        </p:nvSpPr>
        <p:spPr>
          <a:xfrm>
            <a:off x="274320" y="4114800"/>
            <a:ext cx="8685360" cy="992880"/>
          </a:xfrm>
          <a:prstGeom prst="rect">
            <a:avLst/>
          </a:prstGeom>
          <a:noFill/>
          <a:ln>
            <a:solidFill>
              <a:srgbClr val="A7074B"/>
            </a:solid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000000"/>
              </a:buClr>
              <a:buSzPct val="45000"/>
              <a:buFont typeface="Wingdings" charset="2"/>
              <a:buChar char=""/>
            </a:pPr>
            <a:r>
              <a:rPr lang="en-US" sz="1600" b="1" strike="noStrike" spc="-1">
                <a:solidFill>
                  <a:srgbClr val="000000"/>
                </a:solidFill>
                <a:latin typeface="Arial"/>
                <a:ea typeface="DejaVu Sans"/>
              </a:rPr>
              <a:t>For Compilation</a:t>
            </a:r>
            <a:r>
              <a:rPr lang="en-US" sz="1600" b="0" strike="noStrike" spc="-1">
                <a:solidFill>
                  <a:srgbClr val="000000"/>
                </a:solidFill>
                <a:latin typeface="Arial"/>
                <a:ea typeface="DejaVu Sans"/>
              </a:rPr>
              <a:t>, go to project root folder:</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javac -cp classes/ -d classes/ src/com/ncu/exceptions/EmptyFileNameException.java</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javac -cp classes/ -d classes/ src/com/ncu/validators/valid10.java</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1" strike="noStrike" spc="-1">
                <a:solidFill>
                  <a:srgbClr val="000000"/>
                </a:solidFill>
                <a:latin typeface="Arial"/>
                <a:ea typeface="DejaVu Sans"/>
              </a:rPr>
              <a:t>TO RUN:</a:t>
            </a:r>
            <a:r>
              <a:rPr lang="en-US" sz="1600" b="0" strike="noStrike" spc="-1">
                <a:solidFill>
                  <a:srgbClr val="000000"/>
                </a:solidFill>
                <a:latin typeface="Arial"/>
                <a:ea typeface="DejaVu Sans"/>
              </a:rPr>
              <a:t> java -cp classes/ com.ncu.validators.testnamevalidator</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06C84F7E-17F3-46E1-BF32-366EE8E2D2EC}" type="slidenum">
              <a:rPr lang="en-US" sz="790" b="0" strike="noStrike" spc="-1">
                <a:solidFill>
                  <a:srgbClr val="FFFFFF"/>
                </a:solidFill>
                <a:latin typeface="Arial"/>
                <a:ea typeface="Arial"/>
              </a:rPr>
              <a:t>38</a:t>
            </a:fld>
            <a:endParaRPr lang="en-US" sz="790" b="0" strike="noStrike" spc="-1">
              <a:latin typeface="Arial"/>
            </a:endParaRPr>
          </a:p>
        </p:txBody>
      </p:sp>
      <p:sp>
        <p:nvSpPr>
          <p:cNvPr id="244"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Like ‘EmptyFileNameException’ class, write the classes for all the exceptions and store it in exceptions folder.</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All exceptions should be the part of </a:t>
            </a:r>
            <a:r>
              <a:rPr lang="en-US" sz="1900" b="1" strike="noStrike" spc="-1">
                <a:solidFill>
                  <a:srgbClr val="000000"/>
                </a:solidFill>
                <a:latin typeface="Arial"/>
                <a:ea typeface="DejaVu Sans"/>
              </a:rPr>
              <a:t>com.ncu.exceptions</a:t>
            </a:r>
            <a:r>
              <a:rPr lang="en-US" sz="1900" b="0" strike="noStrike" spc="-1">
                <a:solidFill>
                  <a:srgbClr val="000000"/>
                </a:solidFill>
                <a:latin typeface="Arial"/>
                <a:ea typeface="DejaVu Sans"/>
              </a:rPr>
              <a:t> package</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Change the validation check methods in NameValidator.class accordingly</a:t>
            </a:r>
            <a:endParaRPr lang="en-US" sz="1900" b="0" strike="noStrike" spc="-1">
              <a:latin typeface="Arial"/>
            </a:endParaRPr>
          </a:p>
          <a:p>
            <a:pPr>
              <a:lnSpc>
                <a:spcPct val="100000"/>
              </a:lnSpc>
            </a:pPr>
            <a:endParaRPr lang="en-US" sz="1900" b="0" strike="noStrike" spc="-1">
              <a:latin typeface="Arial"/>
            </a:endParaRPr>
          </a:p>
          <a:p>
            <a:pPr>
              <a:lnSpc>
                <a:spcPct val="100000"/>
              </a:lnSpc>
            </a:pPr>
            <a:r>
              <a:rPr lang="en-US" sz="1900" b="0" strike="noStrike" spc="-1">
                <a:solidFill>
                  <a:srgbClr val="000000"/>
                </a:solidFill>
                <a:latin typeface="Arial"/>
                <a:ea typeface="DejaVu Sans"/>
              </a:rPr>
              <a:t> </a:t>
            </a: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p:txBody>
      </p:sp>
      <p:sp>
        <p:nvSpPr>
          <p:cNvPr id="245"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Inclusion of other Exception classes</a:t>
            </a:r>
            <a:endParaRPr lang="en-US" sz="3200" b="0" strike="noStrike" spc="-1">
              <a:latin typeface="Arial"/>
            </a:endParaRPr>
          </a:p>
        </p:txBody>
      </p:sp>
      <p:sp>
        <p:nvSpPr>
          <p:cNvPr id="246"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
        <p:nvSpPr>
          <p:cNvPr id="247" name="CustomShape 5"/>
          <p:cNvSpPr/>
          <p:nvPr/>
        </p:nvSpPr>
        <p:spPr>
          <a:xfrm>
            <a:off x="1402560" y="2449800"/>
            <a:ext cx="5089320" cy="2649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300" b="0" strike="noStrike" spc="-1">
                <a:latin typeface="Arial"/>
              </a:rPr>
              <a:t> </a:t>
            </a:r>
            <a:r>
              <a:rPr lang="en-US" sz="1800" b="0" strike="noStrike" spc="-1">
                <a:latin typeface="Arial"/>
              </a:rPr>
              <a:t>           ├── exceptions</a:t>
            </a:r>
          </a:p>
          <a:p>
            <a:pPr>
              <a:lnSpc>
                <a:spcPct val="100000"/>
              </a:lnSpc>
            </a:pPr>
            <a:r>
              <a:rPr lang="en-US" sz="1800" b="0" strike="noStrike" spc="-1">
                <a:latin typeface="Arial"/>
              </a:rPr>
              <a:t>            │   ├── EmptyExtensionException.java</a:t>
            </a:r>
          </a:p>
          <a:p>
            <a:pPr>
              <a:lnSpc>
                <a:spcPct val="100000"/>
              </a:lnSpc>
            </a:pPr>
            <a:r>
              <a:rPr lang="en-US" sz="1800" b="0" strike="noStrike" spc="-1">
                <a:latin typeface="Arial"/>
              </a:rPr>
              <a:t>            │   ├── EmptyNameException.java</a:t>
            </a:r>
          </a:p>
          <a:p>
            <a:pPr>
              <a:lnSpc>
                <a:spcPct val="100000"/>
              </a:lnSpc>
            </a:pPr>
            <a:r>
              <a:rPr lang="en-US" sz="1800" b="0" strike="noStrike" spc="-1">
                <a:latin typeface="Arial"/>
              </a:rPr>
              <a:t>            │   ├── FileAlreadyExists.java</a:t>
            </a:r>
          </a:p>
          <a:p>
            <a:pPr>
              <a:lnSpc>
                <a:spcPct val="100000"/>
              </a:lnSpc>
            </a:pPr>
            <a:r>
              <a:rPr lang="en-US" sz="1800" b="0" strike="noStrike" spc="-1">
                <a:latin typeface="Arial"/>
              </a:rPr>
              <a:t>            │   ├── FileNameLengthException.java</a:t>
            </a:r>
          </a:p>
          <a:p>
            <a:pPr>
              <a:lnSpc>
                <a:spcPct val="100000"/>
              </a:lnSpc>
            </a:pPr>
            <a:r>
              <a:rPr lang="en-US" sz="1800" b="0" strike="noStrike" spc="-1">
                <a:latin typeface="Arial"/>
              </a:rPr>
              <a:t>            │   ├── FileNotAvailable.java</a:t>
            </a:r>
          </a:p>
          <a:p>
            <a:pPr>
              <a:lnSpc>
                <a:spcPct val="100000"/>
              </a:lnSpc>
            </a:pPr>
            <a:r>
              <a:rPr lang="en-US" sz="1800" b="0" strike="noStrike" spc="-1">
                <a:latin typeface="Arial"/>
              </a:rPr>
              <a:t>            │   ├── InvalidExtensionException.java</a:t>
            </a:r>
          </a:p>
          <a:p>
            <a:pPr>
              <a:lnSpc>
                <a:spcPct val="100000"/>
              </a:lnSpc>
            </a:pPr>
            <a:r>
              <a:rPr lang="en-US" sz="1800" b="0" strike="noStrike" spc="-1">
                <a:latin typeface="Arial"/>
              </a:rPr>
              <a:t>            │   ├── MissingExtensionException.java</a:t>
            </a:r>
          </a:p>
          <a:p>
            <a:pPr>
              <a:lnSpc>
                <a:spcPct val="100000"/>
              </a:lnSpc>
            </a:pPr>
            <a:r>
              <a:rPr lang="en-US" sz="1800" b="0" strike="noStrike" spc="-1">
                <a:latin typeface="Arial"/>
              </a:rPr>
              <a:t>            │   ├── NotJsonFileException.java</a:t>
            </a:r>
          </a:p>
          <a:p>
            <a:pPr>
              <a:lnSpc>
                <a:spcPct val="100000"/>
              </a:lnSpc>
            </a:pPr>
            <a:r>
              <a:rPr lang="en-US" sz="1800" b="0" strike="noStrike" spc="-1">
                <a:latin typeface="Arial"/>
              </a:rPr>
              <a:t>            │   └── SpecialCharacterException.java</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1465505F-044F-4D1B-8E19-15780A300B2F}" type="slidenum">
              <a:rPr lang="en-US" sz="790" b="0" strike="noStrike" spc="-1">
                <a:solidFill>
                  <a:srgbClr val="FFFFFF"/>
                </a:solidFill>
                <a:latin typeface="Arial"/>
                <a:ea typeface="Arial"/>
              </a:rPr>
              <a:t>39</a:t>
            </a:fld>
            <a:endParaRPr lang="en-US" sz="790" b="0" strike="noStrike" spc="-1">
              <a:latin typeface="Arial"/>
            </a:endParaRPr>
          </a:p>
        </p:txBody>
      </p:sp>
      <p:sp>
        <p:nvSpPr>
          <p:cNvPr id="249" name="CustomShape 2"/>
          <p:cNvSpPr/>
          <p:nvPr/>
        </p:nvSpPr>
        <p:spPr>
          <a:xfrm>
            <a:off x="182880" y="1280160"/>
            <a:ext cx="895968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Exceptions give a message to user for any possible error</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It would be better to store the messages in a file so that a single change will be applicable across project</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Multiple codes can access this file simultaneously</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A properties file can be defined for this in the form of key=value pair</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Java provide a properties class, which can help to fetch the value based on the key</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The key can be used at appropriate places in the project</a:t>
            </a:r>
            <a:endParaRPr lang="en-US" sz="1900" b="0" strike="noStrike" spc="-1">
              <a:latin typeface="Arial"/>
            </a:endParaRPr>
          </a:p>
          <a:p>
            <a:pPr>
              <a:lnSpc>
                <a:spcPct val="100000"/>
              </a:lnSpc>
            </a:pPr>
            <a:endParaRPr lang="en-US" sz="1900" b="0" strike="noStrike" spc="-1">
              <a:latin typeface="Arial"/>
            </a:endParaRPr>
          </a:p>
          <a:p>
            <a:pPr>
              <a:lnSpc>
                <a:spcPct val="100000"/>
              </a:lnSpc>
            </a:pPr>
            <a:r>
              <a:rPr lang="en-US" sz="1900" b="0" strike="noStrike" spc="-1">
                <a:solidFill>
                  <a:srgbClr val="000000"/>
                </a:solidFill>
                <a:latin typeface="Arial"/>
                <a:ea typeface="DejaVu Sans"/>
              </a:rPr>
              <a:t> </a:t>
            </a: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p:txBody>
      </p:sp>
      <p:sp>
        <p:nvSpPr>
          <p:cNvPr id="250"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3200" b="0" strike="noStrike" spc="-38">
                <a:solidFill>
                  <a:srgbClr val="404040"/>
                </a:solidFill>
                <a:latin typeface="Calibri Light"/>
                <a:ea typeface="DejaVu Sans"/>
              </a:rPr>
              <a:t>Exceptions messages (properties file)</a:t>
            </a:r>
            <a:endParaRPr lang="en-US" sz="3200" b="0" strike="noStrike" spc="-1">
              <a:latin typeface="Arial"/>
            </a:endParaRPr>
          </a:p>
        </p:txBody>
      </p:sp>
      <p:sp>
        <p:nvSpPr>
          <p:cNvPr id="251"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7438C4A7-DB16-463E-AEF8-74AFFF7F4F4A}" type="slidenum">
              <a:rPr lang="en-US" sz="790" b="0" strike="noStrike" spc="-1">
                <a:solidFill>
                  <a:srgbClr val="FFFFFF"/>
                </a:solidFill>
                <a:latin typeface="Arial"/>
                <a:ea typeface="Arial"/>
              </a:rPr>
              <a:t>40</a:t>
            </a:fld>
            <a:endParaRPr lang="en-US" sz="790" b="0" strike="noStrike" spc="-1">
              <a:latin typeface="Arial"/>
            </a:endParaRPr>
          </a:p>
        </p:txBody>
      </p:sp>
      <p:sp>
        <p:nvSpPr>
          <p:cNvPr id="253" name="CustomShape 2"/>
          <p:cNvSpPr/>
          <p:nvPr/>
        </p:nvSpPr>
        <p:spPr>
          <a:xfrm>
            <a:off x="182880" y="1280160"/>
            <a:ext cx="8959680" cy="100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Write the key=value pair in a file</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Save file by the name </a:t>
            </a:r>
            <a:r>
              <a:rPr lang="en-US" sz="1900" b="1" strike="noStrike" spc="-1">
                <a:solidFill>
                  <a:srgbClr val="000000"/>
                </a:solidFill>
                <a:latin typeface="Arial"/>
                <a:ea typeface="DejaVu Sans"/>
              </a:rPr>
              <a:t>exceptions.properties</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Store this file under </a:t>
            </a:r>
            <a:r>
              <a:rPr lang="en-US" sz="1900" b="1" strike="noStrike" spc="-1">
                <a:solidFill>
                  <a:srgbClr val="000000"/>
                </a:solidFill>
                <a:latin typeface="Arial"/>
                <a:ea typeface="DejaVu Sans"/>
              </a:rPr>
              <a:t>proj_root/configs/constants</a:t>
            </a:r>
            <a:r>
              <a:rPr lang="en-US" sz="1900" b="0" strike="noStrike" spc="-1">
                <a:solidFill>
                  <a:srgbClr val="000000"/>
                </a:solidFill>
                <a:latin typeface="Arial"/>
                <a:ea typeface="DejaVu Sans"/>
              </a:rPr>
              <a:t> folder</a:t>
            </a:r>
            <a:endParaRPr lang="en-US" sz="1900" b="0" strike="noStrike" spc="-1">
              <a:latin typeface="Arial"/>
            </a:endParaRPr>
          </a:p>
          <a:p>
            <a:pPr>
              <a:lnSpc>
                <a:spcPct val="100000"/>
              </a:lnSpc>
            </a:pPr>
            <a:endParaRPr lang="en-US" sz="1900" b="0" strike="noStrike" spc="-1">
              <a:latin typeface="Arial"/>
            </a:endParaRPr>
          </a:p>
          <a:p>
            <a:pPr>
              <a:lnSpc>
                <a:spcPct val="100000"/>
              </a:lnSpc>
            </a:pPr>
            <a:endParaRPr lang="en-US" sz="1900" b="0" strike="noStrike" spc="-1">
              <a:latin typeface="Arial"/>
            </a:endParaRPr>
          </a:p>
        </p:txBody>
      </p:sp>
      <p:sp>
        <p:nvSpPr>
          <p:cNvPr id="254"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800" b="0" strike="noStrike" spc="-38">
                <a:solidFill>
                  <a:srgbClr val="404040"/>
                </a:solidFill>
                <a:latin typeface="Calibri Light"/>
                <a:ea typeface="DejaVu Sans"/>
              </a:rPr>
              <a:t>Properties file</a:t>
            </a:r>
            <a:endParaRPr lang="en-US" sz="2800" b="0" strike="noStrike" spc="-1">
              <a:latin typeface="Arial"/>
            </a:endParaRPr>
          </a:p>
        </p:txBody>
      </p:sp>
      <p:sp>
        <p:nvSpPr>
          <p:cNvPr id="255"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
        <p:nvSpPr>
          <p:cNvPr id="256" name="CustomShape 5"/>
          <p:cNvSpPr/>
          <p:nvPr/>
        </p:nvSpPr>
        <p:spPr>
          <a:xfrm>
            <a:off x="183960" y="234576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800" b="0" strike="noStrike" spc="-38">
                <a:solidFill>
                  <a:srgbClr val="404040"/>
                </a:solidFill>
                <a:latin typeface="Calibri Light"/>
                <a:ea typeface="DejaVu Sans"/>
              </a:rPr>
              <a:t>Reading properties file</a:t>
            </a:r>
            <a:endParaRPr lang="en-US" sz="2800" b="0" strike="noStrike" spc="-1">
              <a:latin typeface="Arial"/>
            </a:endParaRPr>
          </a:p>
        </p:txBody>
      </p:sp>
      <p:sp>
        <p:nvSpPr>
          <p:cNvPr id="257" name="CustomShape 6"/>
          <p:cNvSpPr/>
          <p:nvPr/>
        </p:nvSpPr>
        <p:spPr>
          <a:xfrm>
            <a:off x="183960" y="2926080"/>
            <a:ext cx="8959680" cy="100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We use an object of FileInputStream class to create an input stream</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Use an object of Properties class to read the file and fetch the value based on key</a:t>
            </a:r>
            <a:endParaRPr lang="en-US" sz="1900" b="0" strike="noStrike" spc="-1">
              <a:latin typeface="Arial"/>
            </a:endParaRPr>
          </a:p>
          <a:p>
            <a:pPr>
              <a:lnSpc>
                <a:spcPct val="100000"/>
              </a:lnSpc>
            </a:pPr>
            <a:endParaRPr lang="en-US" sz="19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F90E873B-028F-4E91-8D55-7164598D3F10}" type="slidenum">
              <a:rPr lang="en-US" sz="790" b="0" strike="noStrike" spc="-1">
                <a:solidFill>
                  <a:srgbClr val="FFFFFF"/>
                </a:solidFill>
                <a:latin typeface="Arial"/>
                <a:ea typeface="Arial"/>
              </a:rPr>
              <a:t>41</a:t>
            </a:fld>
            <a:endParaRPr lang="en-US" sz="790" b="0" strike="noStrike" spc="-1">
              <a:latin typeface="Arial"/>
            </a:endParaRPr>
          </a:p>
        </p:txBody>
      </p:sp>
      <p:sp>
        <p:nvSpPr>
          <p:cNvPr id="259" name="CustomShape 2"/>
          <p:cNvSpPr/>
          <p:nvPr/>
        </p:nvSpPr>
        <p:spPr>
          <a:xfrm>
            <a:off x="450360" y="1261800"/>
            <a:ext cx="6831000" cy="3217680"/>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lstStyle/>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try{	</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input = new FileInputStream("exceptions.properties");</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prop.load(input);</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emptyFileName(filename);</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catch(EmptyFileNameException e){</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String s =prop.getProperty("emptyNameMessage");</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System.out.println(s);</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catch(Exception e){</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System.out.println(e);</a:t>
            </a:r>
            <a:endParaRPr lang="en-US" sz="1900" b="0" strike="noStrike" spc="-1">
              <a:latin typeface="Arial"/>
            </a:endParaRPr>
          </a:p>
          <a:p>
            <a:pPr marL="216000" indent="-214560">
              <a:lnSpc>
                <a:spcPct val="100000"/>
              </a:lnSpc>
              <a:buClr>
                <a:srgbClr val="000000"/>
              </a:buClr>
              <a:buFont typeface="Liberation Serif"/>
              <a:buAutoNum type="arabicPeriod" startAt="14"/>
            </a:pPr>
            <a:r>
              <a:rPr lang="en-US" sz="1900" b="0" strike="noStrike" spc="-1">
                <a:solidFill>
                  <a:srgbClr val="000000"/>
                </a:solidFill>
                <a:latin typeface="Arial"/>
                <a:ea typeface="DejaVu Sans"/>
              </a:rPr>
              <a:t>	}</a:t>
            </a:r>
            <a:endParaRPr lang="en-US" sz="1900" b="0" strike="noStrike" spc="-1">
              <a:latin typeface="Arial"/>
            </a:endParaRPr>
          </a:p>
        </p:txBody>
      </p:sp>
      <p:sp>
        <p:nvSpPr>
          <p:cNvPr id="260"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b="0" strike="noStrike" spc="-38">
                <a:solidFill>
                  <a:srgbClr val="404040"/>
                </a:solidFill>
                <a:latin typeface="Calibri Light"/>
                <a:ea typeface="DejaVu Sans"/>
              </a:rPr>
              <a:t>Changes in NameValidator class to use properties file</a:t>
            </a:r>
            <a:endParaRPr lang="en-US" sz="2400" b="0" strike="noStrike" spc="-1">
              <a:latin typeface="Arial"/>
            </a:endParaRPr>
          </a:p>
        </p:txBody>
      </p:sp>
      <p:sp>
        <p:nvSpPr>
          <p:cNvPr id="261"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
        <p:nvSpPr>
          <p:cNvPr id="262" name="CustomShape 5"/>
          <p:cNvSpPr/>
          <p:nvPr/>
        </p:nvSpPr>
        <p:spPr>
          <a:xfrm>
            <a:off x="357840" y="4781160"/>
            <a:ext cx="8601840" cy="430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000000"/>
              </a:buClr>
              <a:buSzPct val="45000"/>
              <a:buFont typeface="Wingdings" charset="2"/>
              <a:buChar char=""/>
            </a:pPr>
            <a:r>
              <a:rPr lang="en-US" sz="1600" b="0" strike="noStrike" spc="-1">
                <a:solidFill>
                  <a:srgbClr val="FFFFFF"/>
                </a:solidFill>
                <a:latin typeface="Arial"/>
                <a:ea typeface="DejaVu Sans"/>
              </a:rPr>
              <a:t>Now compilation and execution will print the message from </a:t>
            </a:r>
            <a:r>
              <a:rPr lang="en-US" sz="1600" b="1" strike="noStrike" spc="-1">
                <a:solidFill>
                  <a:srgbClr val="FFFFFF"/>
                </a:solidFill>
                <a:latin typeface="Arial"/>
                <a:ea typeface="DejaVu Sans"/>
              </a:rPr>
              <a:t>exceptions.properties</a:t>
            </a:r>
            <a:r>
              <a:rPr lang="en-US" sz="1600" b="0" strike="noStrike" spc="-1">
                <a:solidFill>
                  <a:srgbClr val="FFFFFF"/>
                </a:solidFill>
                <a:latin typeface="Arial"/>
                <a:ea typeface="DejaVu Sans"/>
              </a:rPr>
              <a:t> file</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38C49625-F299-4AB6-A150-E0A1FAACBC1B}" type="slidenum">
              <a:rPr lang="en-US" sz="790" b="0" strike="noStrike" spc="-1">
                <a:solidFill>
                  <a:srgbClr val="FFFFFF"/>
                </a:solidFill>
                <a:latin typeface="Arial"/>
                <a:ea typeface="Arial"/>
              </a:rPr>
              <a:t>42</a:t>
            </a:fld>
            <a:endParaRPr lang="en-US" sz="790" b="0" strike="noStrike" spc="-1">
              <a:latin typeface="Arial"/>
            </a:endParaRPr>
          </a:p>
        </p:txBody>
      </p:sp>
      <p:sp>
        <p:nvSpPr>
          <p:cNvPr id="264" name="CustomShape 2"/>
          <p:cNvSpPr/>
          <p:nvPr/>
        </p:nvSpPr>
        <p:spPr>
          <a:xfrm>
            <a:off x="114840" y="1005840"/>
            <a:ext cx="8959680" cy="1005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a:latin typeface="Arial"/>
            </a:endParaRPr>
          </a:p>
          <a:p>
            <a:pPr marL="216000" indent="-214560">
              <a:lnSpc>
                <a:spcPct val="100000"/>
              </a:lnSpc>
              <a:buClr>
                <a:srgbClr val="000000"/>
              </a:buClr>
              <a:buSzPct val="45000"/>
              <a:buFont typeface="Wingdings" charset="2"/>
              <a:buChar char=""/>
            </a:pPr>
            <a:r>
              <a:rPr lang="en-US" sz="1800" b="0" strike="noStrike" spc="-1">
                <a:solidFill>
                  <a:srgbClr val="000000"/>
                </a:solidFill>
                <a:latin typeface="Arial"/>
                <a:ea typeface="DejaVu Sans"/>
              </a:rPr>
              <a:t>Java contains the Java Logging API. Different classes of this API can be used to configure the properties of log file. Individual classes can use this logger to write messages to the configured log file</a:t>
            </a:r>
            <a:endParaRPr lang="en-US" sz="1800" b="0" strike="noStrike" spc="-1">
              <a:latin typeface="Arial"/>
            </a:endParaRPr>
          </a:p>
          <a:p>
            <a:pPr marL="216000" indent="-214560">
              <a:lnSpc>
                <a:spcPct val="100000"/>
              </a:lnSpc>
              <a:buClr>
                <a:srgbClr val="000000"/>
              </a:buClr>
              <a:buSzPct val="45000"/>
              <a:buFont typeface="Wingdings" charset="2"/>
              <a:buChar char=""/>
            </a:pPr>
            <a:r>
              <a:rPr lang="en-US" sz="1800" b="0" strike="noStrike" spc="-1">
                <a:solidFill>
                  <a:srgbClr val="000000"/>
                </a:solidFill>
                <a:latin typeface="Arial"/>
                <a:ea typeface="DejaVu Sans"/>
              </a:rPr>
              <a:t>The logger class can be access from  </a:t>
            </a:r>
            <a:r>
              <a:rPr lang="en-US" sz="1800" b="1" strike="noStrike" spc="-1">
                <a:solidFill>
                  <a:srgbClr val="000000"/>
                </a:solidFill>
                <a:latin typeface="Arial"/>
                <a:ea typeface="DejaVu Sans"/>
              </a:rPr>
              <a:t>log4j-1.2.17.jar</a:t>
            </a:r>
            <a:endParaRPr lang="en-US" sz="1800" b="0" strike="noStrike" spc="-1">
              <a:latin typeface="Arial"/>
            </a:endParaRPr>
          </a:p>
          <a:p>
            <a:pPr marL="216000" indent="-214560">
              <a:lnSpc>
                <a:spcPct val="100000"/>
              </a:lnSpc>
              <a:buClr>
                <a:srgbClr val="000000"/>
              </a:buClr>
              <a:buSzPct val="45000"/>
              <a:buFont typeface="Wingdings" charset="2"/>
              <a:buChar char=""/>
            </a:pPr>
            <a:r>
              <a:rPr lang="en-US" sz="1800" b="0" strike="noStrike" spc="-1">
                <a:solidFill>
                  <a:srgbClr val="000000"/>
                </a:solidFill>
                <a:latin typeface="Arial"/>
                <a:ea typeface="DejaVu Sans"/>
              </a:rPr>
              <a:t>Store this jar file in </a:t>
            </a:r>
            <a:r>
              <a:rPr lang="en-US" sz="1800" b="1" strike="noStrike" spc="-1">
                <a:solidFill>
                  <a:srgbClr val="000000"/>
                </a:solidFill>
                <a:latin typeface="Arial"/>
                <a:ea typeface="DejaVu Sans"/>
              </a:rPr>
              <a:t>prj_root/libs</a:t>
            </a:r>
            <a:r>
              <a:rPr lang="en-US" sz="1800" b="0" strike="noStrike" spc="-1">
                <a:solidFill>
                  <a:srgbClr val="000000"/>
                </a:solidFill>
                <a:latin typeface="Arial"/>
                <a:ea typeface="DejaVu Sans"/>
              </a:rPr>
              <a:t> folder</a:t>
            </a:r>
            <a:endParaRPr lang="en-US" sz="1800" b="0" strike="noStrike" spc="-1">
              <a:latin typeface="Arial"/>
            </a:endParaRPr>
          </a:p>
          <a:p>
            <a:pPr marL="216000" indent="-214560">
              <a:lnSpc>
                <a:spcPct val="100000"/>
              </a:lnSpc>
              <a:buClr>
                <a:srgbClr val="000000"/>
              </a:buClr>
              <a:buSzPct val="45000"/>
              <a:buFont typeface="Wingdings" charset="2"/>
              <a:buChar char=""/>
            </a:pPr>
            <a:r>
              <a:rPr lang="en-US" sz="1800" b="0" strike="noStrike" spc="-1">
                <a:solidFill>
                  <a:srgbClr val="000000"/>
                </a:solidFill>
                <a:latin typeface="Arial"/>
                <a:ea typeface="DejaVu Sans"/>
              </a:rPr>
              <a:t>For a project specific requirements, the Logger object requires some configurations like date-time format, path etc.</a:t>
            </a:r>
            <a:endParaRPr lang="en-US" sz="1800" b="0" strike="noStrike" spc="-1">
              <a:latin typeface="Arial"/>
            </a:endParaRPr>
          </a:p>
          <a:p>
            <a:pPr marL="216000" indent="-214560">
              <a:lnSpc>
                <a:spcPct val="100000"/>
              </a:lnSpc>
              <a:buClr>
                <a:srgbClr val="000000"/>
              </a:buClr>
              <a:buSzPct val="45000"/>
              <a:buFont typeface="Wingdings" charset="2"/>
              <a:buChar char=""/>
            </a:pPr>
            <a:r>
              <a:rPr lang="en-US" sz="1800" b="0" strike="noStrike" spc="-1">
                <a:solidFill>
                  <a:srgbClr val="000000"/>
                </a:solidFill>
                <a:latin typeface="Arial"/>
                <a:ea typeface="DejaVu Sans"/>
              </a:rPr>
              <a:t>These properties can be stored in properties file </a:t>
            </a:r>
            <a:r>
              <a:rPr lang="en-US" sz="1800" b="1" strike="noStrike" spc="-1">
                <a:solidFill>
                  <a:srgbClr val="000000"/>
                </a:solidFill>
                <a:latin typeface="Arial"/>
                <a:ea typeface="DejaVu Sans"/>
              </a:rPr>
              <a:t>logger.properties</a:t>
            </a:r>
            <a:r>
              <a:rPr lang="en-US" sz="1800" b="0" strike="noStrike" spc="-1">
                <a:solidFill>
                  <a:srgbClr val="000000"/>
                </a:solidFill>
                <a:latin typeface="Arial"/>
                <a:ea typeface="DejaVu Sans"/>
              </a:rPr>
              <a:t> file in </a:t>
            </a:r>
            <a:r>
              <a:rPr lang="en-US" sz="1800" b="1" strike="noStrike" spc="-1">
                <a:solidFill>
                  <a:srgbClr val="000000"/>
                </a:solidFill>
                <a:latin typeface="Arial"/>
                <a:ea typeface="DejaVu Sans"/>
              </a:rPr>
              <a:t>prj_root/configs/logger/logger.properties</a:t>
            </a:r>
            <a:endParaRPr lang="en-US" sz="1800" b="0" strike="noStrike" spc="-1">
              <a:latin typeface="Arial"/>
            </a:endParaRPr>
          </a:p>
          <a:p>
            <a:pPr marL="216000" indent="-214560">
              <a:lnSpc>
                <a:spcPct val="100000"/>
              </a:lnSpc>
              <a:buClr>
                <a:srgbClr val="000000"/>
              </a:buClr>
              <a:buSzPct val="45000"/>
              <a:buFont typeface="Wingdings" charset="2"/>
              <a:buChar char=""/>
            </a:pPr>
            <a:r>
              <a:rPr lang="en-US" sz="1800" b="0" strike="noStrike" spc="-1">
                <a:solidFill>
                  <a:srgbClr val="000000"/>
                </a:solidFill>
                <a:latin typeface="Arial"/>
                <a:ea typeface="DejaVu Sans"/>
              </a:rPr>
              <a:t>Package </a:t>
            </a:r>
            <a:r>
              <a:rPr lang="en-US" sz="1800" b="1" strike="noStrike" spc="-1">
                <a:solidFill>
                  <a:srgbClr val="000000"/>
                </a:solidFill>
                <a:latin typeface="Arial"/>
                <a:ea typeface="DejaVu Sans"/>
              </a:rPr>
              <a:t>log4j-1.2.17.jar </a:t>
            </a:r>
            <a:r>
              <a:rPr lang="en-US" sz="1800" b="0" strike="noStrike" spc="-1">
                <a:solidFill>
                  <a:srgbClr val="000000"/>
                </a:solidFill>
                <a:latin typeface="Arial"/>
                <a:ea typeface="DejaVu Sans"/>
              </a:rPr>
              <a:t>also contains a class PropertyConfigurator, which can read the logger.properties file and initialize the Logger object</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265"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800" b="0" strike="noStrike" spc="-38">
                <a:solidFill>
                  <a:srgbClr val="404040"/>
                </a:solidFill>
                <a:latin typeface="Calibri Light"/>
                <a:ea typeface="DejaVu Sans"/>
              </a:rPr>
              <a:t>Logger class </a:t>
            </a:r>
            <a:endParaRPr lang="en-US" sz="2800" b="0" strike="noStrike" spc="-1">
              <a:latin typeface="Arial"/>
            </a:endParaRPr>
          </a:p>
        </p:txBody>
      </p:sp>
      <p:sp>
        <p:nvSpPr>
          <p:cNvPr id="266"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
        <p:nvSpPr>
          <p:cNvPr id="267" name="CustomShape 5"/>
          <p:cNvSpPr/>
          <p:nvPr/>
        </p:nvSpPr>
        <p:spPr>
          <a:xfrm>
            <a:off x="183960" y="2345760"/>
            <a:ext cx="8136720" cy="103716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CustomShape 1"/>
          <p:cNvSpPr/>
          <p:nvPr/>
        </p:nvSpPr>
        <p:spPr>
          <a:xfrm>
            <a:off x="7425360" y="4844880"/>
            <a:ext cx="980640" cy="270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711DE74D-EE8E-42E4-9E73-A26B727FD42A}" type="slidenum">
              <a:rPr lang="en-US" sz="790" b="0" strike="noStrike" spc="-1">
                <a:solidFill>
                  <a:srgbClr val="FFFFFF"/>
                </a:solidFill>
                <a:latin typeface="Arial"/>
                <a:ea typeface="Arial"/>
              </a:rPr>
              <a:t>43</a:t>
            </a:fld>
            <a:endParaRPr lang="en-US" sz="790" b="0" strike="noStrike" spc="-1">
              <a:latin typeface="Arial"/>
            </a:endParaRPr>
          </a:p>
        </p:txBody>
      </p:sp>
      <p:sp>
        <p:nvSpPr>
          <p:cNvPr id="269" name="CustomShape 2"/>
          <p:cNvSpPr/>
          <p:nvPr/>
        </p:nvSpPr>
        <p:spPr>
          <a:xfrm>
            <a:off x="182880" y="1280160"/>
            <a:ext cx="8959680" cy="3657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Initialize Logger class object</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Create the Logger class object</a:t>
            </a:r>
            <a:endParaRPr lang="en-US" sz="1900" b="0" strike="noStrike" spc="-1">
              <a:latin typeface="Arial"/>
            </a:endParaRPr>
          </a:p>
          <a:p>
            <a:pPr marL="216000" indent="-214560">
              <a:lnSpc>
                <a:spcPct val="100000"/>
              </a:lnSpc>
              <a:buClr>
                <a:srgbClr val="000000"/>
              </a:buClr>
              <a:buSzPct val="45000"/>
              <a:buFont typeface="Wingdings" charset="2"/>
              <a:buChar char=""/>
            </a:pPr>
            <a:r>
              <a:rPr lang="en-US" sz="1900" b="0" strike="noStrike" spc="-1">
                <a:solidFill>
                  <a:srgbClr val="000000"/>
                </a:solidFill>
                <a:latin typeface="Arial"/>
                <a:ea typeface="DejaVu Sans"/>
              </a:rPr>
              <a:t>Include the path in </a:t>
            </a:r>
            <a:r>
              <a:rPr lang="en-US" sz="1900" b="1" strike="noStrike" spc="-1">
                <a:solidFill>
                  <a:srgbClr val="000000"/>
                </a:solidFill>
                <a:latin typeface="Arial"/>
                <a:ea typeface="DejaVu Sans"/>
              </a:rPr>
              <a:t>logger.properties</a:t>
            </a:r>
            <a:r>
              <a:rPr lang="en-US" sz="1900" b="0" strike="noStrike" spc="-1">
                <a:solidFill>
                  <a:srgbClr val="000000"/>
                </a:solidFill>
                <a:latin typeface="Arial"/>
                <a:ea typeface="DejaVu Sans"/>
              </a:rPr>
              <a:t> file</a:t>
            </a:r>
            <a:endParaRPr lang="en-US" sz="1900" b="0" strike="noStrike" spc="-1">
              <a:latin typeface="Arial"/>
            </a:endParaRPr>
          </a:p>
          <a:p>
            <a:pPr>
              <a:lnSpc>
                <a:spcPct val="100000"/>
              </a:lnSpc>
            </a:pPr>
            <a:endParaRPr lang="en-US" sz="1900" b="0" strike="noStrike" spc="-1">
              <a:latin typeface="Arial"/>
            </a:endParaRPr>
          </a:p>
          <a:p>
            <a:pPr marL="219600" indent="-219240">
              <a:lnSpc>
                <a:spcPct val="100000"/>
              </a:lnSpc>
              <a:buClr>
                <a:srgbClr val="000000"/>
              </a:buClr>
              <a:buFont typeface="Liberation Serif"/>
              <a:buAutoNum type="arabicPeriod" startAt="14"/>
            </a:pPr>
            <a:r>
              <a:rPr lang="en-US" sz="1600" b="0" strike="noStrike" spc="-1">
                <a:solidFill>
                  <a:srgbClr val="000000"/>
                </a:solidFill>
                <a:latin typeface="Arial"/>
                <a:ea typeface="DejaVu Sans"/>
              </a:rPr>
              <a:t> 	Logger logger = Logger.getLogger(NameValidator.class);</a:t>
            </a:r>
            <a:endParaRPr lang="en-US" sz="1600" b="0" strike="noStrike" spc="-1">
              <a:latin typeface="Arial"/>
            </a:endParaRPr>
          </a:p>
          <a:p>
            <a:pPr marL="219600" indent="-219240">
              <a:lnSpc>
                <a:spcPct val="100000"/>
              </a:lnSpc>
              <a:buClr>
                <a:srgbClr val="000000"/>
              </a:buClr>
              <a:buFont typeface="Liberation Serif"/>
              <a:buAutoNum type="arabicPeriod" startAt="14"/>
            </a:pPr>
            <a:r>
              <a:rPr lang="en-US" sz="1600" b="0" strike="noStrike" spc="-1">
                <a:solidFill>
                  <a:srgbClr val="000000"/>
                </a:solidFill>
                <a:latin typeface="Arial"/>
                <a:ea typeface="DejaVu Sans"/>
              </a:rPr>
              <a:t>	PropertyConfigurator.configure(</a:t>
            </a:r>
            <a:r>
              <a:rPr lang="en-US" sz="1300" b="0" strike="noStrike" spc="-1">
                <a:solidFill>
                  <a:srgbClr val="000000"/>
                </a:solidFill>
                <a:latin typeface="Arial"/>
                <a:ea typeface="DejaVu Sans"/>
              </a:rPr>
              <a:t>"&lt;absolute path to project folder &gt;/configs/logger/logger.properties"</a:t>
            </a:r>
            <a:r>
              <a:rPr lang="en-US" sz="1600" b="0" strike="noStrike" spc="-1">
                <a:solidFill>
                  <a:srgbClr val="000000"/>
                </a:solidFill>
                <a:latin typeface="Arial"/>
                <a:ea typeface="DejaVu Sans"/>
              </a:rPr>
              <a:t>);</a:t>
            </a:r>
            <a:endParaRPr lang="en-US" sz="1600" b="0" strike="noStrike" spc="-1">
              <a:latin typeface="Arial"/>
            </a:endParaRPr>
          </a:p>
          <a:p>
            <a:pPr marL="219600" indent="-219240">
              <a:lnSpc>
                <a:spcPct val="100000"/>
              </a:lnSpc>
              <a:buClr>
                <a:srgbClr val="000000"/>
              </a:buClr>
              <a:buFont typeface="Liberation Serif"/>
              <a:buAutoNum type="arabicPeriod" startAt="14"/>
            </a:pPr>
            <a:r>
              <a:rPr lang="en-US" sz="1600" b="0" strike="noStrike" spc="-1">
                <a:solidFill>
                  <a:srgbClr val="000000"/>
                </a:solidFill>
                <a:latin typeface="Arial"/>
                <a:ea typeface="DejaVu Sans"/>
              </a:rPr>
              <a:t>// In the catch block	</a:t>
            </a:r>
            <a:endParaRPr lang="en-US" sz="1600" b="0" strike="noStrike" spc="-1">
              <a:latin typeface="Arial"/>
            </a:endParaRPr>
          </a:p>
          <a:p>
            <a:pPr marL="219600" indent="-219240">
              <a:lnSpc>
                <a:spcPct val="100000"/>
              </a:lnSpc>
              <a:buClr>
                <a:srgbClr val="000000"/>
              </a:buClr>
              <a:buFont typeface="Liberation Serif"/>
              <a:buAutoNum type="arabicPeriod" startAt="24"/>
            </a:pPr>
            <a:r>
              <a:rPr lang="en-US" sz="1600" b="0" strike="noStrike" spc="-1">
                <a:solidFill>
                  <a:srgbClr val="000000"/>
                </a:solidFill>
                <a:latin typeface="Arial"/>
                <a:ea typeface="DejaVu Sans"/>
              </a:rPr>
              <a:t> 	catch(EmptyFileNameException e){ </a:t>
            </a:r>
            <a:endParaRPr lang="en-US" sz="1600" b="0" strike="noStrike" spc="-1">
              <a:latin typeface="Arial"/>
            </a:endParaRPr>
          </a:p>
          <a:p>
            <a:pPr marL="219600" indent="-219240">
              <a:lnSpc>
                <a:spcPct val="100000"/>
              </a:lnSpc>
              <a:buClr>
                <a:srgbClr val="000000"/>
              </a:buClr>
              <a:buFont typeface="Liberation Serif"/>
              <a:buAutoNum type="arabicPeriod" startAt="14"/>
            </a:pPr>
            <a:r>
              <a:rPr lang="en-US" sz="1600" b="0" strike="noStrike" spc="-1">
                <a:solidFill>
                  <a:srgbClr val="000000"/>
                </a:solidFill>
                <a:latin typeface="Arial"/>
                <a:ea typeface="DejaVu Sans"/>
              </a:rPr>
              <a:t>			logger.error("\n \n"+e+prop.getProperty("emptyNameMessage")+"\n");</a:t>
            </a:r>
            <a:endParaRPr lang="en-US" sz="1600" b="0" strike="noStrike" spc="-1">
              <a:latin typeface="Arial"/>
            </a:endParaRPr>
          </a:p>
          <a:p>
            <a:pPr marL="219600" indent="-219240">
              <a:lnSpc>
                <a:spcPct val="100000"/>
              </a:lnSpc>
              <a:buClr>
                <a:srgbClr val="000000"/>
              </a:buClr>
              <a:buFont typeface="Liberation Serif"/>
              <a:buAutoNum type="arabicPeriod" startAt="14"/>
            </a:pPr>
            <a:r>
              <a:rPr lang="en-US" sz="1600" b="0" strike="noStrike" spc="-1">
                <a:solidFill>
                  <a:srgbClr val="000000"/>
                </a:solidFill>
                <a:latin typeface="Arial"/>
                <a:ea typeface="DejaVu Sans"/>
              </a:rPr>
              <a:t>			return false;</a:t>
            </a:r>
            <a:endParaRPr lang="en-US" sz="1600" b="0" strike="noStrike" spc="-1">
              <a:latin typeface="Arial"/>
            </a:endParaRPr>
          </a:p>
          <a:p>
            <a:pPr marL="219600" indent="-219240">
              <a:lnSpc>
                <a:spcPct val="100000"/>
              </a:lnSpc>
              <a:buClr>
                <a:srgbClr val="000000"/>
              </a:buClr>
              <a:buFont typeface="Liberation Serif"/>
              <a:buAutoNum type="arabicPeriod" startAt="14"/>
            </a:pPr>
            <a:r>
              <a:rPr lang="en-US" sz="1600" b="0" strike="noStrike" spc="-1">
                <a:solidFill>
                  <a:srgbClr val="000000"/>
                </a:solidFill>
                <a:latin typeface="Arial"/>
                <a:ea typeface="DejaVu Sans"/>
              </a:rPr>
              <a:t>		}</a:t>
            </a:r>
            <a:endParaRPr lang="en-US" sz="1600" b="0" strike="noStrike" spc="-1">
              <a:latin typeface="Arial"/>
            </a:endParaRPr>
          </a:p>
          <a:p>
            <a:pPr marL="216000" indent="-215640">
              <a:lnSpc>
                <a:spcPct val="100000"/>
              </a:lnSpc>
              <a:buClr>
                <a:srgbClr val="000000"/>
              </a:buClr>
              <a:buFont typeface="Liberation Serif"/>
              <a:buAutoNum type="arabicPeriod" startAt="54"/>
            </a:pPr>
            <a:r>
              <a:rPr lang="en-US" sz="1800" b="0" strike="noStrike" spc="-1">
                <a:solidFill>
                  <a:srgbClr val="000000"/>
                </a:solidFill>
                <a:latin typeface="Arial"/>
                <a:ea typeface="DejaVu Sans"/>
              </a:rPr>
              <a:t>		</a:t>
            </a:r>
            <a:endParaRPr lang="en-US" sz="1800" b="0" strike="noStrike" spc="-1">
              <a:latin typeface="Arial"/>
            </a:endParaRPr>
          </a:p>
        </p:txBody>
      </p:sp>
      <p:sp>
        <p:nvSpPr>
          <p:cNvPr id="270" name="CustomShape 3"/>
          <p:cNvSpPr/>
          <p:nvPr/>
        </p:nvSpPr>
        <p:spPr>
          <a:xfrm>
            <a:off x="182880" y="640080"/>
            <a:ext cx="8136720" cy="103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2400" b="0" strike="noStrike" spc="-38">
                <a:solidFill>
                  <a:srgbClr val="404040"/>
                </a:solidFill>
                <a:latin typeface="Calibri Light"/>
                <a:ea typeface="DejaVu Sans"/>
              </a:rPr>
              <a:t>Changes in NameValidator class to add Logger</a:t>
            </a:r>
            <a:endParaRPr lang="en-US" sz="2400" b="0" strike="noStrike" spc="-1">
              <a:latin typeface="Arial"/>
            </a:endParaRPr>
          </a:p>
        </p:txBody>
      </p:sp>
      <p:sp>
        <p:nvSpPr>
          <p:cNvPr id="271" name="CustomShape 4"/>
          <p:cNvSpPr/>
          <p:nvPr/>
        </p:nvSpPr>
        <p:spPr>
          <a:xfrm>
            <a:off x="114840" y="1828800"/>
            <a:ext cx="8844840" cy="3270960"/>
          </a:xfrm>
          <a:prstGeom prst="rect">
            <a:avLst/>
          </a:prstGeom>
          <a:noFill/>
          <a:ln>
            <a:noFill/>
          </a:ln>
        </p:spPr>
        <p:style>
          <a:lnRef idx="0">
            <a:scrgbClr r="0" g="0" b="0"/>
          </a:lnRef>
          <a:fillRef idx="0">
            <a:scrgbClr r="0" g="0" b="0"/>
          </a:fillRef>
          <a:effectRef idx="0">
            <a:scrgbClr r="0" g="0" b="0"/>
          </a:effectRef>
          <a:fontRef idx="minor"/>
        </p:style>
      </p:sp>
      <p:sp>
        <p:nvSpPr>
          <p:cNvPr id="272" name="CustomShape 5"/>
          <p:cNvSpPr/>
          <p:nvPr/>
        </p:nvSpPr>
        <p:spPr>
          <a:xfrm>
            <a:off x="5303520" y="1097280"/>
            <a:ext cx="3200040" cy="914040"/>
          </a:xfrm>
          <a:prstGeom prst="wedgeRectCallout">
            <a:avLst>
              <a:gd name="adj1" fmla="val -48046"/>
              <a:gd name="adj2" fmla="val 98087"/>
            </a:avLst>
          </a:prstGeom>
          <a:solidFill>
            <a:srgbClr val="FFFFF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For identification that entry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in log file is made by </a:t>
            </a:r>
            <a:endParaRPr lang="en-US" sz="1800" b="0" strike="noStrike" spc="-1">
              <a:latin typeface="Arial"/>
            </a:endParaRPr>
          </a:p>
          <a:p>
            <a:pPr algn="ctr">
              <a:lnSpc>
                <a:spcPct val="100000"/>
              </a:lnSpc>
            </a:pPr>
            <a:r>
              <a:rPr lang="en-US" sz="1800" b="0" strike="noStrike" spc="-1">
                <a:solidFill>
                  <a:srgbClr val="000000"/>
                </a:solidFill>
                <a:latin typeface="Arial"/>
                <a:ea typeface="DejaVu Sans"/>
              </a:rPr>
              <a:t>NameValidator class</a:t>
            </a:r>
            <a:endParaRPr lang="en-US" sz="1800" b="0" strike="noStrike" spc="-1">
              <a:latin typeface="Arial"/>
            </a:endParaRPr>
          </a:p>
        </p:txBody>
      </p:sp>
      <p:sp>
        <p:nvSpPr>
          <p:cNvPr id="273" name="CustomShape 6"/>
          <p:cNvSpPr/>
          <p:nvPr/>
        </p:nvSpPr>
        <p:spPr>
          <a:xfrm>
            <a:off x="274680" y="4115160"/>
            <a:ext cx="8685360" cy="914040"/>
          </a:xfrm>
          <a:prstGeom prst="rect">
            <a:avLst/>
          </a:prstGeom>
          <a:noFill/>
          <a:ln>
            <a:solidFill>
              <a:srgbClr val="A7074B"/>
            </a:solid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000000"/>
              </a:buClr>
              <a:buSzPct val="45000"/>
              <a:buFont typeface="Wingdings" charset="2"/>
              <a:buChar char=""/>
            </a:pPr>
            <a:r>
              <a:rPr lang="en-US" sz="1600" b="1" strike="noStrike" spc="-1">
                <a:solidFill>
                  <a:srgbClr val="000000"/>
                </a:solidFill>
                <a:latin typeface="Arial"/>
                <a:ea typeface="DejaVu Sans"/>
              </a:rPr>
              <a:t>For Compilation</a:t>
            </a:r>
            <a:r>
              <a:rPr lang="en-US" sz="1600" b="0" strike="noStrike" spc="-1">
                <a:solidFill>
                  <a:srgbClr val="000000"/>
                </a:solidFill>
                <a:latin typeface="Arial"/>
                <a:ea typeface="DejaVu Sans"/>
              </a:rPr>
              <a:t>, go to project root folder:</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0" strike="noStrike" spc="-1">
                <a:solidFill>
                  <a:srgbClr val="000000"/>
                </a:solidFill>
                <a:latin typeface="Arial"/>
                <a:ea typeface="DejaVu Sans"/>
              </a:rPr>
              <a:t>javac -cp classes/:libs/log4j-1.2.17.jar -d classes/ src/com/ncu/validators/valid12.java</a:t>
            </a:r>
            <a:endParaRPr lang="en-US" sz="1600" b="0" strike="noStrike" spc="-1">
              <a:latin typeface="Arial"/>
            </a:endParaRPr>
          </a:p>
          <a:p>
            <a:pPr marL="216000" indent="-215640">
              <a:lnSpc>
                <a:spcPct val="100000"/>
              </a:lnSpc>
              <a:buClr>
                <a:srgbClr val="000000"/>
              </a:buClr>
              <a:buSzPct val="45000"/>
              <a:buFont typeface="Wingdings" charset="2"/>
              <a:buChar char=""/>
            </a:pPr>
            <a:r>
              <a:rPr lang="en-US" sz="1600" b="1" strike="noStrike" spc="-1">
                <a:solidFill>
                  <a:srgbClr val="000000"/>
                </a:solidFill>
                <a:latin typeface="Arial"/>
                <a:ea typeface="DejaVu Sans"/>
              </a:rPr>
              <a:t>TO RUN:</a:t>
            </a:r>
            <a:r>
              <a:rPr lang="en-US" sz="1600" b="0" strike="noStrike" spc="-1">
                <a:solidFill>
                  <a:srgbClr val="000000"/>
                </a:solidFill>
                <a:latin typeface="Arial"/>
                <a:ea typeface="DejaVu Sans"/>
              </a:rPr>
              <a:t> java -cp classes/ com.ncu.validators.testnamevalidator</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ustomShape 1"/>
          <p:cNvSpPr/>
          <p:nvPr/>
        </p:nvSpPr>
        <p:spPr>
          <a:xfrm>
            <a:off x="1213920" y="1400760"/>
            <a:ext cx="6556680" cy="115776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lstStyle/>
          <a:p>
            <a:pPr>
              <a:lnSpc>
                <a:spcPct val="85000"/>
              </a:lnSpc>
            </a:pPr>
            <a:r>
              <a:rPr lang="en-US" sz="4000" b="0" strike="noStrike" spc="-38">
                <a:solidFill>
                  <a:srgbClr val="404040"/>
                </a:solidFill>
                <a:latin typeface="Adobe Garamond Pro"/>
                <a:ea typeface="DejaVu Sans"/>
              </a:rPr>
              <a:t>CSVProcessor class</a:t>
            </a:r>
            <a:endParaRPr lang="en-US" sz="4000" b="0" strike="noStrike" spc="-1">
              <a:latin typeface="Arial"/>
            </a:endParaRPr>
          </a:p>
        </p:txBody>
      </p:sp>
      <p:sp>
        <p:nvSpPr>
          <p:cNvPr id="275" name="CustomShape 2"/>
          <p:cNvSpPr/>
          <p:nvPr/>
        </p:nvSpPr>
        <p:spPr>
          <a:xfrm>
            <a:off x="1280160" y="3108960"/>
            <a:ext cx="6556680" cy="115776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lstStyle/>
          <a:p>
            <a:pPr>
              <a:lnSpc>
                <a:spcPct val="85000"/>
              </a:lnSpc>
            </a:pPr>
            <a:r>
              <a:rPr lang="en-US" sz="4000" b="0" strike="noStrike" spc="-38">
                <a:solidFill>
                  <a:srgbClr val="404040"/>
                </a:solidFill>
                <a:latin typeface="Adobe Garamond Pro"/>
                <a:ea typeface="DejaVu Sans"/>
              </a:rPr>
              <a:t>Processes csv file to convert it to json format</a:t>
            </a:r>
            <a:endParaRPr lang="en-US" sz="40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DejaVu Sans"/>
              </a:rPr>
              <a:t>CSV file example</a:t>
            </a:r>
            <a:endParaRPr lang="en-US" sz="3600" b="0" strike="noStrike" spc="-1">
              <a:latin typeface="Arial"/>
            </a:endParaRPr>
          </a:p>
        </p:txBody>
      </p:sp>
      <p:sp>
        <p:nvSpPr>
          <p:cNvPr id="277" name="CustomShape 2"/>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BDF211AD-47E5-400C-A01F-F25433B9CFF9}" type="slidenum">
              <a:rPr lang="en-US" sz="790" b="0" strike="noStrike" spc="-1">
                <a:solidFill>
                  <a:srgbClr val="FFFFFF"/>
                </a:solidFill>
                <a:latin typeface="Arial"/>
                <a:ea typeface="Arial"/>
              </a:rPr>
              <a:t>45</a:t>
            </a:fld>
            <a:endParaRPr lang="en-US" sz="790" b="0" strike="noStrike" spc="-1">
              <a:latin typeface="Arial"/>
            </a:endParaRPr>
          </a:p>
        </p:txBody>
      </p:sp>
      <p:sp>
        <p:nvSpPr>
          <p:cNvPr id="278" name="CustomShape 3"/>
          <p:cNvSpPr/>
          <p:nvPr/>
        </p:nvSpPr>
        <p:spPr>
          <a:xfrm>
            <a:off x="339120" y="1554480"/>
            <a:ext cx="8620200" cy="2924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Arial"/>
                <a:ea typeface="DejaVu Sans"/>
              </a:rPr>
              <a:t>Section Name,Menu Name,Channel ID,User id </a:t>
            </a:r>
            <a:endParaRPr lang="en-US" sz="1800" b="0" strike="noStrike" spc="-1">
              <a:latin typeface="Arial"/>
            </a:endParaRPr>
          </a:p>
          <a:p>
            <a:pPr>
              <a:lnSpc>
                <a:spcPct val="100000"/>
              </a:lnSpc>
            </a:pPr>
            <a:r>
              <a:rPr lang="en-US" sz="1800" b="0" strike="noStrike" spc="-1">
                <a:solidFill>
                  <a:srgbClr val="000000"/>
                </a:solidFill>
                <a:latin typeface="Arial"/>
                <a:ea typeface="DejaVu Sans"/>
              </a:rPr>
              <a:t>Marketing,Joe Smith,3711,kcraig</a:t>
            </a:r>
            <a:endParaRPr lang="en-US" sz="1800" b="0" strike="noStrike" spc="-1">
              <a:latin typeface="Arial"/>
            </a:endParaRPr>
          </a:p>
          <a:p>
            <a:pPr>
              <a:lnSpc>
                <a:spcPct val="100000"/>
              </a:lnSpc>
            </a:pPr>
            <a:r>
              <a:rPr lang="en-US" sz="1800" b="0" strike="noStrike" spc="-1">
                <a:solidFill>
                  <a:srgbClr val="000000"/>
                </a:solidFill>
                <a:latin typeface="Arial"/>
                <a:ea typeface="DejaVu Sans"/>
              </a:rPr>
              <a:t>Overseas,Jason Jones,2553,vcraig</a:t>
            </a:r>
            <a:endParaRPr lang="en-US" sz="1800" b="0" strike="noStrike" spc="-1">
              <a:latin typeface="Arial"/>
            </a:endParaRPr>
          </a:p>
          <a:p>
            <a:pPr>
              <a:lnSpc>
                <a:spcPct val="100000"/>
              </a:lnSpc>
            </a:pPr>
            <a:r>
              <a:rPr lang="en-US" sz="1800" b="0" strike="noStrike" spc="-1">
                <a:solidFill>
                  <a:srgbClr val="000000"/>
                </a:solidFill>
                <a:latin typeface="Arial"/>
                <a:ea typeface="DejaVu Sans"/>
              </a:rPr>
              <a:t>Accounts,Rick Jones,7477,jcraig</a:t>
            </a:r>
            <a:endParaRPr lang="en-US" sz="1800" b="0" strike="noStrike" spc="-1">
              <a:latin typeface="Arial"/>
            </a:endParaRPr>
          </a:p>
          <a:p>
            <a:pPr>
              <a:lnSpc>
                <a:spcPct val="100000"/>
              </a:lnSpc>
            </a:pPr>
            <a:r>
              <a:rPr lang="en-US" sz="1800" b="0" strike="noStrike" spc="-1">
                <a:solidFill>
                  <a:srgbClr val="000000"/>
                </a:solidFill>
                <a:latin typeface="Arial"/>
                <a:ea typeface="DejaVu Sans"/>
              </a:rPr>
              <a:t>Marketing,Jessica Rogers,3486,rcraig</a:t>
            </a:r>
            <a:endParaRPr lang="en-US" sz="1800" b="0" strike="noStrike" spc="-1">
              <a:latin typeface="Arial"/>
            </a:endParaRPr>
          </a:p>
          <a:p>
            <a:pPr>
              <a:lnSpc>
                <a:spcPct val="100000"/>
              </a:lnSpc>
            </a:pPr>
            <a:r>
              <a:rPr lang="en-US" sz="1800" b="0" strike="noStrike" spc="-1">
                <a:solidFill>
                  <a:srgbClr val="000000"/>
                </a:solidFill>
                <a:latin typeface="Arial"/>
                <a:ea typeface="DejaVu Sans"/>
              </a:rPr>
              <a:t>Accounts,Zachery Smith,2574,zcraig</a:t>
            </a:r>
            <a:endParaRPr lang="en-US" sz="1800" b="0" strike="noStrike" spc="-1">
              <a:latin typeface="Arial"/>
            </a:endParaRPr>
          </a:p>
        </p:txBody>
      </p:sp>
      <p:sp>
        <p:nvSpPr>
          <p:cNvPr id="279" name="CustomShape 4"/>
          <p:cNvSpPr/>
          <p:nvPr/>
        </p:nvSpPr>
        <p:spPr>
          <a:xfrm rot="21595800">
            <a:off x="5672880" y="1300320"/>
            <a:ext cx="1918080" cy="419040"/>
          </a:xfrm>
          <a:prstGeom prst="wedgeRectCallout">
            <a:avLst>
              <a:gd name="adj1" fmla="val -71990"/>
              <a:gd name="adj2" fmla="val 41194"/>
            </a:avLst>
          </a:prstGeom>
          <a:no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Header Row</a:t>
            </a:r>
            <a:endParaRPr lang="en-US" sz="1800" b="0" strike="noStrike" spc="-1">
              <a:latin typeface="Arial"/>
            </a:endParaRPr>
          </a:p>
        </p:txBody>
      </p:sp>
      <p:sp>
        <p:nvSpPr>
          <p:cNvPr id="280" name="CustomShape 5"/>
          <p:cNvSpPr/>
          <p:nvPr/>
        </p:nvSpPr>
        <p:spPr>
          <a:xfrm rot="21595800">
            <a:off x="5118120" y="1919520"/>
            <a:ext cx="1918080" cy="547920"/>
          </a:xfrm>
          <a:prstGeom prst="wedgeRectCallout">
            <a:avLst>
              <a:gd name="adj1" fmla="val -118203"/>
              <a:gd name="adj2" fmla="val -39856"/>
            </a:avLst>
          </a:prstGeom>
          <a:no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First Record</a:t>
            </a:r>
            <a:endParaRPr lang="en-US" sz="1800" b="0" strike="noStrike" spc="-1">
              <a:latin typeface="Arial"/>
            </a:endParaRPr>
          </a:p>
        </p:txBody>
      </p:sp>
      <p:sp>
        <p:nvSpPr>
          <p:cNvPr id="281" name="CustomShape 6"/>
          <p:cNvSpPr/>
          <p:nvPr/>
        </p:nvSpPr>
        <p:spPr>
          <a:xfrm rot="21595800">
            <a:off x="5225760" y="2620800"/>
            <a:ext cx="1918080" cy="547920"/>
          </a:xfrm>
          <a:prstGeom prst="wedgeRectCallout">
            <a:avLst>
              <a:gd name="adj1" fmla="val -95064"/>
              <a:gd name="adj2" fmla="val -96527"/>
            </a:avLst>
          </a:prstGeom>
          <a:no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lnSpc>
                <a:spcPct val="100000"/>
              </a:lnSpc>
            </a:pPr>
            <a:r>
              <a:rPr lang="en-US" sz="1800" b="0" strike="noStrike" spc="-1">
                <a:solidFill>
                  <a:srgbClr val="000000"/>
                </a:solidFill>
                <a:latin typeface="Arial"/>
                <a:ea typeface="DejaVu Sans"/>
              </a:rPr>
              <a:t>Second Record</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DejaVu Sans"/>
              </a:rPr>
              <a:t>Json file example</a:t>
            </a:r>
            <a:endParaRPr lang="en-US" sz="3600" b="0" strike="noStrike" spc="-1">
              <a:latin typeface="Arial"/>
            </a:endParaRPr>
          </a:p>
        </p:txBody>
      </p:sp>
      <p:sp>
        <p:nvSpPr>
          <p:cNvPr id="283" name="CustomShape 2"/>
          <p:cNvSpPr/>
          <p:nvPr/>
        </p:nvSpPr>
        <p:spPr>
          <a:xfrm>
            <a:off x="822960" y="1384200"/>
            <a:ext cx="7541640" cy="301536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“Section Nane”: “Marketing”</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“Menu Name”: “Joe Smith”</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“Channel ID”: “3711”</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“User id”: “kcraig”</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“Section Nane”: “Overseas”</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“Menu Name”: “Jason Jones”</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“Channel ID”: “2553”</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“User id”: “vcraig”</a:t>
            </a: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a:t>
            </a:r>
            <a:endParaRPr lang="en-US" sz="1500" b="0" strike="noStrike" spc="-1">
              <a:latin typeface="Arial"/>
            </a:endParaRPr>
          </a:p>
        </p:txBody>
      </p:sp>
      <p:sp>
        <p:nvSpPr>
          <p:cNvPr id="284"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2EE95616-D69E-457D-ACF2-8B316E577B6B}" type="slidenum">
              <a:rPr lang="en-US" sz="790" b="0" strike="noStrike" spc="-1">
                <a:solidFill>
                  <a:srgbClr val="FFFFFF"/>
                </a:solidFill>
                <a:latin typeface="Arial"/>
                <a:ea typeface="Arial"/>
              </a:rPr>
              <a:t>46</a:t>
            </a:fld>
            <a:endParaRPr lang="en-US" sz="79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CustomShape 1"/>
          <p:cNvSpPr/>
          <p:nvPr/>
        </p:nvSpPr>
        <p:spPr>
          <a:xfrm>
            <a:off x="731520" y="183600"/>
            <a:ext cx="7541640" cy="455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r>
              <a:rPr lang="en-US" sz="1400" b="0" strike="noStrike" spc="-1">
                <a:solidFill>
                  <a:srgbClr val="000000"/>
                </a:solidFill>
                <a:latin typeface="Arial"/>
                <a:ea typeface="Arial"/>
              </a:rPr>
              <a:t>CSVProcessor class</a:t>
            </a:r>
            <a:r>
              <a:t/>
            </a:r>
            <a:br/>
            <a:r>
              <a:rPr lang="en-US" sz="1500" b="0" strike="noStrike" spc="-1">
                <a:solidFill>
                  <a:srgbClr val="404040"/>
                </a:solidFill>
                <a:latin typeface="Calibri"/>
                <a:ea typeface="Arial"/>
              </a:rPr>
              <a:t>This class converts the format of csv file to json format</a:t>
            </a:r>
            <a:endParaRPr lang="en-US" sz="1500" b="0" strike="noStrike" spc="-1">
              <a:latin typeface="Arial"/>
            </a:endParaRPr>
          </a:p>
        </p:txBody>
      </p:sp>
      <p:sp>
        <p:nvSpPr>
          <p:cNvPr id="286" name="CustomShape 2"/>
          <p:cNvSpPr/>
          <p:nvPr/>
        </p:nvSpPr>
        <p:spPr>
          <a:xfrm>
            <a:off x="777600" y="953640"/>
            <a:ext cx="8274600" cy="387432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marL="68760" indent="-66600">
              <a:lnSpc>
                <a:spcPct val="90000"/>
              </a:lnSpc>
              <a:spcBef>
                <a:spcPts val="575"/>
              </a:spcBef>
              <a:buClr>
                <a:srgbClr val="E48312"/>
              </a:buClr>
              <a:buFont typeface="Liberation Serif"/>
              <a:buAutoNum type="arabicPeriod"/>
            </a:pPr>
            <a:r>
              <a:rPr lang="en-US" sz="1500" b="0" strike="noStrike" spc="-1">
                <a:solidFill>
                  <a:srgbClr val="404040"/>
                </a:solidFill>
                <a:latin typeface="Calibri"/>
                <a:ea typeface="DejaVu Sans"/>
              </a:rPr>
              <a:t>Algorithm</a:t>
            </a:r>
            <a:endParaRPr lang="en-US" sz="1500" b="0" strike="noStrike" spc="-1">
              <a:latin typeface="Arial"/>
            </a:endParaRPr>
          </a:p>
          <a:p>
            <a:pPr marL="68760" indent="-66600">
              <a:lnSpc>
                <a:spcPct val="90000"/>
              </a:lnSpc>
              <a:spcBef>
                <a:spcPts val="575"/>
              </a:spcBef>
              <a:buClr>
                <a:srgbClr val="E48312"/>
              </a:buClr>
              <a:buFont typeface="Liberation Serif"/>
              <a:buAutoNum type="arabicPeriod"/>
            </a:pPr>
            <a:r>
              <a:rPr lang="en-US" sz="1500" b="0" strike="noStrike" spc="-1">
                <a:solidFill>
                  <a:srgbClr val="404040"/>
                </a:solidFill>
                <a:latin typeface="Calibri"/>
                <a:ea typeface="DejaVu Sans"/>
              </a:rPr>
              <a:t>     Open csv file in read mode</a:t>
            </a:r>
            <a:endParaRPr lang="en-US" sz="1500" b="0" strike="noStrike" spc="-1">
              <a:latin typeface="Arial"/>
            </a:endParaRPr>
          </a:p>
          <a:p>
            <a:pPr marL="68760" indent="-66600">
              <a:lnSpc>
                <a:spcPct val="90000"/>
              </a:lnSpc>
              <a:spcBef>
                <a:spcPts val="575"/>
              </a:spcBef>
              <a:buClr>
                <a:srgbClr val="E48312"/>
              </a:buClr>
              <a:buFont typeface="Liberation Serif"/>
              <a:buAutoNum type="arabicPeriod"/>
            </a:pPr>
            <a:r>
              <a:rPr lang="en-US" sz="1500" b="0" strike="noStrike" spc="-1">
                <a:solidFill>
                  <a:srgbClr val="404040"/>
                </a:solidFill>
                <a:latin typeface="Calibri"/>
                <a:ea typeface="DejaVu Sans"/>
              </a:rPr>
              <a:t>     Read header line from csv file and store in array T</a:t>
            </a:r>
            <a:endParaRPr lang="en-US" sz="1500" b="0" strike="noStrike" spc="-1">
              <a:latin typeface="Arial"/>
            </a:endParaRPr>
          </a:p>
          <a:p>
            <a:pPr marL="68760" indent="-66600">
              <a:lnSpc>
                <a:spcPct val="90000"/>
              </a:lnSpc>
              <a:spcBef>
                <a:spcPts val="575"/>
              </a:spcBef>
              <a:buClr>
                <a:srgbClr val="E48312"/>
              </a:buClr>
              <a:buFont typeface="Liberation Serif"/>
              <a:buAutoNum type="arabicPeriod"/>
            </a:pPr>
            <a:r>
              <a:rPr lang="en-US" sz="1500" b="0" strike="noStrike" spc="-1">
                <a:solidFill>
                  <a:srgbClr val="404040"/>
                </a:solidFill>
                <a:latin typeface="Calibri"/>
                <a:ea typeface="DejaVu Sans"/>
              </a:rPr>
              <a:t>     // now array T will have each attribute title as array elements</a:t>
            </a:r>
            <a:endParaRPr lang="en-US" sz="1500" b="0" strike="noStrike" spc="-1">
              <a:latin typeface="Arial"/>
            </a:endParaRPr>
          </a:p>
          <a:p>
            <a:pPr marL="68760" indent="-66600">
              <a:lnSpc>
                <a:spcPct val="90000"/>
              </a:lnSpc>
              <a:spcBef>
                <a:spcPts val="575"/>
              </a:spcBef>
              <a:buClr>
                <a:srgbClr val="E48312"/>
              </a:buClr>
              <a:buFont typeface="Liberation Serif"/>
              <a:buAutoNum type="arabicPeriod"/>
            </a:pPr>
            <a:r>
              <a:rPr lang="en-US" sz="1500" b="0" strike="noStrike" spc="-1">
                <a:solidFill>
                  <a:srgbClr val="404040"/>
                </a:solidFill>
                <a:latin typeface="Calibri"/>
                <a:ea typeface="DejaVu Sans"/>
              </a:rPr>
              <a:t>     For each line in csv file</a:t>
            </a:r>
            <a:endParaRPr lang="en-US" sz="15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DejaVu Sans"/>
              </a:rPr>
              <a:t>      	Split the line by separator commas ( ‘ , ’ ) and store it in an array L </a:t>
            </a:r>
            <a:endParaRPr lang="en-US" sz="14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DejaVu Sans"/>
              </a:rPr>
              <a:t> 	         // now array L will have each attribute value as array elements</a:t>
            </a:r>
            <a:endParaRPr lang="en-US" sz="14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DejaVu Sans"/>
              </a:rPr>
              <a:t>  	For i = 1 to length(T)</a:t>
            </a:r>
            <a:endParaRPr lang="en-US" sz="14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Arial"/>
              </a:rPr>
              <a:t> 		P = P + {T[i] : L[i],}      </a:t>
            </a:r>
            <a:endParaRPr lang="en-US" sz="14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Arial"/>
              </a:rPr>
              <a:t> 	//make pair of header title stored in T with respective data value stored in L and append new pair P </a:t>
            </a:r>
            <a:endParaRPr lang="en-US" sz="14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Arial"/>
              </a:rPr>
              <a:t> 	Add P to an array J</a:t>
            </a:r>
            <a:endParaRPr lang="en-US" sz="1400" b="0" strike="noStrike" spc="-1">
              <a:latin typeface="Arial"/>
            </a:endParaRPr>
          </a:p>
          <a:p>
            <a:pPr marL="68760" indent="-66600">
              <a:lnSpc>
                <a:spcPct val="90000"/>
              </a:lnSpc>
              <a:spcBef>
                <a:spcPts val="575"/>
              </a:spcBef>
              <a:buClr>
                <a:srgbClr val="E48312"/>
              </a:buClr>
              <a:buFont typeface="Liberation Serif"/>
              <a:buAutoNum type="arabicPeriod"/>
            </a:pPr>
            <a:r>
              <a:rPr lang="en-US" sz="1400" b="0" strike="noStrike" spc="-1">
                <a:solidFill>
                  <a:srgbClr val="404040"/>
                </a:solidFill>
                <a:latin typeface="Calibri"/>
                <a:ea typeface="Arial"/>
              </a:rPr>
              <a:t> </a:t>
            </a:r>
            <a:r>
              <a:rPr lang="en-US" sz="1300" b="0" strike="noStrike" spc="-1">
                <a:solidFill>
                  <a:srgbClr val="404040"/>
                </a:solidFill>
                <a:latin typeface="Calibri"/>
                <a:ea typeface="Arial"/>
              </a:rPr>
              <a:t>Write J to a new json file</a:t>
            </a:r>
            <a:endParaRPr lang="en-US" sz="1300" b="0" strike="noStrike" spc="-1">
              <a:latin typeface="Arial"/>
            </a:endParaRPr>
          </a:p>
        </p:txBody>
      </p:sp>
      <p:sp>
        <p:nvSpPr>
          <p:cNvPr id="287"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7119A86B-0DD3-4C25-91BD-4FCF899C3AF3}" type="slidenum">
              <a:rPr lang="en-US" sz="790" b="0" strike="noStrike" spc="-1">
                <a:solidFill>
                  <a:srgbClr val="FFFFFF"/>
                </a:solidFill>
                <a:latin typeface="Arial"/>
                <a:ea typeface="Arial"/>
              </a:rPr>
              <a:t>47</a:t>
            </a:fld>
            <a:endParaRPr lang="en-US" sz="79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CustomShape 1"/>
          <p:cNvSpPr/>
          <p:nvPr/>
        </p:nvSpPr>
        <p:spPr>
          <a:xfrm>
            <a:off x="777600" y="91440"/>
            <a:ext cx="7541640" cy="1085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DejaVu Sans"/>
              </a:rPr>
              <a:t>Read header line from csv file</a:t>
            </a:r>
            <a:endParaRPr lang="en-US" sz="3600" b="0" strike="noStrike" spc="-1">
              <a:latin typeface="Arial"/>
            </a:endParaRPr>
          </a:p>
        </p:txBody>
      </p:sp>
      <p:sp>
        <p:nvSpPr>
          <p:cNvPr id="289" name="CustomShape 2"/>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007CD5F1-D48B-4C87-B3C2-FC6C3FFF0C69}" type="slidenum">
              <a:rPr lang="en-US" sz="790" b="0" strike="noStrike" spc="-1">
                <a:solidFill>
                  <a:srgbClr val="FFFFFF"/>
                </a:solidFill>
                <a:latin typeface="Arial"/>
                <a:ea typeface="Arial"/>
              </a:rPr>
              <a:t>48</a:t>
            </a:fld>
            <a:endParaRPr lang="en-US" sz="790" b="0" strike="noStrike" spc="-1">
              <a:latin typeface="Arial"/>
            </a:endParaRPr>
          </a:p>
        </p:txBody>
      </p:sp>
      <p:sp>
        <p:nvSpPr>
          <p:cNvPr id="290" name="CustomShape 3"/>
          <p:cNvSpPr/>
          <p:nvPr/>
        </p:nvSpPr>
        <p:spPr>
          <a:xfrm>
            <a:off x="0" y="1302480"/>
            <a:ext cx="9142200" cy="3952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import java.io.*;</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class csvprocessor{</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public boolean processCSV(String csvFileName,String jsonFileName) throws Exception{</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FileReader fr = new FileReader(csvFileName); </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BufferedReader br = new BufferedReader(fr);</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String headerLine = br.readLine();</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String[] keyNames = headerLine.split(",");</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int i=0;</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while (i&lt;keyNames.length){</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System.out.println(keyNames[i]);</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i++;</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return (true);</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 }</a:t>
            </a:r>
            <a:endParaRPr lang="en-US" sz="1500" b="0" strike="noStrike" spc="-1">
              <a:latin typeface="Arial"/>
            </a:endParaRPr>
          </a:p>
          <a:p>
            <a:pPr marL="216000" indent="-214920">
              <a:lnSpc>
                <a:spcPct val="100000"/>
              </a:lnSpc>
              <a:buClr>
                <a:srgbClr val="000000"/>
              </a:buClr>
              <a:buFont typeface="Liberation Serif"/>
              <a:buAutoNum type="arabicPeriod"/>
            </a:pPr>
            <a:r>
              <a:rPr lang="en-US" sz="1500" b="0" strike="noStrike" spc="-1">
                <a:solidFill>
                  <a:srgbClr val="000000"/>
                </a:solidFill>
                <a:latin typeface="Courier New"/>
                <a:ea typeface="DejaVu Sans"/>
              </a:rPr>
              <a:t>}</a:t>
            </a:r>
            <a:endParaRPr lang="en-US" sz="1500" b="0" strike="noStrike" spc="-1">
              <a:latin typeface="Arial"/>
            </a:endParaRPr>
          </a:p>
          <a:p>
            <a:pPr>
              <a:lnSpc>
                <a:spcPct val="100000"/>
              </a:lnSpc>
            </a:pPr>
            <a:endParaRPr lang="en-US" sz="1500" b="0" strike="noStrike" spc="-1">
              <a:latin typeface="Arial"/>
            </a:endParaRPr>
          </a:p>
          <a:p>
            <a:pPr>
              <a:lnSpc>
                <a:spcPct val="100000"/>
              </a:lnSpc>
            </a:pPr>
            <a:endParaRPr lang="en-US" sz="15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CustomShape 1"/>
          <p:cNvSpPr/>
          <p:nvPr/>
        </p:nvSpPr>
        <p:spPr>
          <a:xfrm>
            <a:off x="365760" y="252000"/>
            <a:ext cx="75416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Test the function processCSV</a:t>
            </a:r>
            <a:endParaRPr lang="en-US" sz="3600" b="0" strike="noStrike" spc="-1">
              <a:latin typeface="Arial"/>
            </a:endParaRPr>
          </a:p>
        </p:txBody>
      </p:sp>
      <p:sp>
        <p:nvSpPr>
          <p:cNvPr id="292" name="CustomShape 2"/>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3C38D6B1-3B52-4031-A3B3-18FC3B13FE51}" type="slidenum">
              <a:rPr lang="en-US" sz="790" b="0" strike="noStrike" spc="-1">
                <a:solidFill>
                  <a:srgbClr val="FFFFFF"/>
                </a:solidFill>
                <a:latin typeface="Arial"/>
                <a:ea typeface="Arial"/>
              </a:rPr>
              <a:t>49</a:t>
            </a:fld>
            <a:endParaRPr lang="en-US" sz="790" b="0" strike="noStrike" spc="-1">
              <a:latin typeface="Arial"/>
            </a:endParaRPr>
          </a:p>
        </p:txBody>
      </p:sp>
      <p:sp>
        <p:nvSpPr>
          <p:cNvPr id="293" name="CustomShape 3"/>
          <p:cNvSpPr/>
          <p:nvPr/>
        </p:nvSpPr>
        <p:spPr>
          <a:xfrm>
            <a:off x="274320" y="1362960"/>
            <a:ext cx="8502120" cy="3024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800" b="0" strike="noStrike" spc="-1">
                <a:solidFill>
                  <a:srgbClr val="000000"/>
                </a:solidFill>
                <a:latin typeface="Courier New"/>
                <a:ea typeface="DejaVu Sans"/>
              </a:rPr>
              <a:t>class testprocessorcsv{</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public static void main(String[] args){</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csvprocessor cv = new csvprocessor();</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try{</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System.out.println(cv.processCSV("example.csv",</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"jsonfile.json"));</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catch(Exception e){}</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	}</a:t>
            </a:r>
            <a:endParaRPr lang="en-US" sz="1800" b="0" strike="noStrike" spc="-1">
              <a:latin typeface="Arial"/>
            </a:endParaRPr>
          </a:p>
          <a:p>
            <a:pPr>
              <a:lnSpc>
                <a:spcPct val="100000"/>
              </a:lnSpc>
            </a:pPr>
            <a:r>
              <a:rPr lang="en-US" sz="1800" b="0" strike="noStrike" spc="-1">
                <a:solidFill>
                  <a:srgbClr val="000000"/>
                </a:solidFill>
                <a:latin typeface="Courier New"/>
                <a:ea typeface="DejaVu Sans"/>
              </a:rPr>
              <a: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295" name="CustomShape 2"/>
          <p:cNvSpPr/>
          <p:nvPr/>
        </p:nvSpPr>
        <p:spPr>
          <a:xfrm>
            <a:off x="822960" y="138420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296"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003C43C1-1BD3-4E8C-9E51-2EA70C4E24A0}" type="slidenum">
              <a:rPr lang="en-US" sz="790" b="0" strike="noStrike" spc="-1">
                <a:solidFill>
                  <a:srgbClr val="FFFFFF"/>
                </a:solidFill>
                <a:latin typeface="Arial"/>
                <a:ea typeface="Arial"/>
              </a:rPr>
              <a:t>50</a:t>
            </a:fld>
            <a:endParaRPr lang="en-US" sz="790" b="0" strike="noStrike" spc="-1">
              <a:latin typeface="Arial"/>
            </a:endParaRPr>
          </a:p>
        </p:txBody>
      </p:sp>
      <p:sp>
        <p:nvSpPr>
          <p:cNvPr id="297" name="CustomShape 4"/>
          <p:cNvSpPr/>
          <p:nvPr/>
        </p:nvSpPr>
        <p:spPr>
          <a:xfrm>
            <a:off x="365760" y="252000"/>
            <a:ext cx="75416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Reading csv file record wise</a:t>
            </a:r>
            <a:endParaRPr lang="en-US" sz="3600" b="0" strike="noStrike" spc="-1">
              <a:latin typeface="Arial"/>
            </a:endParaRPr>
          </a:p>
        </p:txBody>
      </p:sp>
      <p:sp>
        <p:nvSpPr>
          <p:cNvPr id="298" name="CustomShape 5"/>
          <p:cNvSpPr/>
          <p:nvPr/>
        </p:nvSpPr>
        <p:spPr>
          <a:xfrm>
            <a:off x="233640" y="1008360"/>
            <a:ext cx="8726400" cy="3562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    //comment line no. 9 to 12	and		Insert following code after line no. 12</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String line;</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while ((line = br.readLine()) != null) {			//read record line by line</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String[] dataLine = line.split(",");			//split on commas’</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for(i=0;i&lt;dataLine.length;i++){			//make pairs for every field</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System.out.print(keyNames[i]+":"+dataLine[i]+" ");</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System.out.println("=================================\n");</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a:t>
            </a:r>
            <a:endParaRPr lang="en-US" sz="1800" b="0" strike="noStrike" spc="-1">
              <a:latin typeface="Arial"/>
            </a:endParaRPr>
          </a:p>
          <a:p>
            <a:pPr marL="216000" indent="-214920">
              <a:lnSpc>
                <a:spcPct val="100000"/>
              </a:lnSpc>
              <a:spcBef>
                <a:spcPts val="575"/>
              </a:spcBef>
              <a:buClr>
                <a:srgbClr val="000000"/>
              </a:buClr>
              <a:buFont typeface="Liberation Serif"/>
              <a:buAutoNum type="arabicPeriod" startAt="12"/>
            </a:pPr>
            <a:r>
              <a:rPr lang="en-US" sz="1800" b="0" strike="noStrike" spc="-1">
                <a:solidFill>
                  <a:srgbClr val="000000"/>
                </a:solidFill>
                <a:latin typeface="Arial"/>
                <a:ea typeface="DejaVu Sans"/>
              </a:rPr>
              <a:t>	return (true);  //in the last file it was on line no. 13 </a:t>
            </a:r>
            <a:endParaRPr lang="en-US" sz="1800" b="0" strike="noStrike" spc="-1">
              <a:latin typeface="Arial"/>
            </a:endParaRPr>
          </a:p>
        </p:txBody>
      </p:sp>
      <p:sp>
        <p:nvSpPr>
          <p:cNvPr id="299" name="CustomShape 6"/>
          <p:cNvSpPr/>
          <p:nvPr/>
        </p:nvSpPr>
        <p:spPr>
          <a:xfrm>
            <a:off x="782280" y="4500000"/>
            <a:ext cx="7537680" cy="3452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spcBef>
                <a:spcPts val="575"/>
              </a:spcBef>
              <a:buClr>
                <a:srgbClr val="000000"/>
              </a:buClr>
              <a:buFont typeface="Liberation Serif"/>
              <a:buAutoNum type="arabicPeriod" startAt="12"/>
            </a:pPr>
            <a:r>
              <a:rPr lang="en-US" sz="1800" b="1" i="1" strike="noStrike" spc="-1">
                <a:solidFill>
                  <a:srgbClr val="000000"/>
                </a:solidFill>
                <a:latin typeface="Arial"/>
                <a:ea typeface="DejaVu Sans"/>
              </a:rPr>
              <a:t>Execution of above code will show the csv records pair wise </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01" name="CustomShape 2"/>
          <p:cNvSpPr/>
          <p:nvPr/>
        </p:nvSpPr>
        <p:spPr>
          <a:xfrm>
            <a:off x="822960" y="138420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02"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A24CBC20-F0D7-4EB3-85C8-A2FF8E7E2D03}" type="slidenum">
              <a:rPr lang="en-US" sz="790" b="0" strike="noStrike" spc="-1">
                <a:solidFill>
                  <a:srgbClr val="FFFFFF"/>
                </a:solidFill>
                <a:latin typeface="Arial"/>
                <a:ea typeface="Arial"/>
              </a:rPr>
              <a:t>51</a:t>
            </a:fld>
            <a:endParaRPr lang="en-US" sz="790" b="0" strike="noStrike" spc="-1">
              <a:latin typeface="Arial"/>
            </a:endParaRPr>
          </a:p>
        </p:txBody>
      </p:sp>
      <p:sp>
        <p:nvSpPr>
          <p:cNvPr id="303"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Write pair wise records to json file</a:t>
            </a:r>
            <a:endParaRPr lang="en-US" sz="3600" b="0" strike="noStrike" spc="-1">
              <a:latin typeface="Arial"/>
            </a:endParaRPr>
          </a:p>
        </p:txBody>
      </p:sp>
      <p:sp>
        <p:nvSpPr>
          <p:cNvPr id="304" name="CustomShape 5"/>
          <p:cNvSpPr/>
          <p:nvPr/>
        </p:nvSpPr>
        <p:spPr>
          <a:xfrm>
            <a:off x="283680" y="924840"/>
            <a:ext cx="8594280" cy="4011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575"/>
              </a:spcBef>
            </a:pP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Now the task is to write pair wise values in given ‘json’ file</a:t>
            </a: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Json file structure has specific format</a:t>
            </a: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The classes and methods are pre-defined and can be downloaded in the form for jar file ‘</a:t>
            </a:r>
            <a:r>
              <a:rPr lang="en-US" sz="1800" b="1" strike="noStrike" spc="-1">
                <a:solidFill>
                  <a:srgbClr val="000000"/>
                </a:solidFill>
                <a:latin typeface="Arial"/>
                <a:ea typeface="DejaVu Sans"/>
              </a:rPr>
              <a:t>json-simple-1.1.1.jar</a:t>
            </a:r>
            <a:r>
              <a:rPr lang="en-US" sz="1800" b="0" strike="noStrike" spc="-1">
                <a:solidFill>
                  <a:srgbClr val="000000"/>
                </a:solidFill>
                <a:latin typeface="Arial"/>
                <a:ea typeface="DejaVu Sans"/>
              </a:rPr>
              <a:t>’</a:t>
            </a: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Two classes – </a:t>
            </a:r>
            <a:r>
              <a:rPr lang="en-US" sz="1800" b="1" strike="noStrike" spc="-1">
                <a:solidFill>
                  <a:srgbClr val="000000"/>
                </a:solidFill>
                <a:latin typeface="Arial"/>
                <a:ea typeface="DejaVu Sans"/>
              </a:rPr>
              <a:t>JSONArray</a:t>
            </a:r>
            <a:r>
              <a:rPr lang="en-US" sz="1800" b="0" strike="noStrike" spc="-1">
                <a:solidFill>
                  <a:srgbClr val="000000"/>
                </a:solidFill>
                <a:latin typeface="Arial"/>
                <a:ea typeface="DejaVu Sans"/>
              </a:rPr>
              <a:t> and </a:t>
            </a:r>
            <a:r>
              <a:rPr lang="en-US" sz="1800" b="1" strike="noStrike" spc="-1">
                <a:solidFill>
                  <a:srgbClr val="000000"/>
                </a:solidFill>
                <a:latin typeface="Arial"/>
                <a:ea typeface="DejaVu Sans"/>
              </a:rPr>
              <a:t>JSONObject</a:t>
            </a:r>
            <a:r>
              <a:rPr lang="en-US" sz="1800" b="0" strike="noStrike" spc="-1">
                <a:solidFill>
                  <a:srgbClr val="000000"/>
                </a:solidFill>
                <a:latin typeface="Arial"/>
                <a:ea typeface="DejaVu Sans"/>
              </a:rPr>
              <a:t> are required from this package</a:t>
            </a: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JSONObject object has a method ‘</a:t>
            </a:r>
            <a:r>
              <a:rPr lang="en-US" sz="1800" b="1" strike="noStrike" spc="-1">
                <a:solidFill>
                  <a:srgbClr val="000000"/>
                </a:solidFill>
                <a:latin typeface="Arial"/>
                <a:ea typeface="DejaVu Sans"/>
              </a:rPr>
              <a:t>put</a:t>
            </a:r>
            <a:r>
              <a:rPr lang="en-US" sz="1800" b="0" strike="noStrike" spc="-1">
                <a:solidFill>
                  <a:srgbClr val="000000"/>
                </a:solidFill>
                <a:latin typeface="Arial"/>
                <a:ea typeface="DejaVu Sans"/>
              </a:rPr>
              <a:t>’ to keep all the pairs of a single record in one JSONObject location</a:t>
            </a: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JSONArray object has an </a:t>
            </a:r>
            <a:r>
              <a:rPr lang="en-US" sz="1800" b="1" strike="noStrike" spc="-1">
                <a:solidFill>
                  <a:srgbClr val="000000"/>
                </a:solidFill>
                <a:latin typeface="Arial"/>
                <a:ea typeface="DejaVu Sans"/>
              </a:rPr>
              <a:t>add</a:t>
            </a:r>
            <a:r>
              <a:rPr lang="en-US" sz="1800" b="0" strike="noStrike" spc="-1">
                <a:solidFill>
                  <a:srgbClr val="000000"/>
                </a:solidFill>
                <a:latin typeface="Arial"/>
                <a:ea typeface="DejaVu Sans"/>
              </a:rPr>
              <a:t> method to keep JSONObject object as array elements</a:t>
            </a:r>
            <a:endParaRPr lang="en-US" sz="1800" b="0" strike="noStrike" spc="-1">
              <a:latin typeface="Arial"/>
            </a:endParaRPr>
          </a:p>
          <a:p>
            <a:pPr marL="216000" indent="-214920">
              <a:lnSpc>
                <a:spcPct val="100000"/>
              </a:lnSpc>
              <a:spcBef>
                <a:spcPts val="575"/>
              </a:spcBef>
              <a:buClr>
                <a:srgbClr val="000000"/>
              </a:buClr>
              <a:buSzPct val="45000"/>
              <a:buFont typeface="Wingdings" charset="2"/>
              <a:buChar char=""/>
            </a:pPr>
            <a:r>
              <a:rPr lang="en-US" sz="1800" b="0" strike="noStrike" spc="-1">
                <a:solidFill>
                  <a:srgbClr val="000000"/>
                </a:solidFill>
                <a:latin typeface="Arial"/>
                <a:ea typeface="DejaVu Sans"/>
              </a:rPr>
              <a:t>After end of CSV file of, write the array object of JSONArray using </a:t>
            </a:r>
            <a:r>
              <a:rPr lang="en-US" sz="1800" b="1" strike="noStrike" spc="-1">
                <a:solidFill>
                  <a:srgbClr val="000000"/>
                </a:solidFill>
                <a:latin typeface="Arial"/>
                <a:ea typeface="DejaVu Sans"/>
              </a:rPr>
              <a:t>toJSONString()</a:t>
            </a:r>
            <a:r>
              <a:rPr lang="en-US" sz="1800" b="0" strike="noStrike" spc="-1">
                <a:solidFill>
                  <a:srgbClr val="000000"/>
                </a:solidFill>
                <a:latin typeface="Arial"/>
                <a:ea typeface="DejaVu Sans"/>
              </a:rPr>
              <a:t> method</a:t>
            </a:r>
            <a:endParaRPr lang="en-US" sz="1800" b="0" strike="noStrike" spc="-1">
              <a:latin typeface="Arial"/>
            </a:endParaRPr>
          </a:p>
          <a:p>
            <a:pPr>
              <a:lnSpc>
                <a:spcPct val="100000"/>
              </a:lnSpc>
              <a:spcBef>
                <a:spcPts val="575"/>
              </a:spcBef>
            </a:pP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06" name="CustomShape 2"/>
          <p:cNvSpPr/>
          <p:nvPr/>
        </p:nvSpPr>
        <p:spPr>
          <a:xfrm>
            <a:off x="822960" y="138420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07"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A36CD8F3-0FAE-47DB-9A2B-F6903B50764C}" type="slidenum">
              <a:rPr lang="en-US" sz="790" b="0" strike="noStrike" spc="-1">
                <a:solidFill>
                  <a:srgbClr val="FFFFFF"/>
                </a:solidFill>
                <a:latin typeface="Arial"/>
                <a:ea typeface="Arial"/>
              </a:rPr>
              <a:t>52</a:t>
            </a:fld>
            <a:endParaRPr lang="en-US" sz="790" b="0" strike="noStrike" spc="-1">
              <a:latin typeface="Arial"/>
            </a:endParaRPr>
          </a:p>
        </p:txBody>
      </p:sp>
      <p:sp>
        <p:nvSpPr>
          <p:cNvPr id="308" name="CustomShape 4"/>
          <p:cNvSpPr/>
          <p:nvPr/>
        </p:nvSpPr>
        <p:spPr>
          <a:xfrm>
            <a:off x="640080" y="129240"/>
            <a:ext cx="3930840" cy="857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buClr>
                <a:srgbClr val="000000"/>
              </a:buClr>
              <a:buFont typeface="Liberation Serif"/>
              <a:buAutoNum type="arabicPeriod"/>
            </a:pPr>
            <a:r>
              <a:rPr lang="en-US" sz="1800" b="0" strike="noStrike" spc="-1">
                <a:solidFill>
                  <a:srgbClr val="000000"/>
                </a:solidFill>
                <a:latin typeface="Arial"/>
                <a:ea typeface="DejaVu Sans"/>
              </a:rPr>
              <a:t>import java.io.*;</a:t>
            </a:r>
            <a:endParaRPr lang="en-US" sz="1800" b="0" strike="noStrike" spc="-1">
              <a:latin typeface="Arial"/>
            </a:endParaRPr>
          </a:p>
          <a:p>
            <a:pPr marL="216000" indent="-214920">
              <a:lnSpc>
                <a:spcPct val="100000"/>
              </a:lnSpc>
              <a:buClr>
                <a:srgbClr val="000000"/>
              </a:buClr>
              <a:buFont typeface="Liberation Serif"/>
              <a:buAutoNum type="arabicPeriod"/>
            </a:pPr>
            <a:r>
              <a:rPr lang="en-US" sz="1800" b="0" strike="noStrike" spc="-1">
                <a:solidFill>
                  <a:srgbClr val="000000"/>
                </a:solidFill>
                <a:latin typeface="Arial"/>
                <a:ea typeface="DejaVu Sans"/>
              </a:rPr>
              <a:t>import org.json.simple.*;</a:t>
            </a:r>
            <a:endParaRPr lang="en-US" sz="1800" b="0" strike="noStrike" spc="-1">
              <a:latin typeface="Arial"/>
            </a:endParaRPr>
          </a:p>
        </p:txBody>
      </p:sp>
      <p:sp>
        <p:nvSpPr>
          <p:cNvPr id="309" name="CustomShape 5"/>
          <p:cNvSpPr/>
          <p:nvPr/>
        </p:nvSpPr>
        <p:spPr>
          <a:xfrm>
            <a:off x="630720" y="695880"/>
            <a:ext cx="8045640" cy="4184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JSONArray jsonArry = new JSONArray();		//JSONArray object</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FileWriter fw = new FileWriter(jsonFileName);	// For file writing</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BufferedWriter bw = new BufferedWriter(fw);		//For writing array</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while ((line = br.readLine()) != null) {</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JSONObject jObj = new JSONObject();		//JSONObject object</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String[] dataLine = line.split(",");</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for(i=0;i&lt;dataLine.length;i++){</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jObj.put(keyNames[i],dataLine[i]);		//set jObj values</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jsonArry.add(jObj);						//jsonArry array entry</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bw.write(jsonArry.toJSONString());				//writing whole array</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bw.flush();</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return (true);									//true if successful</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 }</a:t>
            </a:r>
            <a:endParaRPr lang="en-US" sz="1800" b="0" strike="noStrike" spc="-1">
              <a:latin typeface="Arial"/>
            </a:endParaRPr>
          </a:p>
          <a:p>
            <a:pPr marL="216000" indent="-214920">
              <a:lnSpc>
                <a:spcPct val="100000"/>
              </a:lnSpc>
              <a:buClr>
                <a:srgbClr val="000000"/>
              </a:buClr>
              <a:buFont typeface="Liberation Serif"/>
              <a:buAutoNum type="arabicPeriod" startAt="15"/>
            </a:pPr>
            <a:r>
              <a:rPr lang="en-US" sz="1800" b="0" strike="noStrike" spc="-1">
                <a:solidFill>
                  <a:srgbClr val="000000"/>
                </a:solidFill>
                <a:latin typeface="Arial"/>
                <a:ea typeface="DejaVu Sans"/>
              </a:rPr>
              <a:t>}</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11" name="CustomShape 2"/>
          <p:cNvSpPr/>
          <p:nvPr/>
        </p:nvSpPr>
        <p:spPr>
          <a:xfrm>
            <a:off x="365760" y="100692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12"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9AB56097-F396-4211-9271-C22108B973C4}" type="slidenum">
              <a:rPr lang="en-US" sz="790" b="0" strike="noStrike" spc="-1">
                <a:solidFill>
                  <a:srgbClr val="FFFFFF"/>
                </a:solidFill>
                <a:latin typeface="Arial"/>
                <a:ea typeface="Arial"/>
              </a:rPr>
              <a:t>53</a:t>
            </a:fld>
            <a:endParaRPr lang="en-US" sz="790" b="0" strike="noStrike" spc="-1">
              <a:latin typeface="Arial"/>
            </a:endParaRPr>
          </a:p>
        </p:txBody>
      </p:sp>
      <p:sp>
        <p:nvSpPr>
          <p:cNvPr id="313"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Testing the method processCSV </a:t>
            </a:r>
            <a:endParaRPr lang="en-US" sz="3600" b="0" strike="noStrike" spc="-1">
              <a:latin typeface="Arial"/>
            </a:endParaRPr>
          </a:p>
        </p:txBody>
      </p:sp>
      <p:sp>
        <p:nvSpPr>
          <p:cNvPr id="314" name="CustomShape 5"/>
          <p:cNvSpPr/>
          <p:nvPr/>
        </p:nvSpPr>
        <p:spPr>
          <a:xfrm>
            <a:off x="365760" y="1371600"/>
            <a:ext cx="8502840" cy="301536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marL="432000" lvl="1" indent="-21492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Execution of the method processCSV will create a json file with data as provided by CSV file. </a:t>
            </a:r>
            <a:endParaRPr lang="en-US" sz="1500" b="0" strike="noStrike" spc="-1">
              <a:latin typeface="Arial"/>
            </a:endParaRPr>
          </a:p>
          <a:p>
            <a:pPr marL="432000" lvl="1" indent="-21492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A jar file is used for JSON classes, compilation of code requires to define the classpath of jar file using -cp switch.</a:t>
            </a:r>
            <a:endParaRPr lang="en-US" sz="1500" b="0" strike="noStrike" spc="-1">
              <a:latin typeface="Arial"/>
            </a:endParaRPr>
          </a:p>
          <a:p>
            <a:pPr marL="432000" lvl="1" indent="-21492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Total duration of time to complete the process can be calculated by checking the time at the start of the process and at the end of the process. The difference will give the total time elapsed in the process</a:t>
            </a:r>
            <a:endParaRPr lang="en-US" sz="1500" b="0" strike="noStrike" spc="-1">
              <a:latin typeface="Arial"/>
            </a:endParaRPr>
          </a:p>
          <a:p>
            <a:pPr marL="432000" lvl="1" indent="-21492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Each process to be written in appropriate exception handing: try – catch block. Adding exception handling will complete the final code of processCSV method.</a:t>
            </a:r>
            <a:endParaRPr lang="en-US" sz="1500" b="0" strike="noStrike" spc="-1">
              <a:latin typeface="Arial"/>
            </a:endParaRPr>
          </a:p>
          <a:p>
            <a:pPr>
              <a:lnSpc>
                <a:spcPct val="90000"/>
              </a:lnSpc>
              <a:spcBef>
                <a:spcPts val="901"/>
              </a:spcBef>
              <a:spcAft>
                <a:spcPts val="150"/>
              </a:spcAft>
            </a:pPr>
            <a:endParaRPr lang="en-US" sz="1500" b="0" strike="noStrike" spc="-1">
              <a:latin typeface="Arial"/>
            </a:endParaRPr>
          </a:p>
          <a:p>
            <a:pPr marL="68760" indent="-66600">
              <a:lnSpc>
                <a:spcPct val="90000"/>
              </a:lnSpc>
              <a:spcBef>
                <a:spcPts val="901"/>
              </a:spcBef>
              <a:spcAft>
                <a:spcPts val="150"/>
              </a:spcAft>
              <a:buClr>
                <a:srgbClr val="E48312"/>
              </a:buClr>
              <a:buFont typeface="Calibri"/>
              <a:buChar char=" "/>
            </a:pPr>
            <a:r>
              <a:rPr lang="en-US" sz="1500" b="0" strike="noStrike" spc="-1">
                <a:solidFill>
                  <a:srgbClr val="404040"/>
                </a:solidFill>
                <a:latin typeface="Calibri"/>
                <a:ea typeface="Arial"/>
              </a:rPr>
              <a:t> </a:t>
            </a:r>
            <a:endParaRPr lang="en-US" sz="15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CustomShape 1"/>
          <p:cNvSpPr/>
          <p:nvPr/>
        </p:nvSpPr>
        <p:spPr>
          <a:xfrm>
            <a:off x="1213920" y="1400760"/>
            <a:ext cx="6556680" cy="115776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lstStyle/>
          <a:p>
            <a:pPr>
              <a:lnSpc>
                <a:spcPct val="85000"/>
              </a:lnSpc>
            </a:pPr>
            <a:r>
              <a:rPr lang="en-US" sz="4000" b="0" strike="noStrike" spc="-38">
                <a:solidFill>
                  <a:srgbClr val="404040"/>
                </a:solidFill>
                <a:latin typeface="Adobe Garamond Pro"/>
                <a:ea typeface="DejaVu Sans"/>
              </a:rPr>
              <a:t>JSONConverter class</a:t>
            </a:r>
            <a:endParaRPr lang="en-US" sz="4000" b="0" strike="noStrike" spc="-1">
              <a:latin typeface="Arial"/>
            </a:endParaRPr>
          </a:p>
        </p:txBody>
      </p:sp>
      <p:sp>
        <p:nvSpPr>
          <p:cNvPr id="316" name="CustomShape 2"/>
          <p:cNvSpPr/>
          <p:nvPr/>
        </p:nvSpPr>
        <p:spPr>
          <a:xfrm>
            <a:off x="1280160" y="3108960"/>
            <a:ext cx="6556680" cy="1157760"/>
          </a:xfrm>
          <a:prstGeom prst="rect">
            <a:avLst/>
          </a:prstGeom>
          <a:noFill/>
          <a:ln>
            <a:noFill/>
          </a:ln>
        </p:spPr>
        <p:style>
          <a:lnRef idx="0">
            <a:scrgbClr r="0" g="0" b="0"/>
          </a:lnRef>
          <a:fillRef idx="0">
            <a:scrgbClr r="0" g="0" b="0"/>
          </a:fillRef>
          <a:effectRef idx="0">
            <a:scrgbClr r="0" g="0" b="0"/>
          </a:effectRef>
          <a:fontRef idx="minor"/>
        </p:style>
        <p:txBody>
          <a:bodyPr lIns="90000" tIns="91440" rIns="90000" bIns="91440" anchor="ctr"/>
          <a:lstStyle/>
          <a:p>
            <a:pPr>
              <a:lnSpc>
                <a:spcPct val="85000"/>
              </a:lnSpc>
            </a:pPr>
            <a:r>
              <a:rPr lang="en-US" sz="3200" b="0" strike="noStrike" spc="-38">
                <a:solidFill>
                  <a:srgbClr val="404040"/>
                </a:solidFill>
                <a:latin typeface="Adobe Garamond Pro"/>
                <a:ea typeface="DejaVu Sans"/>
              </a:rPr>
              <a:t>Class containing main method and accepting inputs</a:t>
            </a:r>
            <a:endParaRPr lang="en-US" sz="3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18" name="CustomShape 2"/>
          <p:cNvSpPr/>
          <p:nvPr/>
        </p:nvSpPr>
        <p:spPr>
          <a:xfrm>
            <a:off x="365760" y="100692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19"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3167B3C-3037-4CE0-B84A-1BD33B41A95B}" type="slidenum">
              <a:rPr lang="en-US" sz="790" b="0" strike="noStrike" spc="-1">
                <a:solidFill>
                  <a:srgbClr val="FFFFFF"/>
                </a:solidFill>
                <a:latin typeface="Arial"/>
                <a:ea typeface="Arial"/>
              </a:rPr>
              <a:t>55</a:t>
            </a:fld>
            <a:endParaRPr lang="en-US" sz="790" b="0" strike="noStrike" spc="-1">
              <a:latin typeface="Arial"/>
            </a:endParaRPr>
          </a:p>
        </p:txBody>
      </p:sp>
      <p:sp>
        <p:nvSpPr>
          <p:cNvPr id="320"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File names input</a:t>
            </a:r>
            <a:endParaRPr lang="en-US" sz="3600" b="0" strike="noStrike" spc="-1">
              <a:latin typeface="Arial"/>
            </a:endParaRPr>
          </a:p>
        </p:txBody>
      </p:sp>
      <p:sp>
        <p:nvSpPr>
          <p:cNvPr id="321" name="CustomShape 5"/>
          <p:cNvSpPr/>
          <p:nvPr/>
        </p:nvSpPr>
        <p:spPr>
          <a:xfrm>
            <a:off x="365760" y="1371600"/>
            <a:ext cx="8502840" cy="301536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marL="432000" lvl="1" indent="-21492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Scanner class can be used to accept the input for CSV and JSON file names</a:t>
            </a:r>
            <a:endParaRPr lang="en-US" sz="1500" b="0" strike="noStrike" spc="-1">
              <a:latin typeface="Arial"/>
            </a:endParaRPr>
          </a:p>
          <a:p>
            <a:pPr marL="432000" lvl="1" indent="-21492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Main method call methods:</a:t>
            </a:r>
            <a:endParaRPr lang="en-US" sz="1500" b="0" strike="noStrike" spc="-1">
              <a:latin typeface="Arial"/>
            </a:endParaRPr>
          </a:p>
          <a:p>
            <a:pPr marL="432000" lvl="1" indent="-214920">
              <a:lnSpc>
                <a:spcPct val="90000"/>
              </a:lnSpc>
              <a:spcBef>
                <a:spcPts val="901"/>
              </a:spcBef>
              <a:spcAft>
                <a:spcPts val="150"/>
              </a:spcAft>
              <a:buClr>
                <a:srgbClr val="000000"/>
              </a:buClr>
              <a:buFont typeface="Liberation Serif"/>
              <a:buAutoNum type="arabicPeriod"/>
            </a:pPr>
            <a:r>
              <a:rPr lang="en-US" sz="1500" b="0" strike="noStrike" spc="-1">
                <a:solidFill>
                  <a:srgbClr val="404040"/>
                </a:solidFill>
                <a:latin typeface="Calibri"/>
                <a:ea typeface="Arial"/>
              </a:rPr>
              <a:t>getFileName() of JSONConverter class</a:t>
            </a:r>
            <a:endParaRPr lang="en-US" sz="1500" b="0" strike="noStrike" spc="-1">
              <a:latin typeface="Arial"/>
            </a:endParaRPr>
          </a:p>
          <a:p>
            <a:pPr marL="432000" lvl="1" indent="-214920">
              <a:lnSpc>
                <a:spcPct val="90000"/>
              </a:lnSpc>
              <a:spcBef>
                <a:spcPts val="901"/>
              </a:spcBef>
              <a:spcAft>
                <a:spcPts val="150"/>
              </a:spcAft>
              <a:buClr>
                <a:srgbClr val="000000"/>
              </a:buClr>
              <a:buFont typeface="Liberation Serif"/>
              <a:buAutoNum type="arabicPeriod"/>
            </a:pPr>
            <a:r>
              <a:rPr lang="en-US" sz="1500" b="0" strike="noStrike" spc="-1">
                <a:solidFill>
                  <a:srgbClr val="404040"/>
                </a:solidFill>
                <a:latin typeface="Calibri"/>
                <a:ea typeface="Arial"/>
              </a:rPr>
              <a:t>nameValidator() of NameValidator class</a:t>
            </a:r>
            <a:endParaRPr lang="en-US" sz="1500" b="0" strike="noStrike" spc="-1">
              <a:latin typeface="Arial"/>
            </a:endParaRPr>
          </a:p>
          <a:p>
            <a:pPr marL="432000" lvl="1" indent="-214920">
              <a:lnSpc>
                <a:spcPct val="90000"/>
              </a:lnSpc>
              <a:spcBef>
                <a:spcPts val="901"/>
              </a:spcBef>
              <a:spcAft>
                <a:spcPts val="150"/>
              </a:spcAft>
              <a:buClr>
                <a:srgbClr val="000000"/>
              </a:buClr>
              <a:buFont typeface="Liberation Serif"/>
              <a:buAutoNum type="arabicPeriod"/>
            </a:pPr>
            <a:r>
              <a:rPr lang="en-US" sz="1500" b="0" strike="noStrike" spc="-1">
                <a:solidFill>
                  <a:srgbClr val="404040"/>
                </a:solidFill>
                <a:latin typeface="Calibri"/>
                <a:ea typeface="Arial"/>
              </a:rPr>
              <a:t>processCSV() method of csvprocessor class</a:t>
            </a:r>
            <a:endParaRPr lang="en-US" sz="1500" b="0" strike="noStrike" spc="-1">
              <a:latin typeface="Arial"/>
            </a:endParaRPr>
          </a:p>
          <a:p>
            <a:pPr>
              <a:lnSpc>
                <a:spcPct val="90000"/>
              </a:lnSpc>
              <a:spcBef>
                <a:spcPts val="901"/>
              </a:spcBef>
              <a:spcAft>
                <a:spcPts val="150"/>
              </a:spcAft>
            </a:pPr>
            <a:endParaRPr lang="en-US" sz="1500" b="0" strike="noStrike" spc="-1">
              <a:latin typeface="Arial"/>
            </a:endParaRPr>
          </a:p>
          <a:p>
            <a:pPr marL="432000" lvl="1" indent="-215640">
              <a:lnSpc>
                <a:spcPct val="90000"/>
              </a:lnSpc>
              <a:spcBef>
                <a:spcPts val="901"/>
              </a:spcBef>
              <a:spcAft>
                <a:spcPts val="150"/>
              </a:spcAft>
              <a:buClr>
                <a:srgbClr val="000000"/>
              </a:buClr>
              <a:buSzPct val="45000"/>
              <a:buFont typeface="Wingdings" charset="2"/>
              <a:buChar char=""/>
            </a:pPr>
            <a:r>
              <a:rPr lang="en-US" sz="1500" b="0" strike="noStrike" spc="-1">
                <a:solidFill>
                  <a:srgbClr val="404040"/>
                </a:solidFill>
                <a:latin typeface="Calibri"/>
                <a:ea typeface="Arial"/>
              </a:rPr>
              <a:t> </a:t>
            </a:r>
            <a:endParaRPr lang="en-US" sz="15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23" name="CustomShape 2"/>
          <p:cNvSpPr/>
          <p:nvPr/>
        </p:nvSpPr>
        <p:spPr>
          <a:xfrm>
            <a:off x="365760" y="100692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24"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0B6D6046-E124-4AB7-90F1-2BFCB466B2CC}" type="slidenum">
              <a:rPr lang="en-US" sz="790" b="0" strike="noStrike" spc="-1">
                <a:solidFill>
                  <a:srgbClr val="FFFFFF"/>
                </a:solidFill>
                <a:latin typeface="Arial"/>
                <a:ea typeface="Arial"/>
              </a:rPr>
              <a:t>56</a:t>
            </a:fld>
            <a:endParaRPr lang="en-US" sz="790" b="0" strike="noStrike" spc="-1">
              <a:latin typeface="Arial"/>
            </a:endParaRPr>
          </a:p>
        </p:txBody>
      </p:sp>
      <p:sp>
        <p:nvSpPr>
          <p:cNvPr id="325"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getFileName() method</a:t>
            </a:r>
            <a:endParaRPr lang="en-US" sz="3600" b="0" strike="noStrike" spc="-1">
              <a:latin typeface="Arial"/>
            </a:endParaRPr>
          </a:p>
        </p:txBody>
      </p:sp>
      <p:sp>
        <p:nvSpPr>
          <p:cNvPr id="326" name="CustomShape 5"/>
          <p:cNvSpPr/>
          <p:nvPr/>
        </p:nvSpPr>
        <p:spPr>
          <a:xfrm>
            <a:off x="299520" y="871200"/>
            <a:ext cx="8502840" cy="301536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a:lnSpc>
                <a:spcPct val="90000"/>
              </a:lnSpc>
              <a:spcBef>
                <a:spcPts val="720"/>
              </a:spcBef>
              <a:spcAft>
                <a:spcPts val="145"/>
              </a:spcAft>
            </a:pPr>
            <a:r>
              <a:rPr lang="en-US" sz="1800" b="0" strike="noStrike" spc="-1">
                <a:solidFill>
                  <a:srgbClr val="404040"/>
                </a:solidFill>
                <a:latin typeface="Calibri"/>
                <a:ea typeface="Arial"/>
              </a:rPr>
              <a:t>	static String getFileName(){</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String filename=null;</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try{</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Scanner in = new Scanner(System.in);</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System.out.println("Enter File Name:");</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filename = in.nextLine();</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catch(Exception e){</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System.out.println(e);</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return filename;</a:t>
            </a:r>
            <a:endParaRPr lang="en-US" sz="1800" b="0" strike="noStrike" spc="-1">
              <a:latin typeface="Arial"/>
            </a:endParaRPr>
          </a:p>
          <a:p>
            <a:pPr>
              <a:lnSpc>
                <a:spcPct val="90000"/>
              </a:lnSpc>
              <a:spcBef>
                <a:spcPts val="720"/>
              </a:spcBef>
              <a:spcAft>
                <a:spcPts val="145"/>
              </a:spcAft>
            </a:pPr>
            <a:r>
              <a:rPr lang="en-US" sz="1800" b="0" strike="noStrike" spc="-1">
                <a:solidFill>
                  <a:srgbClr val="404040"/>
                </a:solidFill>
                <a:latin typeface="Calibri"/>
                <a:ea typeface="Arial"/>
              </a:rPr>
              <a:t>	}</a:t>
            </a:r>
            <a:endParaRPr lang="en-US" sz="1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28" name="CustomShape 2"/>
          <p:cNvSpPr/>
          <p:nvPr/>
        </p:nvSpPr>
        <p:spPr>
          <a:xfrm>
            <a:off x="365760" y="100692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29"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58F4AF8B-879B-4632-9AE9-8737D8AE4157}" type="slidenum">
              <a:rPr lang="en-US" sz="790" b="0" strike="noStrike" spc="-1">
                <a:solidFill>
                  <a:srgbClr val="FFFFFF"/>
                </a:solidFill>
                <a:latin typeface="Arial"/>
                <a:ea typeface="Arial"/>
              </a:rPr>
              <a:t>57</a:t>
            </a:fld>
            <a:endParaRPr lang="en-US" sz="790" b="0" strike="noStrike" spc="-1">
              <a:latin typeface="Arial"/>
            </a:endParaRPr>
          </a:p>
        </p:txBody>
      </p:sp>
      <p:sp>
        <p:nvSpPr>
          <p:cNvPr id="330"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main() method</a:t>
            </a:r>
            <a:endParaRPr lang="en-US" sz="3600" b="0" strike="noStrike" spc="-1">
              <a:latin typeface="Arial"/>
            </a:endParaRPr>
          </a:p>
        </p:txBody>
      </p:sp>
      <p:sp>
        <p:nvSpPr>
          <p:cNvPr id="331" name="CustomShape 5"/>
          <p:cNvSpPr/>
          <p:nvPr/>
        </p:nvSpPr>
        <p:spPr>
          <a:xfrm>
            <a:off x="275040" y="640080"/>
            <a:ext cx="8502840" cy="4272120"/>
          </a:xfrm>
          <a:prstGeom prst="rect">
            <a:avLst/>
          </a:prstGeom>
          <a:noFill/>
          <a:ln>
            <a:noFill/>
          </a:ln>
        </p:spPr>
        <p:style>
          <a:lnRef idx="0">
            <a:scrgbClr r="0" g="0" b="0"/>
          </a:lnRef>
          <a:fillRef idx="0">
            <a:scrgbClr r="0" g="0" b="0"/>
          </a:fillRef>
          <a:effectRef idx="0">
            <a:scrgbClr r="0" g="0" b="0"/>
          </a:effectRef>
          <a:fontRef idx="minor"/>
        </p:style>
        <p:txBody>
          <a:bodyPr lIns="0" tIns="45000" rIns="0" bIns="45000"/>
          <a:lstStyle/>
          <a:p>
            <a:pPr>
              <a:lnSpc>
                <a:spcPct val="90000"/>
              </a:lnSpc>
            </a:pPr>
            <a:r>
              <a:rPr lang="en-US" sz="1600" b="0" strike="noStrike" spc="-1">
                <a:solidFill>
                  <a:srgbClr val="404040"/>
                </a:solidFill>
                <a:latin typeface="Calibri"/>
                <a:ea typeface="Arial"/>
              </a:rPr>
              <a:t>	public static void main(String[] args){</a:t>
            </a:r>
            <a:endParaRPr lang="en-US" sz="1600" b="0" strike="noStrike" spc="-1">
              <a:latin typeface="Arial"/>
            </a:endParaRPr>
          </a:p>
          <a:p>
            <a:pPr>
              <a:lnSpc>
                <a:spcPct val="90000"/>
              </a:lnSpc>
            </a:pPr>
            <a:r>
              <a:rPr lang="en-US" sz="1600" b="0" strike="noStrike" spc="-1">
                <a:solidFill>
                  <a:srgbClr val="404040"/>
                </a:solidFill>
                <a:latin typeface="Calibri"/>
                <a:ea typeface="Arial"/>
              </a:rPr>
              <a:t>		String c,csvfilename,jsonfilename;</a:t>
            </a:r>
            <a:endParaRPr lang="en-US" sz="1600" b="0" strike="noStrike" spc="-1">
              <a:latin typeface="Arial"/>
            </a:endParaRPr>
          </a:p>
          <a:p>
            <a:pPr>
              <a:lnSpc>
                <a:spcPct val="90000"/>
              </a:lnSpc>
            </a:pPr>
            <a:r>
              <a:rPr lang="en-US" sz="1600" b="0" strike="noStrike" spc="-1">
                <a:solidFill>
                  <a:srgbClr val="404040"/>
                </a:solidFill>
                <a:latin typeface="Calibri"/>
                <a:ea typeface="Arial"/>
              </a:rPr>
              <a:t>		boolean b;</a:t>
            </a:r>
            <a:endParaRPr lang="en-US" sz="1600" b="0" strike="noStrike" spc="-1">
              <a:latin typeface="Arial"/>
            </a:endParaRPr>
          </a:p>
          <a:p>
            <a:pPr>
              <a:lnSpc>
                <a:spcPct val="90000"/>
              </a:lnSpc>
            </a:pPr>
            <a:r>
              <a:rPr lang="en-US" sz="1600" b="0" strike="noStrike" spc="-1">
                <a:solidFill>
                  <a:srgbClr val="404040"/>
                </a:solidFill>
                <a:latin typeface="Calibri"/>
                <a:ea typeface="Arial"/>
              </a:rPr>
              <a:t>		System.out.println("CSV FILE");</a:t>
            </a:r>
            <a:endParaRPr lang="en-US" sz="1600" b="0" strike="noStrike" spc="-1">
              <a:latin typeface="Arial"/>
            </a:endParaRPr>
          </a:p>
          <a:p>
            <a:pPr>
              <a:lnSpc>
                <a:spcPct val="90000"/>
              </a:lnSpc>
            </a:pPr>
            <a:r>
              <a:rPr lang="en-US" sz="1600" b="0" strike="noStrike" spc="-1">
                <a:solidFill>
                  <a:srgbClr val="404040"/>
                </a:solidFill>
                <a:latin typeface="Calibri"/>
                <a:ea typeface="Arial"/>
              </a:rPr>
              <a:t>		csvfilename = "&lt;Absolute path of csvs folder&gt;"+getFileName();</a:t>
            </a:r>
            <a:endParaRPr lang="en-US" sz="1600" b="0" strike="noStrike" spc="-1">
              <a:latin typeface="Arial"/>
            </a:endParaRPr>
          </a:p>
          <a:p>
            <a:pPr>
              <a:lnSpc>
                <a:spcPct val="90000"/>
              </a:lnSpc>
            </a:pPr>
            <a:r>
              <a:rPr lang="en-US" sz="1600" b="0" strike="noStrike" spc="-1">
                <a:solidFill>
                  <a:srgbClr val="404040"/>
                </a:solidFill>
                <a:latin typeface="Calibri"/>
                <a:ea typeface="Arial"/>
              </a:rPr>
              <a:t>		NameValidator csvObject = new NameValidator();</a:t>
            </a:r>
            <a:endParaRPr lang="en-US" sz="1600" b="0" strike="noStrike" spc="-1">
              <a:latin typeface="Arial"/>
            </a:endParaRPr>
          </a:p>
          <a:p>
            <a:pPr>
              <a:lnSpc>
                <a:spcPct val="90000"/>
              </a:lnSpc>
            </a:pPr>
            <a:r>
              <a:rPr lang="en-US" sz="1600" b="0" strike="noStrike" spc="-1">
                <a:solidFill>
                  <a:srgbClr val="404040"/>
                </a:solidFill>
                <a:latin typeface="Calibri"/>
                <a:ea typeface="Arial"/>
              </a:rPr>
              <a:t>		b = csvObject.nameValidator(csvfilename,"csv");</a:t>
            </a:r>
            <a:endParaRPr lang="en-US" sz="1600" b="0" strike="noStrike" spc="-1">
              <a:latin typeface="Arial"/>
            </a:endParaRPr>
          </a:p>
          <a:p>
            <a:pPr>
              <a:lnSpc>
                <a:spcPct val="90000"/>
              </a:lnSpc>
            </a:pPr>
            <a:r>
              <a:rPr lang="en-US" sz="1600" b="0" strike="noStrike" spc="-1">
                <a:solidFill>
                  <a:srgbClr val="404040"/>
                </a:solidFill>
                <a:latin typeface="Calibri"/>
                <a:ea typeface="Arial"/>
              </a:rPr>
              <a:t>		if(b==true)</a:t>
            </a:r>
            <a:endParaRPr lang="en-US" sz="1600" b="0" strike="noStrike" spc="-1">
              <a:latin typeface="Arial"/>
            </a:endParaRPr>
          </a:p>
          <a:p>
            <a:pPr>
              <a:lnSpc>
                <a:spcPct val="90000"/>
              </a:lnSpc>
            </a:pPr>
            <a:r>
              <a:rPr lang="en-US" sz="1600" b="0" strike="noStrike" spc="-1">
                <a:solidFill>
                  <a:srgbClr val="404040"/>
                </a:solidFill>
                <a:latin typeface="Calibri"/>
                <a:ea typeface="Arial"/>
              </a:rPr>
              <a:t>			System.out.println("CSV File is OK..");</a:t>
            </a:r>
            <a:endParaRPr lang="en-US" sz="1600" b="0" strike="noStrike" spc="-1">
              <a:latin typeface="Arial"/>
            </a:endParaRPr>
          </a:p>
          <a:p>
            <a:pPr>
              <a:lnSpc>
                <a:spcPct val="90000"/>
              </a:lnSpc>
            </a:pPr>
            <a:r>
              <a:rPr lang="en-US" sz="1600" b="0" strike="noStrike" spc="-1">
                <a:solidFill>
                  <a:srgbClr val="404040"/>
                </a:solidFill>
                <a:latin typeface="Calibri"/>
                <a:ea typeface="Arial"/>
              </a:rPr>
              <a:t>		System.out.println("JSON FILE");</a:t>
            </a:r>
            <a:endParaRPr lang="en-US" sz="1600" b="0" strike="noStrike" spc="-1">
              <a:latin typeface="Arial"/>
            </a:endParaRPr>
          </a:p>
          <a:p>
            <a:pPr>
              <a:lnSpc>
                <a:spcPct val="90000"/>
              </a:lnSpc>
            </a:pPr>
            <a:r>
              <a:rPr lang="en-US" sz="1600" b="0" strike="noStrike" spc="-1">
                <a:solidFill>
                  <a:srgbClr val="404040"/>
                </a:solidFill>
                <a:latin typeface="Calibri"/>
                <a:ea typeface="Arial"/>
              </a:rPr>
              <a:t>		jsonfilename = "&lt;Absolute path of jsons folder&gt;"+getFileName();</a:t>
            </a:r>
            <a:endParaRPr lang="en-US" sz="1600" b="0" strike="noStrike" spc="-1">
              <a:latin typeface="Arial"/>
            </a:endParaRPr>
          </a:p>
          <a:p>
            <a:pPr>
              <a:lnSpc>
                <a:spcPct val="90000"/>
              </a:lnSpc>
            </a:pPr>
            <a:r>
              <a:rPr lang="en-US" sz="1600" b="0" strike="noStrike" spc="-1">
                <a:solidFill>
                  <a:srgbClr val="404040"/>
                </a:solidFill>
                <a:latin typeface="Calibri"/>
                <a:ea typeface="Arial"/>
              </a:rPr>
              <a:t>		b = csvObject.nameValidator(jsonfilename,"json");</a:t>
            </a:r>
            <a:endParaRPr lang="en-US" sz="1600" b="0" strike="noStrike" spc="-1">
              <a:latin typeface="Arial"/>
            </a:endParaRPr>
          </a:p>
          <a:p>
            <a:pPr>
              <a:lnSpc>
                <a:spcPct val="90000"/>
              </a:lnSpc>
            </a:pPr>
            <a:r>
              <a:rPr lang="en-US" sz="1600" b="0" strike="noStrike" spc="-1">
                <a:solidFill>
                  <a:srgbClr val="404040"/>
                </a:solidFill>
                <a:latin typeface="Calibri"/>
                <a:ea typeface="Arial"/>
              </a:rPr>
              <a:t>		if(b==true)</a:t>
            </a:r>
            <a:endParaRPr lang="en-US" sz="1600" b="0" strike="noStrike" spc="-1">
              <a:latin typeface="Arial"/>
            </a:endParaRPr>
          </a:p>
          <a:p>
            <a:pPr>
              <a:lnSpc>
                <a:spcPct val="90000"/>
              </a:lnSpc>
            </a:pPr>
            <a:r>
              <a:rPr lang="en-US" sz="1600" b="0" strike="noStrike" spc="-1">
                <a:solidFill>
                  <a:srgbClr val="404040"/>
                </a:solidFill>
                <a:latin typeface="Calibri"/>
                <a:ea typeface="Arial"/>
              </a:rPr>
              <a:t>			System.out.println("JSON File is OK..");</a:t>
            </a:r>
            <a:endParaRPr lang="en-US" sz="1600" b="0" strike="noStrike" spc="-1">
              <a:latin typeface="Arial"/>
            </a:endParaRPr>
          </a:p>
          <a:p>
            <a:pPr>
              <a:lnSpc>
                <a:spcPct val="90000"/>
              </a:lnSpc>
            </a:pPr>
            <a:r>
              <a:rPr lang="en-US" sz="1600" b="0" strike="noStrike" spc="-1">
                <a:solidFill>
                  <a:srgbClr val="404040"/>
                </a:solidFill>
                <a:latin typeface="Calibri"/>
                <a:ea typeface="Arial"/>
              </a:rPr>
              <a:t>		csvprocessor processorObj = new csvprocessor();</a:t>
            </a:r>
            <a:endParaRPr lang="en-US" sz="1600" b="0" strike="noStrike" spc="-1">
              <a:latin typeface="Arial"/>
            </a:endParaRPr>
          </a:p>
          <a:p>
            <a:pPr>
              <a:lnSpc>
                <a:spcPct val="90000"/>
              </a:lnSpc>
            </a:pPr>
            <a:r>
              <a:rPr lang="en-US" sz="1600" b="0" strike="noStrike" spc="-1">
                <a:solidFill>
                  <a:srgbClr val="404040"/>
                </a:solidFill>
                <a:latin typeface="Calibri"/>
                <a:ea typeface="Arial"/>
              </a:rPr>
              <a:t>		b = processorObj.processCSV(csvfilename,jsonfilename);</a:t>
            </a:r>
            <a:endParaRPr lang="en-US" sz="1600" b="0" strike="noStrike" spc="-1">
              <a:latin typeface="Arial"/>
            </a:endParaRPr>
          </a:p>
          <a:p>
            <a:pPr>
              <a:lnSpc>
                <a:spcPct val="90000"/>
              </a:lnSpc>
            </a:pPr>
            <a:r>
              <a:rPr lang="en-US" sz="1600" b="0" strike="noStrike" spc="-1">
                <a:solidFill>
                  <a:srgbClr val="404040"/>
                </a:solidFill>
                <a:latin typeface="Calibri"/>
                <a:ea typeface="Arial"/>
              </a:rPr>
              <a:t>		if(b=true)	</a:t>
            </a:r>
            <a:endParaRPr lang="en-US" sz="1600" b="0" strike="noStrike" spc="-1">
              <a:latin typeface="Arial"/>
            </a:endParaRPr>
          </a:p>
          <a:p>
            <a:pPr>
              <a:lnSpc>
                <a:spcPct val="90000"/>
              </a:lnSpc>
            </a:pPr>
            <a:r>
              <a:rPr lang="en-US" sz="1600" b="0" strike="noStrike" spc="-1">
                <a:solidFill>
                  <a:srgbClr val="404040"/>
                </a:solidFill>
                <a:latin typeface="Calibri"/>
                <a:ea typeface="Arial"/>
              </a:rPr>
              <a:t>			System.out.println("...Converted...");</a:t>
            </a:r>
            <a:endParaRPr lang="en-US" sz="1600" b="0" strike="noStrike" spc="-1">
              <a:latin typeface="Arial"/>
            </a:endParaRPr>
          </a:p>
          <a:p>
            <a:pPr>
              <a:lnSpc>
                <a:spcPct val="90000"/>
              </a:lnSpc>
            </a:pPr>
            <a:r>
              <a:rPr lang="en-US" sz="1600" b="0" strike="noStrike" spc="-1">
                <a:solidFill>
                  <a:srgbClr val="404040"/>
                </a:solidFill>
                <a:latin typeface="Calibri"/>
                <a:ea typeface="Arial"/>
              </a:rPr>
              <a:t>	}</a:t>
            </a:r>
            <a:endParaRPr lang="en-US" sz="16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CustomShape 1"/>
          <p:cNvSpPr/>
          <p:nvPr/>
        </p:nvSpPr>
        <p:spPr>
          <a:xfrm>
            <a:off x="822960" y="214920"/>
            <a:ext cx="7541640" cy="1085760"/>
          </a:xfrm>
          <a:prstGeom prst="rect">
            <a:avLst/>
          </a:prstGeom>
          <a:noFill/>
          <a:ln>
            <a:noFill/>
          </a:ln>
        </p:spPr>
        <p:style>
          <a:lnRef idx="0">
            <a:scrgbClr r="0" g="0" b="0"/>
          </a:lnRef>
          <a:fillRef idx="0">
            <a:scrgbClr r="0" g="0" b="0"/>
          </a:fillRef>
          <a:effectRef idx="0">
            <a:scrgbClr r="0" g="0" b="0"/>
          </a:effectRef>
          <a:fontRef idx="minor"/>
        </p:style>
      </p:sp>
      <p:sp>
        <p:nvSpPr>
          <p:cNvPr id="333" name="CustomShape 2"/>
          <p:cNvSpPr/>
          <p:nvPr/>
        </p:nvSpPr>
        <p:spPr>
          <a:xfrm>
            <a:off x="365760" y="100692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34"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25AA4690-7119-4C9A-A307-57DFEE551C77}" type="slidenum">
              <a:rPr lang="en-US" sz="790" b="0" strike="noStrike" spc="-1">
                <a:solidFill>
                  <a:srgbClr val="FFFFFF"/>
                </a:solidFill>
                <a:latin typeface="Arial"/>
                <a:ea typeface="Arial"/>
              </a:rPr>
              <a:t>58</a:t>
            </a:fld>
            <a:endParaRPr lang="en-US" sz="790" b="0" strike="noStrike" spc="-1">
              <a:latin typeface="Arial"/>
            </a:endParaRPr>
          </a:p>
        </p:txBody>
      </p:sp>
      <p:sp>
        <p:nvSpPr>
          <p:cNvPr id="335"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Project Compilation</a:t>
            </a:r>
            <a:endParaRPr lang="en-US" sz="3600" b="0" strike="noStrike" spc="-1">
              <a:latin typeface="Arial"/>
            </a:endParaRPr>
          </a:p>
        </p:txBody>
      </p:sp>
      <p:sp>
        <p:nvSpPr>
          <p:cNvPr id="336" name="CustomShape 5"/>
          <p:cNvSpPr/>
          <p:nvPr/>
        </p:nvSpPr>
        <p:spPr>
          <a:xfrm>
            <a:off x="494280" y="1301040"/>
            <a:ext cx="3985920" cy="327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000000"/>
              </a:buClr>
              <a:buSzPct val="45000"/>
              <a:buFont typeface="Wingdings" charset="2"/>
              <a:buChar char=""/>
            </a:pPr>
            <a:r>
              <a:rPr lang="en-US" sz="1500" b="0" strike="noStrike" spc="-1">
                <a:solidFill>
                  <a:srgbClr val="404040"/>
                </a:solidFill>
                <a:latin typeface="Calibri"/>
                <a:ea typeface="Arial"/>
              </a:rPr>
              <a:t>To combine all the methods, store all the classes in appropriate folders</a:t>
            </a:r>
            <a:endParaRPr lang="en-US" sz="1500" b="0" strike="noStrike" spc="-1">
              <a:latin typeface="Arial"/>
            </a:endParaRPr>
          </a:p>
          <a:p>
            <a:pPr marL="216000" indent="-215640">
              <a:lnSpc>
                <a:spcPct val="100000"/>
              </a:lnSpc>
              <a:buClr>
                <a:srgbClr val="000000"/>
              </a:buClr>
              <a:buSzPct val="45000"/>
              <a:buFont typeface="Wingdings" charset="2"/>
              <a:buChar char=""/>
            </a:pPr>
            <a:r>
              <a:rPr lang="en-US" sz="1500" b="0" strike="noStrike" spc="-1">
                <a:solidFill>
                  <a:srgbClr val="404040"/>
                </a:solidFill>
                <a:latin typeface="Calibri"/>
                <a:ea typeface="Arial"/>
              </a:rPr>
              <a:t>Make the classes public hence change the file names accordingly</a:t>
            </a:r>
            <a:endParaRPr lang="en-US" sz="1500" b="0" strike="noStrike" spc="-1">
              <a:latin typeface="Arial"/>
            </a:endParaRPr>
          </a:p>
          <a:p>
            <a:pPr marL="216000" indent="-215640">
              <a:lnSpc>
                <a:spcPct val="100000"/>
              </a:lnSpc>
              <a:buClr>
                <a:srgbClr val="000000"/>
              </a:buClr>
              <a:buSzPct val="45000"/>
              <a:buFont typeface="Wingdings" charset="2"/>
              <a:buChar char=""/>
            </a:pPr>
            <a:r>
              <a:rPr lang="en-US" sz="1500" b="0" strike="noStrike" spc="-1">
                <a:solidFill>
                  <a:srgbClr val="404040"/>
                </a:solidFill>
                <a:latin typeface="Calibri"/>
                <a:ea typeface="Arial"/>
              </a:rPr>
              <a:t>Check filenames, it must be the absolute path of the files</a:t>
            </a:r>
            <a:endParaRPr lang="en-US" sz="1500" b="0" strike="noStrike" spc="-1">
              <a:latin typeface="Arial"/>
            </a:endParaRPr>
          </a:p>
          <a:p>
            <a:pPr marL="216000" indent="-215640">
              <a:lnSpc>
                <a:spcPct val="100000"/>
              </a:lnSpc>
              <a:buClr>
                <a:srgbClr val="000000"/>
              </a:buClr>
              <a:buSzPct val="45000"/>
              <a:buFont typeface="Wingdings" charset="2"/>
              <a:buChar char=""/>
            </a:pPr>
            <a:r>
              <a:rPr lang="en-US" sz="1500" b="0" strike="noStrike" spc="-1">
                <a:solidFill>
                  <a:srgbClr val="404040"/>
                </a:solidFill>
                <a:latin typeface="Calibri"/>
                <a:ea typeface="Arial"/>
              </a:rPr>
              <a:t>Check package names in each of the classes</a:t>
            </a:r>
            <a:endParaRPr lang="en-US" sz="1500" b="0" strike="noStrike" spc="-1">
              <a:latin typeface="Arial"/>
            </a:endParaRPr>
          </a:p>
          <a:p>
            <a:pPr marL="216000" indent="-215640">
              <a:lnSpc>
                <a:spcPct val="100000"/>
              </a:lnSpc>
              <a:buClr>
                <a:srgbClr val="000000"/>
              </a:buClr>
              <a:buSzPct val="45000"/>
              <a:buFont typeface="Wingdings" charset="2"/>
              <a:buChar char=""/>
            </a:pPr>
            <a:r>
              <a:rPr lang="en-US" sz="1500" b="0" strike="noStrike" spc="-1">
                <a:solidFill>
                  <a:srgbClr val="404040"/>
                </a:solidFill>
                <a:latin typeface="Calibri"/>
                <a:ea typeface="Arial"/>
              </a:rPr>
              <a:t>Check import statements in the NameValidator class and JSONConverter class</a:t>
            </a:r>
            <a:endParaRPr lang="en-US" sz="1500" b="0" strike="noStrike" spc="-1">
              <a:latin typeface="Arial"/>
            </a:endParaRPr>
          </a:p>
          <a:p>
            <a:pPr marL="216000" indent="-215640">
              <a:lnSpc>
                <a:spcPct val="100000"/>
              </a:lnSpc>
              <a:buClr>
                <a:srgbClr val="000000"/>
              </a:buClr>
              <a:buSzPct val="45000"/>
              <a:buFont typeface="Wingdings" charset="2"/>
              <a:buChar char=""/>
            </a:pPr>
            <a:r>
              <a:rPr lang="en-US" sz="1500" b="0" strike="noStrike" spc="-1">
                <a:solidFill>
                  <a:srgbClr val="404040"/>
                </a:solidFill>
                <a:latin typeface="Calibri"/>
                <a:ea typeface="Arial"/>
              </a:rPr>
              <a:t>logger.properties need a path of the log file, it must be the absolute path</a:t>
            </a:r>
            <a:endParaRPr lang="en-US" sz="1500" b="0" strike="noStrike" spc="-1">
              <a:latin typeface="Arial"/>
            </a:endParaRPr>
          </a:p>
          <a:p>
            <a:pPr>
              <a:lnSpc>
                <a:spcPct val="100000"/>
              </a:lnSpc>
            </a:pPr>
            <a:endParaRPr lang="en-US" sz="1500" b="0" strike="noStrike" spc="-1">
              <a:latin typeface="Arial"/>
            </a:endParaRPr>
          </a:p>
        </p:txBody>
      </p:sp>
      <p:sp>
        <p:nvSpPr>
          <p:cNvPr id="337" name="CustomShape 6"/>
          <p:cNvSpPr/>
          <p:nvPr/>
        </p:nvSpPr>
        <p:spPr>
          <a:xfrm>
            <a:off x="5212080" y="0"/>
            <a:ext cx="3840120" cy="4937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US" sz="1300" b="0" strike="noStrike" spc="-1">
                <a:latin typeface="Arial"/>
              </a:rPr>
              <a:t>├── configs</a:t>
            </a:r>
          </a:p>
          <a:p>
            <a:pPr>
              <a:lnSpc>
                <a:spcPct val="100000"/>
              </a:lnSpc>
            </a:pPr>
            <a:r>
              <a:rPr lang="en-US" sz="600" b="0" strike="noStrike" spc="-1">
                <a:latin typeface="Arial"/>
              </a:rPr>
              <a:t> </a:t>
            </a:r>
            <a:r>
              <a:rPr lang="en-US" sz="1300" b="0" strike="noStrike" spc="-1">
                <a:latin typeface="Arial"/>
              </a:rPr>
              <a:t>│</a:t>
            </a:r>
            <a:r>
              <a:rPr lang="en-US" sz="800" b="0" strike="noStrike" spc="-1">
                <a:latin typeface="Arial"/>
              </a:rPr>
              <a:t> </a:t>
            </a:r>
            <a:r>
              <a:rPr lang="en-US" sz="1300" b="0" strike="noStrike" spc="-1">
                <a:latin typeface="Arial"/>
              </a:rPr>
              <a:t>  ├── constants</a:t>
            </a:r>
          </a:p>
          <a:p>
            <a:pPr>
              <a:lnSpc>
                <a:spcPct val="100000"/>
              </a:lnSpc>
            </a:pPr>
            <a:r>
              <a:rPr lang="en-US" sz="600" b="0" strike="noStrike" spc="-1">
                <a:latin typeface="Arial"/>
              </a:rPr>
              <a:t> </a:t>
            </a:r>
            <a:r>
              <a:rPr lang="en-US" sz="1300" b="0" strike="noStrike" spc="-1">
                <a:latin typeface="Arial"/>
              </a:rPr>
              <a:t>│   │   └── exceptions.properties</a:t>
            </a:r>
          </a:p>
          <a:p>
            <a:pPr>
              <a:lnSpc>
                <a:spcPct val="100000"/>
              </a:lnSpc>
            </a:pPr>
            <a:r>
              <a:rPr lang="en-US" sz="600" b="0" strike="noStrike" spc="-1">
                <a:latin typeface="Arial"/>
              </a:rPr>
              <a:t> </a:t>
            </a:r>
            <a:r>
              <a:rPr lang="en-US" sz="1300" b="0" strike="noStrike" spc="-1">
                <a:latin typeface="Arial"/>
              </a:rPr>
              <a:t>│</a:t>
            </a:r>
            <a:r>
              <a:rPr lang="en-US" sz="700" b="0" strike="noStrike" spc="-1">
                <a:latin typeface="Arial"/>
              </a:rPr>
              <a:t> </a:t>
            </a:r>
            <a:r>
              <a:rPr lang="en-US" sz="1300" b="0" strike="noStrike" spc="-1">
                <a:latin typeface="Arial"/>
              </a:rPr>
              <a:t>  └── logger</a:t>
            </a:r>
          </a:p>
          <a:p>
            <a:pPr>
              <a:lnSpc>
                <a:spcPct val="100000"/>
              </a:lnSpc>
            </a:pPr>
            <a:r>
              <a:rPr lang="en-US" sz="600" b="0" strike="noStrike" spc="-1">
                <a:latin typeface="Arial"/>
              </a:rPr>
              <a:t> </a:t>
            </a:r>
            <a:r>
              <a:rPr lang="en-US" sz="1300" b="0" strike="noStrike" spc="-1">
                <a:latin typeface="Arial"/>
              </a:rPr>
              <a:t>│       └── logger.properties</a:t>
            </a:r>
          </a:p>
          <a:p>
            <a:pPr>
              <a:lnSpc>
                <a:spcPct val="100000"/>
              </a:lnSpc>
            </a:pPr>
            <a:r>
              <a:rPr lang="en-US" sz="1300" b="0" strike="noStrike" spc="-1">
                <a:latin typeface="Arial"/>
              </a:rPr>
              <a:t>├── csvs</a:t>
            </a:r>
          </a:p>
          <a:p>
            <a:pPr>
              <a:lnSpc>
                <a:spcPct val="100000"/>
              </a:lnSpc>
            </a:pPr>
            <a:r>
              <a:rPr lang="en-US" sz="490" b="0" strike="noStrike" spc="-1">
                <a:latin typeface="Arial"/>
              </a:rPr>
              <a:t> </a:t>
            </a:r>
            <a:r>
              <a:rPr lang="en-US" sz="1300" b="0" strike="noStrike" spc="-1">
                <a:latin typeface="Arial"/>
              </a:rPr>
              <a:t>│   └── example.csv</a:t>
            </a:r>
          </a:p>
          <a:p>
            <a:pPr>
              <a:lnSpc>
                <a:spcPct val="100000"/>
              </a:lnSpc>
            </a:pPr>
            <a:r>
              <a:rPr lang="en-US" sz="1300" b="0" strike="noStrike" spc="-1">
                <a:latin typeface="Arial"/>
              </a:rPr>
              <a:t>├── jsons</a:t>
            </a:r>
          </a:p>
          <a:p>
            <a:pPr>
              <a:lnSpc>
                <a:spcPct val="100000"/>
              </a:lnSpc>
            </a:pPr>
            <a:r>
              <a:rPr lang="en-US" sz="540" b="0" strike="noStrike" spc="-1">
                <a:latin typeface="Arial"/>
              </a:rPr>
              <a:t> </a:t>
            </a:r>
            <a:r>
              <a:rPr lang="en-US" sz="1300" b="0" strike="noStrike" spc="-1">
                <a:latin typeface="Arial"/>
              </a:rPr>
              <a:t>│   └── example.json</a:t>
            </a:r>
          </a:p>
          <a:p>
            <a:pPr>
              <a:lnSpc>
                <a:spcPct val="100000"/>
              </a:lnSpc>
            </a:pPr>
            <a:r>
              <a:rPr lang="en-US" sz="1300" b="0" strike="noStrike" spc="-1">
                <a:latin typeface="Arial"/>
              </a:rPr>
              <a:t>├── libs</a:t>
            </a:r>
          </a:p>
          <a:p>
            <a:pPr>
              <a:lnSpc>
                <a:spcPct val="100000"/>
              </a:lnSpc>
            </a:pPr>
            <a:r>
              <a:rPr lang="en-US" sz="600" b="0" strike="noStrike" spc="-1">
                <a:latin typeface="Arial"/>
              </a:rPr>
              <a:t> </a:t>
            </a:r>
            <a:r>
              <a:rPr lang="en-US" sz="1300" b="0" strike="noStrike" spc="-1">
                <a:latin typeface="Arial"/>
              </a:rPr>
              <a:t>│   ├── json-simple-1.1.1.jar </a:t>
            </a:r>
          </a:p>
          <a:p>
            <a:pPr>
              <a:lnSpc>
                <a:spcPct val="100000"/>
              </a:lnSpc>
            </a:pPr>
            <a:r>
              <a:rPr lang="en-US" sz="600" b="0" strike="noStrike" spc="-1">
                <a:latin typeface="Arial"/>
              </a:rPr>
              <a:t> </a:t>
            </a:r>
            <a:r>
              <a:rPr lang="en-US" sz="1300" b="0" strike="noStrike" spc="-1">
                <a:latin typeface="Arial"/>
              </a:rPr>
              <a:t>│   └── log4j-1.2.17.jar</a:t>
            </a:r>
          </a:p>
          <a:p>
            <a:pPr>
              <a:lnSpc>
                <a:spcPct val="100000"/>
              </a:lnSpc>
            </a:pPr>
            <a:r>
              <a:rPr lang="en-US" sz="1300" b="0" strike="noStrike" spc="-1">
                <a:latin typeface="Arial"/>
              </a:rPr>
              <a:t>├── logs</a:t>
            </a:r>
          </a:p>
          <a:p>
            <a:pPr>
              <a:lnSpc>
                <a:spcPct val="100000"/>
              </a:lnSpc>
            </a:pPr>
            <a:r>
              <a:rPr lang="en-US" sz="600" b="0" strike="noStrike" spc="-1">
                <a:latin typeface="Arial"/>
              </a:rPr>
              <a:t> </a:t>
            </a:r>
            <a:r>
              <a:rPr lang="en-US" sz="1300" b="0" strike="noStrike" spc="-1">
                <a:latin typeface="Arial"/>
              </a:rPr>
              <a:t>│   └── logger.log</a:t>
            </a:r>
          </a:p>
          <a:p>
            <a:pPr>
              <a:lnSpc>
                <a:spcPct val="100000"/>
              </a:lnSpc>
            </a:pPr>
            <a:r>
              <a:rPr lang="en-US" sz="1300" b="0" strike="noStrike" spc="-1">
                <a:latin typeface="Arial"/>
              </a:rPr>
              <a:t>├── src</a:t>
            </a:r>
          </a:p>
          <a:p>
            <a:pPr>
              <a:lnSpc>
                <a:spcPct val="100000"/>
              </a:lnSpc>
            </a:pPr>
            <a:r>
              <a:rPr lang="en-US" sz="600" b="0" strike="noStrike" spc="-1">
                <a:latin typeface="Arial"/>
              </a:rPr>
              <a:t> </a:t>
            </a:r>
            <a:r>
              <a:rPr lang="en-US" sz="1300" b="0" strike="noStrike" spc="-1">
                <a:latin typeface="Arial"/>
              </a:rPr>
              <a:t>│   └── com</a:t>
            </a:r>
          </a:p>
          <a:p>
            <a:pPr>
              <a:lnSpc>
                <a:spcPct val="100000"/>
              </a:lnSpc>
            </a:pPr>
            <a:r>
              <a:rPr lang="en-US" sz="600" b="0" strike="noStrike" spc="-1">
                <a:latin typeface="Arial"/>
              </a:rPr>
              <a:t> </a:t>
            </a:r>
            <a:r>
              <a:rPr lang="en-US" sz="1300" b="0" strike="noStrike" spc="-1">
                <a:latin typeface="Arial"/>
              </a:rPr>
              <a:t>│       └── ncu</a:t>
            </a:r>
          </a:p>
          <a:p>
            <a:pPr>
              <a:lnSpc>
                <a:spcPct val="100000"/>
              </a:lnSpc>
            </a:pPr>
            <a:r>
              <a:rPr lang="en-US" sz="600" b="0" strike="noStrike" spc="-1">
                <a:latin typeface="Arial"/>
              </a:rPr>
              <a:t> </a:t>
            </a:r>
            <a:r>
              <a:rPr lang="en-US" sz="1300" b="0" strike="noStrike" spc="-1">
                <a:latin typeface="Arial"/>
              </a:rPr>
              <a:t>│       </a:t>
            </a:r>
            <a:r>
              <a:rPr lang="en-US" sz="600" b="0" strike="noStrike" spc="-1">
                <a:latin typeface="Arial"/>
              </a:rPr>
              <a:t> </a:t>
            </a:r>
            <a:r>
              <a:rPr lang="en-US" sz="1300" b="0" strike="noStrike" spc="-1">
                <a:latin typeface="Arial"/>
              </a:rPr>
              <a:t>   ├── exceptions</a:t>
            </a:r>
          </a:p>
          <a:p>
            <a:pPr>
              <a:lnSpc>
                <a:spcPct val="100000"/>
              </a:lnSpc>
            </a:pPr>
            <a:r>
              <a:rPr lang="en-US" sz="490" b="0" strike="noStrike" spc="-1">
                <a:latin typeface="Arial"/>
              </a:rPr>
              <a:t> </a:t>
            </a:r>
            <a:r>
              <a:rPr lang="en-US" sz="1300" b="0" strike="noStrike" spc="-1">
                <a:latin typeface="Arial"/>
              </a:rPr>
              <a:t>│           │   ├── EmptyFileNameException.java</a:t>
            </a:r>
          </a:p>
          <a:p>
            <a:pPr>
              <a:lnSpc>
                <a:spcPct val="100000"/>
              </a:lnSpc>
            </a:pPr>
            <a:r>
              <a:rPr lang="en-US" sz="600" b="0" strike="noStrike" spc="-1">
                <a:latin typeface="Arial"/>
              </a:rPr>
              <a:t> </a:t>
            </a:r>
            <a:r>
              <a:rPr lang="en-US" sz="1300" b="0" strike="noStrike" spc="-1">
                <a:latin typeface="Arial"/>
              </a:rPr>
              <a:t>│           │   └── MissingExtensionException.java</a:t>
            </a:r>
          </a:p>
          <a:p>
            <a:pPr>
              <a:lnSpc>
                <a:spcPct val="100000"/>
              </a:lnSpc>
            </a:pPr>
            <a:r>
              <a:rPr lang="en-US" sz="600" b="0" strike="noStrike" spc="-1">
                <a:latin typeface="Arial"/>
              </a:rPr>
              <a:t> </a:t>
            </a:r>
            <a:r>
              <a:rPr lang="en-US" sz="1300" b="0" strike="noStrike" spc="-1">
                <a:latin typeface="Arial"/>
              </a:rPr>
              <a:t>│      </a:t>
            </a:r>
            <a:r>
              <a:rPr lang="en-US" sz="600" b="0" strike="noStrike" spc="-1">
                <a:latin typeface="Arial"/>
              </a:rPr>
              <a:t> </a:t>
            </a:r>
            <a:r>
              <a:rPr lang="en-US" sz="1300" b="0" strike="noStrike" spc="-1">
                <a:latin typeface="Arial"/>
              </a:rPr>
              <a:t>    ├── main</a:t>
            </a:r>
          </a:p>
          <a:p>
            <a:pPr>
              <a:lnSpc>
                <a:spcPct val="100000"/>
              </a:lnSpc>
            </a:pPr>
            <a:r>
              <a:rPr lang="en-US" sz="600" b="0" strike="noStrike" spc="-1">
                <a:latin typeface="Arial"/>
              </a:rPr>
              <a:t> </a:t>
            </a:r>
            <a:r>
              <a:rPr lang="en-US" sz="1300" b="0" strike="noStrike" spc="-1">
                <a:latin typeface="Arial"/>
              </a:rPr>
              <a:t>│           │   └── JSONConverter.java</a:t>
            </a:r>
          </a:p>
          <a:p>
            <a:pPr>
              <a:lnSpc>
                <a:spcPct val="100000"/>
              </a:lnSpc>
            </a:pPr>
            <a:r>
              <a:rPr lang="en-US" sz="600" b="0" strike="noStrike" spc="-1">
                <a:latin typeface="Arial"/>
              </a:rPr>
              <a:t> </a:t>
            </a:r>
            <a:r>
              <a:rPr lang="en-US" sz="1300" b="0" strike="noStrike" spc="-1">
                <a:latin typeface="Arial"/>
              </a:rPr>
              <a:t>│     </a:t>
            </a:r>
            <a:r>
              <a:rPr lang="en-US" sz="600" b="0" strike="noStrike" spc="-1">
                <a:latin typeface="Arial"/>
              </a:rPr>
              <a:t> </a:t>
            </a:r>
            <a:r>
              <a:rPr lang="en-US" sz="1300" b="0" strike="noStrike" spc="-1">
                <a:latin typeface="Arial"/>
              </a:rPr>
              <a:t>     ├── processors</a:t>
            </a:r>
          </a:p>
          <a:p>
            <a:pPr>
              <a:lnSpc>
                <a:spcPct val="100000"/>
              </a:lnSpc>
            </a:pPr>
            <a:r>
              <a:rPr lang="en-US" sz="600" b="0" strike="noStrike" spc="-1">
                <a:latin typeface="Arial"/>
              </a:rPr>
              <a:t> </a:t>
            </a:r>
            <a:r>
              <a:rPr lang="en-US" sz="1300" b="0" strike="noStrike" spc="-1">
                <a:latin typeface="Arial"/>
              </a:rPr>
              <a:t>│           │   └── csvprocessor.java</a:t>
            </a:r>
          </a:p>
          <a:p>
            <a:pPr>
              <a:lnSpc>
                <a:spcPct val="100000"/>
              </a:lnSpc>
            </a:pPr>
            <a:r>
              <a:rPr lang="en-US" sz="600" b="0" strike="noStrike" spc="-1">
                <a:latin typeface="Arial"/>
              </a:rPr>
              <a:t> </a:t>
            </a:r>
            <a:r>
              <a:rPr lang="en-US" sz="1300" b="0" strike="noStrike" spc="-1">
                <a:latin typeface="Arial"/>
              </a:rPr>
              <a:t>│     </a:t>
            </a:r>
            <a:r>
              <a:rPr lang="en-US" sz="700" b="0" strike="noStrike" spc="-1">
                <a:latin typeface="Arial"/>
              </a:rPr>
              <a:t> </a:t>
            </a:r>
            <a:r>
              <a:rPr lang="en-US" sz="1300" b="0" strike="noStrike" spc="-1">
                <a:latin typeface="Arial"/>
              </a:rPr>
              <a:t>     └── validators</a:t>
            </a:r>
          </a:p>
          <a:p>
            <a:pPr>
              <a:lnSpc>
                <a:spcPct val="100000"/>
              </a:lnSpc>
            </a:pPr>
            <a:r>
              <a:rPr lang="en-US" sz="600" b="0" strike="noStrike" spc="-1">
                <a:latin typeface="Arial"/>
              </a:rPr>
              <a:t> </a:t>
            </a:r>
            <a:r>
              <a:rPr lang="en-US" sz="1300" b="0" strike="noStrike" spc="-1">
                <a:latin typeface="Arial"/>
              </a:rPr>
              <a:t>│               ├── NameValidator.java</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CustomShape 1"/>
          <p:cNvSpPr/>
          <p:nvPr/>
        </p:nvSpPr>
        <p:spPr>
          <a:xfrm>
            <a:off x="365760" y="214920"/>
            <a:ext cx="7998840" cy="1085760"/>
          </a:xfrm>
          <a:prstGeom prst="rect">
            <a:avLst/>
          </a:prstGeom>
          <a:noFill/>
          <a:ln>
            <a:noFill/>
          </a:ln>
        </p:spPr>
        <p:style>
          <a:lnRef idx="0">
            <a:scrgbClr r="0" g="0" b="0"/>
          </a:lnRef>
          <a:fillRef idx="0">
            <a:scrgbClr r="0" g="0" b="0"/>
          </a:fillRef>
          <a:effectRef idx="0">
            <a:scrgbClr r="0" g="0" b="0"/>
          </a:effectRef>
          <a:fontRef idx="minor"/>
        </p:style>
      </p:sp>
      <p:sp>
        <p:nvSpPr>
          <p:cNvPr id="339" name="CustomShape 2"/>
          <p:cNvSpPr/>
          <p:nvPr/>
        </p:nvSpPr>
        <p:spPr>
          <a:xfrm>
            <a:off x="365760" y="1006920"/>
            <a:ext cx="7541640" cy="3015360"/>
          </a:xfrm>
          <a:prstGeom prst="rect">
            <a:avLst/>
          </a:prstGeom>
          <a:noFill/>
          <a:ln>
            <a:noFill/>
          </a:ln>
        </p:spPr>
        <p:style>
          <a:lnRef idx="0">
            <a:scrgbClr r="0" g="0" b="0"/>
          </a:lnRef>
          <a:fillRef idx="0">
            <a:scrgbClr r="0" g="0" b="0"/>
          </a:fillRef>
          <a:effectRef idx="0">
            <a:scrgbClr r="0" g="0" b="0"/>
          </a:effectRef>
          <a:fontRef idx="minor"/>
        </p:style>
      </p:sp>
      <p:sp>
        <p:nvSpPr>
          <p:cNvPr id="340" name="CustomShape 3"/>
          <p:cNvSpPr/>
          <p:nvPr/>
        </p:nvSpPr>
        <p:spPr>
          <a:xfrm>
            <a:off x="7425360" y="4844880"/>
            <a:ext cx="981720" cy="271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a:lnSpc>
                <a:spcPct val="100000"/>
              </a:lnSpc>
            </a:pPr>
            <a:fld id="{298967DA-7AA6-4554-B795-9F21CCBFCB6F}" type="slidenum">
              <a:rPr lang="en-US" sz="790" b="0" strike="noStrike" spc="-1">
                <a:solidFill>
                  <a:srgbClr val="FFFFFF"/>
                </a:solidFill>
                <a:latin typeface="Arial"/>
                <a:ea typeface="Arial"/>
              </a:rPr>
              <a:t>59</a:t>
            </a:fld>
            <a:endParaRPr lang="en-US" sz="790" b="0" strike="noStrike" spc="-1">
              <a:latin typeface="Arial"/>
            </a:endParaRPr>
          </a:p>
        </p:txBody>
      </p:sp>
      <p:sp>
        <p:nvSpPr>
          <p:cNvPr id="341" name="CustomShape 4"/>
          <p:cNvSpPr/>
          <p:nvPr/>
        </p:nvSpPr>
        <p:spPr>
          <a:xfrm>
            <a:off x="365760" y="69840"/>
            <a:ext cx="8502840" cy="66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lstStyle/>
          <a:p>
            <a:pPr>
              <a:lnSpc>
                <a:spcPct val="85000"/>
              </a:lnSpc>
            </a:pPr>
            <a:r>
              <a:rPr lang="en-US" sz="3600" b="0" strike="noStrike" spc="-38">
                <a:solidFill>
                  <a:srgbClr val="404040"/>
                </a:solidFill>
                <a:latin typeface="Calibri Light"/>
                <a:ea typeface="Arial"/>
              </a:rPr>
              <a:t>Project Compilation</a:t>
            </a:r>
            <a:endParaRPr lang="en-US" sz="3600" b="0" strike="noStrike" spc="-1">
              <a:latin typeface="Arial"/>
            </a:endParaRPr>
          </a:p>
        </p:txBody>
      </p:sp>
      <p:sp>
        <p:nvSpPr>
          <p:cNvPr id="342" name="CustomShape 5"/>
          <p:cNvSpPr/>
          <p:nvPr/>
        </p:nvSpPr>
        <p:spPr>
          <a:xfrm>
            <a:off x="182880" y="1301040"/>
            <a:ext cx="8960760" cy="327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16000" indent="-215640">
              <a:lnSpc>
                <a:spcPct val="100000"/>
              </a:lnSpc>
              <a:buClr>
                <a:srgbClr val="000000"/>
              </a:buClr>
              <a:buSzPct val="45000"/>
              <a:buFont typeface="Wingdings" charset="2"/>
              <a:buChar char=""/>
            </a:pPr>
            <a:r>
              <a:rPr lang="en-US" sz="1500" b="0" strike="noStrike" spc="-1" dirty="0">
                <a:solidFill>
                  <a:srgbClr val="404040"/>
                </a:solidFill>
                <a:latin typeface="Calibri"/>
                <a:ea typeface="Arial"/>
              </a:rPr>
              <a:t>First compile exception classes</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err="1">
                <a:solidFill>
                  <a:srgbClr val="404040"/>
                </a:solidFill>
                <a:latin typeface="Calibri"/>
                <a:ea typeface="Arial"/>
              </a:rPr>
              <a:t>javac</a:t>
            </a:r>
            <a:r>
              <a:rPr lang="en-US" sz="1500" b="0" strike="noStrike" spc="-1" dirty="0">
                <a:solidFill>
                  <a:srgbClr val="404040"/>
                </a:solidFill>
                <a:latin typeface="Calibri"/>
                <a:ea typeface="Arial"/>
              </a:rPr>
              <a:t> -d classes/ </a:t>
            </a:r>
            <a:r>
              <a:rPr lang="en-US" sz="1500" b="0" strike="noStrike" spc="-1" dirty="0" err="1">
                <a:solidFill>
                  <a:srgbClr val="404040"/>
                </a:solidFill>
                <a:latin typeface="Calibri"/>
                <a:ea typeface="Arial"/>
              </a:rPr>
              <a:t>src</a:t>
            </a:r>
            <a:r>
              <a:rPr lang="en-US" sz="1500" b="0" strike="noStrike" spc="-1" dirty="0">
                <a:solidFill>
                  <a:srgbClr val="404040"/>
                </a:solidFill>
                <a:latin typeface="Calibri"/>
                <a:ea typeface="Arial"/>
              </a:rPr>
              <a:t>/com/</a:t>
            </a:r>
            <a:r>
              <a:rPr lang="en-US" sz="1500" b="0" strike="noStrike" spc="-1" dirty="0" err="1">
                <a:solidFill>
                  <a:srgbClr val="404040"/>
                </a:solidFill>
                <a:latin typeface="Calibri"/>
                <a:ea typeface="Arial"/>
              </a:rPr>
              <a:t>ncu</a:t>
            </a:r>
            <a:r>
              <a:rPr lang="en-US" sz="1500" b="0" strike="noStrike" spc="-1" dirty="0">
                <a:solidFill>
                  <a:srgbClr val="404040"/>
                </a:solidFill>
                <a:latin typeface="Calibri"/>
                <a:ea typeface="Arial"/>
              </a:rPr>
              <a:t>/exceptions/*.java</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a:solidFill>
                  <a:srgbClr val="404040"/>
                </a:solidFill>
                <a:latin typeface="Calibri"/>
                <a:ea typeface="Arial"/>
              </a:rPr>
              <a:t>Compile </a:t>
            </a:r>
            <a:r>
              <a:rPr lang="en-US" sz="1500" b="0" strike="noStrike" spc="-1" dirty="0" err="1">
                <a:solidFill>
                  <a:srgbClr val="404040"/>
                </a:solidFill>
                <a:latin typeface="Calibri"/>
                <a:ea typeface="Arial"/>
              </a:rPr>
              <a:t>csvprocessor</a:t>
            </a:r>
            <a:r>
              <a:rPr lang="en-US" sz="1500" b="0" strike="noStrike" spc="-1" dirty="0">
                <a:solidFill>
                  <a:srgbClr val="404040"/>
                </a:solidFill>
                <a:latin typeface="Calibri"/>
                <a:ea typeface="Arial"/>
              </a:rPr>
              <a:t> class</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err="1">
                <a:solidFill>
                  <a:srgbClr val="404040"/>
                </a:solidFill>
                <a:latin typeface="Calibri"/>
                <a:ea typeface="Arial"/>
              </a:rPr>
              <a:t>javac</a:t>
            </a:r>
            <a:r>
              <a:rPr lang="en-US" sz="1500" b="0" strike="noStrike" spc="-1" dirty="0">
                <a:solidFill>
                  <a:srgbClr val="404040"/>
                </a:solidFill>
                <a:latin typeface="Calibri"/>
                <a:ea typeface="Arial"/>
              </a:rPr>
              <a:t> -</a:t>
            </a:r>
            <a:r>
              <a:rPr lang="en-US" sz="1500" b="0" strike="noStrike" spc="-1" dirty="0" err="1">
                <a:solidFill>
                  <a:srgbClr val="404040"/>
                </a:solidFill>
                <a:latin typeface="Calibri"/>
                <a:ea typeface="Arial"/>
              </a:rPr>
              <a:t>cp</a:t>
            </a:r>
            <a:r>
              <a:rPr lang="en-US" sz="1500" b="0" strike="noStrike" spc="-1" dirty="0">
                <a:solidFill>
                  <a:srgbClr val="404040"/>
                </a:solidFill>
                <a:latin typeface="Calibri"/>
                <a:ea typeface="Arial"/>
              </a:rPr>
              <a:t> </a:t>
            </a:r>
            <a:r>
              <a:rPr lang="en-US" sz="1500" b="0" strike="noStrike" spc="-1" dirty="0" smtClean="0">
                <a:solidFill>
                  <a:srgbClr val="404040"/>
                </a:solidFill>
                <a:latin typeface="Calibri"/>
                <a:ea typeface="Arial"/>
              </a:rPr>
              <a:t>classes/;libs/json-simple-1.1.1.jar </a:t>
            </a:r>
            <a:r>
              <a:rPr lang="en-US" sz="1500" b="0" strike="noStrike" spc="-1" dirty="0">
                <a:solidFill>
                  <a:srgbClr val="404040"/>
                </a:solidFill>
                <a:latin typeface="Calibri"/>
                <a:ea typeface="Arial"/>
              </a:rPr>
              <a:t>-d classes/ </a:t>
            </a:r>
            <a:r>
              <a:rPr lang="en-US" sz="1500" b="0" strike="noStrike" spc="-1" dirty="0" err="1">
                <a:solidFill>
                  <a:srgbClr val="404040"/>
                </a:solidFill>
                <a:latin typeface="Calibri"/>
                <a:ea typeface="Arial"/>
              </a:rPr>
              <a:t>src</a:t>
            </a:r>
            <a:r>
              <a:rPr lang="en-US" sz="1500" b="0" strike="noStrike" spc="-1" dirty="0">
                <a:solidFill>
                  <a:srgbClr val="404040"/>
                </a:solidFill>
                <a:latin typeface="Calibri"/>
                <a:ea typeface="Arial"/>
              </a:rPr>
              <a:t>/com/</a:t>
            </a:r>
            <a:r>
              <a:rPr lang="en-US" sz="1500" b="0" strike="noStrike" spc="-1" dirty="0" err="1">
                <a:solidFill>
                  <a:srgbClr val="404040"/>
                </a:solidFill>
                <a:latin typeface="Calibri"/>
                <a:ea typeface="Arial"/>
              </a:rPr>
              <a:t>ncu</a:t>
            </a:r>
            <a:r>
              <a:rPr lang="en-US" sz="1500" b="0" strike="noStrike" spc="-1" dirty="0">
                <a:solidFill>
                  <a:srgbClr val="404040"/>
                </a:solidFill>
                <a:latin typeface="Calibri"/>
                <a:ea typeface="Arial"/>
              </a:rPr>
              <a:t>/processors/csvprocessor.java</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a:solidFill>
                  <a:srgbClr val="404040"/>
                </a:solidFill>
                <a:latin typeface="Calibri"/>
                <a:ea typeface="Arial"/>
              </a:rPr>
              <a:t>Compile </a:t>
            </a:r>
            <a:r>
              <a:rPr lang="en-US" sz="1500" b="0" strike="noStrike" spc="-1" dirty="0" err="1">
                <a:solidFill>
                  <a:srgbClr val="404040"/>
                </a:solidFill>
                <a:latin typeface="Calibri"/>
                <a:ea typeface="Arial"/>
              </a:rPr>
              <a:t>NameValidatator</a:t>
            </a:r>
            <a:r>
              <a:rPr lang="en-US" sz="1500" b="0" strike="noStrike" spc="-1" dirty="0">
                <a:solidFill>
                  <a:srgbClr val="404040"/>
                </a:solidFill>
                <a:latin typeface="Calibri"/>
                <a:ea typeface="Arial"/>
              </a:rPr>
              <a:t> file</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400" b="0" strike="noStrike" spc="-1" dirty="0" err="1">
                <a:solidFill>
                  <a:srgbClr val="404040"/>
                </a:solidFill>
                <a:latin typeface="Calibri"/>
                <a:ea typeface="Arial"/>
              </a:rPr>
              <a:t>javac</a:t>
            </a:r>
            <a:r>
              <a:rPr lang="en-US" sz="1400" b="0" strike="noStrike" spc="-1" dirty="0">
                <a:solidFill>
                  <a:srgbClr val="404040"/>
                </a:solidFill>
                <a:latin typeface="Calibri"/>
                <a:ea typeface="Arial"/>
              </a:rPr>
              <a:t> -</a:t>
            </a:r>
            <a:r>
              <a:rPr lang="en-US" sz="1400" b="0" strike="noStrike" spc="-1" dirty="0" err="1">
                <a:solidFill>
                  <a:srgbClr val="404040"/>
                </a:solidFill>
                <a:latin typeface="Calibri"/>
                <a:ea typeface="Arial"/>
              </a:rPr>
              <a:t>cp</a:t>
            </a:r>
            <a:r>
              <a:rPr lang="en-US" sz="1400" b="0" strike="noStrike" spc="-1" dirty="0">
                <a:solidFill>
                  <a:srgbClr val="404040"/>
                </a:solidFill>
                <a:latin typeface="Calibri"/>
                <a:ea typeface="Arial"/>
              </a:rPr>
              <a:t> </a:t>
            </a:r>
            <a:r>
              <a:rPr lang="en-US" sz="1400" b="0" strike="noStrike" spc="-1" dirty="0" smtClean="0">
                <a:solidFill>
                  <a:srgbClr val="404040"/>
                </a:solidFill>
                <a:latin typeface="Calibri"/>
                <a:ea typeface="Arial"/>
              </a:rPr>
              <a:t>classes/;libs/json-simple-1.1.1.jar;libs/log4j-1.2.17.jar </a:t>
            </a:r>
            <a:r>
              <a:rPr lang="en-US" sz="1400" b="0" strike="noStrike" spc="-1" dirty="0">
                <a:solidFill>
                  <a:srgbClr val="404040"/>
                </a:solidFill>
                <a:latin typeface="Calibri"/>
                <a:ea typeface="Arial"/>
              </a:rPr>
              <a:t>-d classes/ </a:t>
            </a:r>
            <a:r>
              <a:rPr lang="en-US" sz="1400" b="0" strike="noStrike" spc="-1" dirty="0" err="1">
                <a:solidFill>
                  <a:srgbClr val="404040"/>
                </a:solidFill>
                <a:latin typeface="Calibri"/>
                <a:ea typeface="Arial"/>
              </a:rPr>
              <a:t>src</a:t>
            </a:r>
            <a:r>
              <a:rPr lang="en-US" sz="1400" b="0" strike="noStrike" spc="-1" dirty="0">
                <a:solidFill>
                  <a:srgbClr val="404040"/>
                </a:solidFill>
                <a:latin typeface="Calibri"/>
                <a:ea typeface="Arial"/>
              </a:rPr>
              <a:t>/com/</a:t>
            </a:r>
            <a:r>
              <a:rPr lang="en-US" sz="1400" b="0" strike="noStrike" spc="-1" dirty="0" err="1">
                <a:solidFill>
                  <a:srgbClr val="404040"/>
                </a:solidFill>
                <a:latin typeface="Calibri"/>
                <a:ea typeface="Arial"/>
              </a:rPr>
              <a:t>ncu</a:t>
            </a:r>
            <a:r>
              <a:rPr lang="en-US" sz="1400" b="0" strike="noStrike" spc="-1" dirty="0">
                <a:solidFill>
                  <a:srgbClr val="404040"/>
                </a:solidFill>
                <a:latin typeface="Calibri"/>
                <a:ea typeface="Arial"/>
              </a:rPr>
              <a:t>/validators/NameValidator.java</a:t>
            </a:r>
            <a:endParaRPr lang="en-US" sz="14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a:solidFill>
                  <a:srgbClr val="404040"/>
                </a:solidFill>
                <a:latin typeface="Calibri"/>
                <a:ea typeface="Arial"/>
              </a:rPr>
              <a:t>Compile </a:t>
            </a:r>
            <a:r>
              <a:rPr lang="en-US" sz="1500" b="0" strike="noStrike" spc="-1" dirty="0" err="1">
                <a:solidFill>
                  <a:srgbClr val="404040"/>
                </a:solidFill>
                <a:latin typeface="Calibri"/>
                <a:ea typeface="Arial"/>
              </a:rPr>
              <a:t>JSONConvertor</a:t>
            </a:r>
            <a:r>
              <a:rPr lang="en-US" sz="1500" b="0" strike="noStrike" spc="-1" dirty="0">
                <a:solidFill>
                  <a:srgbClr val="404040"/>
                </a:solidFill>
                <a:latin typeface="Calibri"/>
                <a:ea typeface="Arial"/>
              </a:rPr>
              <a:t> class</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err="1">
                <a:solidFill>
                  <a:srgbClr val="404040"/>
                </a:solidFill>
                <a:latin typeface="Calibri"/>
                <a:ea typeface="Arial"/>
              </a:rPr>
              <a:t>javac</a:t>
            </a:r>
            <a:r>
              <a:rPr lang="en-US" sz="1500" b="0" strike="noStrike" spc="-1" dirty="0">
                <a:solidFill>
                  <a:srgbClr val="404040"/>
                </a:solidFill>
                <a:latin typeface="Calibri"/>
                <a:ea typeface="Arial"/>
              </a:rPr>
              <a:t> -</a:t>
            </a:r>
            <a:r>
              <a:rPr lang="en-US" sz="1500" b="0" strike="noStrike" spc="-1" dirty="0" err="1">
                <a:solidFill>
                  <a:srgbClr val="404040"/>
                </a:solidFill>
                <a:latin typeface="Calibri"/>
                <a:ea typeface="Arial"/>
              </a:rPr>
              <a:t>cp</a:t>
            </a:r>
            <a:r>
              <a:rPr lang="en-US" sz="1500" b="0" strike="noStrike" spc="-1" dirty="0">
                <a:solidFill>
                  <a:srgbClr val="404040"/>
                </a:solidFill>
                <a:latin typeface="Calibri"/>
                <a:ea typeface="Arial"/>
              </a:rPr>
              <a:t> classes/ -d classes/ </a:t>
            </a:r>
            <a:r>
              <a:rPr lang="en-US" sz="1500" b="0" strike="noStrike" spc="-1" dirty="0" err="1">
                <a:solidFill>
                  <a:srgbClr val="404040"/>
                </a:solidFill>
                <a:latin typeface="Calibri"/>
                <a:ea typeface="Arial"/>
              </a:rPr>
              <a:t>src</a:t>
            </a:r>
            <a:r>
              <a:rPr lang="en-US" sz="1500" b="0" strike="noStrike" spc="-1" dirty="0">
                <a:solidFill>
                  <a:srgbClr val="404040"/>
                </a:solidFill>
                <a:latin typeface="Calibri"/>
                <a:ea typeface="Arial"/>
              </a:rPr>
              <a:t>/com/</a:t>
            </a:r>
            <a:r>
              <a:rPr lang="en-US" sz="1500" b="0" strike="noStrike" spc="-1" dirty="0" err="1">
                <a:solidFill>
                  <a:srgbClr val="404040"/>
                </a:solidFill>
                <a:latin typeface="Calibri"/>
                <a:ea typeface="Arial"/>
              </a:rPr>
              <a:t>ncu</a:t>
            </a:r>
            <a:r>
              <a:rPr lang="en-US" sz="1500" b="0" strike="noStrike" spc="-1" dirty="0">
                <a:solidFill>
                  <a:srgbClr val="404040"/>
                </a:solidFill>
                <a:latin typeface="Calibri"/>
                <a:ea typeface="Arial"/>
              </a:rPr>
              <a:t>/mainSONConverter.java</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a:solidFill>
                  <a:srgbClr val="404040"/>
                </a:solidFill>
                <a:latin typeface="Calibri"/>
                <a:ea typeface="Arial"/>
              </a:rPr>
              <a:t>Project Run</a:t>
            </a:r>
            <a:endParaRPr lang="en-US" sz="1500" b="0" strike="noStrike" spc="-1" dirty="0">
              <a:latin typeface="Arial"/>
            </a:endParaRPr>
          </a:p>
          <a:p>
            <a:pPr marL="216000" indent="-215640">
              <a:lnSpc>
                <a:spcPct val="100000"/>
              </a:lnSpc>
              <a:buClr>
                <a:srgbClr val="000000"/>
              </a:buClr>
              <a:buSzPct val="45000"/>
              <a:buFont typeface="Wingdings" charset="2"/>
              <a:buChar char=""/>
            </a:pPr>
            <a:r>
              <a:rPr lang="en-US" sz="1500" b="0" strike="noStrike" spc="-1" dirty="0">
                <a:solidFill>
                  <a:srgbClr val="404040"/>
                </a:solidFill>
                <a:latin typeface="Calibri"/>
                <a:ea typeface="Arial"/>
              </a:rPr>
              <a:t>java -</a:t>
            </a:r>
            <a:r>
              <a:rPr lang="en-US" sz="1500" b="0" strike="noStrike" spc="-1" dirty="0" err="1">
                <a:solidFill>
                  <a:srgbClr val="404040"/>
                </a:solidFill>
                <a:latin typeface="Calibri"/>
                <a:ea typeface="Arial"/>
              </a:rPr>
              <a:t>cp</a:t>
            </a:r>
            <a:r>
              <a:rPr lang="en-US" sz="1500" b="0" strike="noStrike" spc="-1" dirty="0">
                <a:solidFill>
                  <a:srgbClr val="404040"/>
                </a:solidFill>
                <a:latin typeface="Calibri"/>
                <a:ea typeface="Arial"/>
              </a:rPr>
              <a:t> </a:t>
            </a:r>
            <a:r>
              <a:rPr lang="en-US" sz="1500" b="0" strike="noStrike" spc="-1" dirty="0" smtClean="0">
                <a:solidFill>
                  <a:srgbClr val="404040"/>
                </a:solidFill>
                <a:latin typeface="Calibri"/>
                <a:ea typeface="Arial"/>
              </a:rPr>
              <a:t>classes</a:t>
            </a:r>
            <a:r>
              <a:rPr lang="en-US" sz="1500" b="0" strike="noStrike" spc="-1" smtClean="0">
                <a:solidFill>
                  <a:srgbClr val="404040"/>
                </a:solidFill>
                <a:latin typeface="Calibri"/>
                <a:ea typeface="Arial"/>
              </a:rPr>
              <a:t>/;</a:t>
            </a:r>
            <a:r>
              <a:rPr lang="en-US" sz="1500" b="0" strike="noStrike" spc="-1" smtClean="0">
                <a:solidFill>
                  <a:srgbClr val="404040"/>
                </a:solidFill>
                <a:latin typeface="Calibri"/>
                <a:ea typeface="Arial"/>
              </a:rPr>
              <a:t>libs/log4j-1.2.17.jar;libs/json-simple-1.1.1.jar </a:t>
            </a:r>
            <a:r>
              <a:rPr lang="en-US" sz="1500" b="0" strike="noStrike" spc="-1" dirty="0" err="1">
                <a:solidFill>
                  <a:srgbClr val="404040"/>
                </a:solidFill>
                <a:latin typeface="Calibri"/>
                <a:ea typeface="Arial"/>
              </a:rPr>
              <a:t>com.ncu.main.JSONConverter</a:t>
            </a:r>
            <a:endParaRPr lang="en-US" sz="1500" b="0" strike="noStrike" spc="-1" dirty="0">
              <a:latin typeface="Arial"/>
            </a:endParaRPr>
          </a:p>
          <a:p>
            <a:pPr>
              <a:lnSpc>
                <a:spcPct val="100000"/>
              </a:lnSpc>
            </a:pPr>
            <a:endParaRPr lang="en-US" sz="1500" b="0" strike="noStrike" spc="-1" dirty="0">
              <a:latin typeface="Arial"/>
            </a:endParaRPr>
          </a:p>
          <a:p>
            <a:pPr>
              <a:lnSpc>
                <a:spcPct val="100000"/>
              </a:lnSpc>
            </a:pPr>
            <a:endParaRPr lang="en-US" sz="15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9814</TotalTime>
  <Words>2167</Words>
  <Application>Microsoft Office PowerPoint</Application>
  <PresentationFormat>On-screen Show (16:9)</PresentationFormat>
  <Paragraphs>776</Paragraphs>
  <Slides>59</Slides>
  <Notes>2</Notes>
  <HiddenSlides>0</HiddenSlides>
  <MMClips>0</MMClips>
  <ScaleCrop>false</ScaleCrop>
  <HeadingPairs>
    <vt:vector size="4" baseType="variant">
      <vt:variant>
        <vt:lpstr>Theme</vt:lpstr>
      </vt:variant>
      <vt:variant>
        <vt:i4>3</vt:i4>
      </vt:variant>
      <vt:variant>
        <vt:lpstr>Slide Titles</vt:lpstr>
      </vt:variant>
      <vt:variant>
        <vt:i4>59</vt:i4>
      </vt:variant>
    </vt:vector>
  </HeadingPairs>
  <TitlesOfParts>
    <vt:vector size="62" baseType="lpstr">
      <vt:lpstr>Office Theme</vt:lpstr>
      <vt:lpstr>Office Theme</vt:lpstr>
      <vt:lpstr>Office Theme</vt:lpstr>
      <vt:lpstr>CSV2JSON Converter</vt:lpstr>
      <vt:lpstr>Significance of CSV to JSON Conversion</vt:lpstr>
      <vt:lpstr>PowerPoint Presentation</vt:lpstr>
      <vt:lpstr>PowerPoint Presentation</vt:lpstr>
      <vt:lpstr>Problem Statement: CSV to JSON Conversion</vt:lpstr>
      <vt:lpstr>PowerPoint Presentation</vt:lpstr>
      <vt:lpstr>PowerPoint Presentation</vt:lpstr>
      <vt:lpstr>Project Directory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Version Control System-Git</dc:title>
  <dc:creator>Privileged server</dc:creator>
  <cp:lastModifiedBy>welcome</cp:lastModifiedBy>
  <cp:revision>174</cp:revision>
  <dcterms:modified xsi:type="dcterms:W3CDTF">2019-02-07T06:30:20Z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On-screen Show (16:9)</vt:lpwstr>
  </property>
  <property fmtid="{D5CDD505-2E9C-101B-9397-08002B2CF9AE}" pid="9" name="ScaleCrop">
    <vt:bool>false</vt:bool>
  </property>
  <property fmtid="{D5CDD505-2E9C-101B-9397-08002B2CF9AE}" pid="10" name="ShareDoc">
    <vt:bool>false</vt:bool>
  </property>
  <property fmtid="{D5CDD505-2E9C-101B-9397-08002B2CF9AE}" pid="11" name="Slides">
    <vt:i4>56</vt:i4>
  </property>
</Properties>
</file>